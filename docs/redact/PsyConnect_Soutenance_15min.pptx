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1.jpg" ContentType="image/jpg"/>
  <Override PartName="/ppt/media/image-11-2.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bonjour.
Je m'appelle Ndeye Maguette Kane. Je vais vous présenter mon mémoire de Master 2
en Systèmes d'Information Répartis : PsyConnect, une plateforme mobile pour
l'accès aux soins de santé mentale au Sénégal, réalisée sous la direction de
M. Bassirou Touré.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commencerai par le contexte et la problématique, puis les solutions
existantes. Je présenterai ensuite la conception et la réalisation, avec une
courte démonstration. Je m'arrêterai sur deux points techniques que je trouve
importants, avant de terminer par les limites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Sénégal, le problème n'est pas le soin, c'est l'accès au soin.
Le plan stratégique du ministère de la Santé recense 38 psychiatres pour tout le
pays. Les services sont concentrés à Dakar. Et ce même plan note qu'il n'existe
pas de numéro vert dédié aux urgences psychiatriques.
À cela s'ajoute la stigmatisation. Consulter un psychologue reste une démarche
difficile, qu'on hésite à faire, et parfois qu'on cache.
En face, presque tout le monde a un téléphone. C'est de ce décalage qu'est parti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ma question : comment faciliter l'accès à des psychologues vérifiés,
outiller les praticiens, et offrir un suivi continu, sécurisé et confidentiel,
dans le contexte sénégalais ?
Les difficultés ne sont pas les mêmes pour chacun. Le patient ne sait pas à qui
s'adresser, prend rendez-vous par téléphone et appréhende la première séance. Le
psychologue manque de visibilité et gère son agenda et ses paiements à la main.
Et personne ne vérifie facilement qu'un praticien est bien qualifié.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étudié dix applications avant d'écrire une ligne de code. Elles se
rangent en trois familles.
Les grandes plateformes, comme BetterHelp, sont complètes mais inaccessibles
ici : abonnement en dollars, aucun paiement local. Les solutions africaines,
comme Consultel, connaissent le terrain mais font de la médecine générale, pas
de la santé mentale. Et les compagnons IA, comme Wysa, n'offrent aucune mise en
relation avec un professionnel.
Aucune ne réunit ces dimensions pour le Sénégal. C'est la place de PsyConnect.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PsyConnect, c'est une seule application qui s'adapte à trois rôles.
Le patient trouve un psychologue vérifié, avec des recommandations adaptées à
son besoin. Il réserve un créneau, paie depuis son solde et consulte en vidéo ou en audio.
Il dispose aussi d'un journal, des questionnaires PHQ-9 et GAD-7, du compagnon
Xalaat, et peut utiliser un pseudonyme.
Le psychologue n'est visible qu'après validation de son justificatif. Il gère
ses disponibilités, son agenda, ses notes cliniques privées et ses revenus.
L'administrateur valide les praticiens, traite les signalements et diffuse des
annonces.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a été modélisé en UML avant et pendant le développement : onze
diagrammes au total. Trois diagrammes de cas d'utilisation, un par acteur ; deux
diagrammes de classes ; quatre diagrammes de séquence pour les flux principaux ;
et deux diagrammes d'activités pour la réservation et l'annulation.
Ces diagrammes ont été vérifiés par rapport au code : ils décrivent ce qui
existe, pas ce qui était prévu.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PsyConnect repose sur une architecture microservices. L'application
Flutter parle à une passerelle unique, qui trouve les services grâce à un
annuaire, Eureka. Derrière, huit services : sept en Java avec Spring Boot, et
un en Python, pour la recommandation. Chaque service qui stocke des données a sa
propre base PostgreSQL.
Pourquoi ce choix ? Trois raisons concrètes.
D'abord, il m'a permis d'utiliser deux langages : Python pour la
recommandation, Java pour le reste.
Ensuite, une panne reste locale. Si le compagnon IA ralentit ou tombe, les
rendez-vous et les paiements continuent de fonctionner.
Enfin, je l'ai vérifié en cours de projet : j'ai extrait le paiement dans un
service dédié sans toucher au reste du système.
Ce choix a un coût, et je l'assume : plus de services à lancer, et un débogage
plus difficile, que j'ai compensé avec du traçage distribué, Zipkin.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premier point technique sur lequel je voulais insister.
Quand un service ne répond pas, le système ne réagit pas partout de la même
façon. J'ai choisi de tomber en marche ou de tomber fermé selon l'enjeu.
Si le service de notifications est en panne, le rendez-vous est quand même
créé : une notification perdue est tolérable.
Si le service qui vérifie l'identité est en panne, l'opération est refusée. Sans
savoir qui fait la demande, laisser passer serait une faille.
Et si le remboursement échoue lors d'une annulation, l'annulation aboutit, mais
l'échec est journalisé pour qu'un remboursement manuel soit fait.
Les cas des notifications et de l'identité sont couverts par des tests automatisés.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de voir l'application en fonctionnement, à travers le
parcours d'un patient : il cherche un psychologue, réserve, le psychologue
confirme, le patient paie, puis la consultation vidéo commence.
[Lancer la vidéo. Pendant qu'elle tourne, tu peux commenter brièvement chaque
étape, ou la laisser parler d'elle-même.]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point, c'est Xalaat, notre compagnon IA. Xalaat signifie « pensée,
réflexion » en wolof.
Son rôle est d'aider le patient à préparer sa première consultation :
comprendre comment elle se déroule, mettre des mots sur ce qu'il ressent. Il ne
pose jamais de diagnostic et ne remplace pas le psychologue.
Le modèle de langage tourne en local, avec Ollama : aucune conversation ne part
chez un fournisseur extérieur, et rien n'est enregistré, ni sur le serveur ni
sur le téléphone.
Mais mettre une IA face à quelqu'un qui va mal pose une vraie question : que se
passe-t-il si la personne exprime des idées suicidaires ? Un modèle de langage
est probabiliste. Il peut dériver si on insiste. Sur ce sujet, « ça marche la
plupart du temps » n'est pas acceptable.
J'ai donc placé un filtre déterministe avant le modèle. Si le message contient
une formulation de détresse, le modèle n'est pas appelé. La réponse est un
message fixe, avec le SAMU et le numéro vert du ministère.
Ce filtre a ses limites. Il reconnaît des formulations en français, pas le wolof
ni l'argot. C'est un filet de sécurité, pas un diagnostic. Il est couvert par un
test automatisé, qui m'a d'ailleurs permis de trouver et de corriger trois
défauts.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il s'agit de données de santé, la sécurité a été pensée à chaque niveau.
Chaque service vérifie lui-même le jeton d'authentification. Le serveur vérifie
qu'un patient n'accède qu'à ses propres données. Les mots de passe sont hachés.
Le mode anonyme remplace le nom du patient par un pseudo côté psychologue. Et les notes cliniques
ne sont visibles que par leur 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tiens à être claire sur les limites.
Le paiement mobile est simulé : les API de Wave et d'Orange Money nécessitent un
contrat commercial. Le déploiement est local, sans chiffrement des échanges. Le
filtre de Xalaat ne couvre que le français. Et côté mobile, les tests
automatisés se limitent à la logique des modèles.
Chacune de ces limites ouvre une perspective : intégrer les vrais opérateurs de
paiement, passer en production, ajouter le wolof dans l'interface et dans Xalaat,
et, à plus long terme, construire une permanence d'écoute avec les psychologues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PsyConnect réunit dans une seule application, pensée pour le
Sénégal, la mise en relation avec des psychologues vérifiés, la réservation, le
paiement, la consultation à distance et un compagnon IA encadré.
Ce projet m'a appris à construire un système distribué complet, et surtout à le
remettre en question.
Je vous remercie de votre attention,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411480"/>
            <a:ext cx="10911535" cy="914400"/>
          </a:xfrm>
          <a:prstGeom prst="rect">
            <a:avLst/>
          </a:prstGeom>
          <a:noFill/>
          <a:ln/>
        </p:spPr>
        <p:txBody>
          <a:bodyPr wrap="square" lIns="0" tIns="0" rIns="0" bIns="0" rtlCol="0" anchor="t"/>
          <a:lstStyle/>
          <a:p>
            <a:pPr algn="ctr" indent="0" marL="0">
              <a:buNone/>
            </a:pPr>
            <a:r>
              <a:rPr lang="en-US" sz="1500" b="1" dirty="0">
                <a:solidFill>
                  <a:srgbClr val="17140F"/>
                </a:solidFill>
                <a:latin typeface="Calibri" pitchFamily="34" charset="0"/>
                <a:ea typeface="Calibri" pitchFamily="34" charset="-122"/>
                <a:cs typeface="Calibri" pitchFamily="34" charset="-120"/>
              </a:rPr>
              <a:t>Université Cheikh Anta Diop de Dakar</a:t>
            </a:r>
            <a:endParaRPr lang="en-US" sz="1500" dirty="0"/>
          </a:p>
          <a:p>
            <a:pPr algn="ctr" indent="0" marL="0">
              <a:buNone/>
            </a:pPr>
            <a:r>
              <a:rPr lang="en-US" sz="1500" b="1" dirty="0">
                <a:solidFill>
                  <a:srgbClr val="17140F"/>
                </a:solidFill>
                <a:latin typeface="Calibri" pitchFamily="34" charset="0"/>
                <a:ea typeface="Calibri" pitchFamily="34" charset="-122"/>
                <a:cs typeface="Calibri" pitchFamily="34" charset="-120"/>
              </a:rPr>
              <a:t>Faculté des Sciences et Techniques</a:t>
            </a:r>
            <a:endParaRPr lang="en-US" sz="1500" dirty="0"/>
          </a:p>
          <a:p>
            <a:pPr algn="ctr" indent="0" marL="0">
              <a:buNone/>
            </a:pPr>
            <a:r>
              <a:rPr lang="en-US" sz="1500" b="1" dirty="0">
                <a:solidFill>
                  <a:srgbClr val="17140F"/>
                </a:solidFill>
                <a:latin typeface="Calibri" pitchFamily="34" charset="0"/>
                <a:ea typeface="Calibri" pitchFamily="34" charset="-122"/>
                <a:cs typeface="Calibri" pitchFamily="34" charset="-120"/>
              </a:rPr>
              <a:t>Département de Mathématiques et Informatique</a:t>
            </a:r>
            <a:endParaRPr lang="en-US" sz="1500" dirty="0"/>
          </a:p>
        </p:txBody>
      </p:sp>
      <p:sp>
        <p:nvSpPr>
          <p:cNvPr id="4" name="Text 1"/>
          <p:cNvSpPr txBox="1"/>
          <p:nvPr/>
        </p:nvSpPr>
        <p:spPr>
          <a:xfrm>
            <a:off x="640080" y="1463040"/>
            <a:ext cx="10911535" cy="365760"/>
          </a:xfrm>
          <a:prstGeom prst="rect">
            <a:avLst/>
          </a:prstGeom>
          <a:noFill/>
          <a:ln/>
        </p:spPr>
        <p:txBody>
          <a:bodyPr wrap="square" lIns="0" tIns="0" rIns="0" bIns="0" rtlCol="0" anchor="t"/>
          <a:lstStyle/>
          <a:p>
            <a:pPr algn="ctr" indent="0" marL="0">
              <a:buNone/>
            </a:pPr>
            <a:r>
              <a:rPr lang="en-US" sz="1500" dirty="0">
                <a:solidFill>
                  <a:srgbClr val="6B6458"/>
                </a:solidFill>
                <a:latin typeface="Calibri" pitchFamily="34" charset="0"/>
                <a:ea typeface="Calibri" pitchFamily="34" charset="-122"/>
                <a:cs typeface="Calibri" pitchFamily="34" charset="-120"/>
              </a:rPr>
              <a:t>Mémoire de Master 2 Informatique — Systèmes d'Information Répartis (SIR)</a:t>
            </a:r>
            <a:endParaRPr lang="en-US" sz="1500" dirty="0"/>
          </a:p>
        </p:txBody>
      </p:sp>
      <p:sp>
        <p:nvSpPr>
          <p:cNvPr id="5" name="Shape 2"/>
          <p:cNvSpPr/>
          <p:nvPr/>
        </p:nvSpPr>
        <p:spPr>
          <a:xfrm>
            <a:off x="2926080" y="2011680"/>
            <a:ext cx="6339535" cy="0"/>
          </a:xfrm>
          <a:prstGeom prst="line">
            <a:avLst/>
          </a:prstGeom>
          <a:noFill/>
          <a:ln w="12700">
            <a:solidFill>
              <a:srgbClr val="0F5347"/>
            </a:solidFill>
            <a:prstDash val="solid"/>
          </a:ln>
        </p:spPr>
      </p:sp>
      <p:sp>
        <p:nvSpPr>
          <p:cNvPr id="6" name="Text 3"/>
          <p:cNvSpPr txBox="1"/>
          <p:nvPr/>
        </p:nvSpPr>
        <p:spPr>
          <a:xfrm>
            <a:off x="640080" y="2240280"/>
            <a:ext cx="10911535" cy="914400"/>
          </a:xfrm>
          <a:prstGeom prst="rect">
            <a:avLst/>
          </a:prstGeom>
          <a:noFill/>
          <a:ln/>
        </p:spPr>
        <p:txBody>
          <a:bodyPr wrap="square" lIns="0" tIns="0" rIns="0" bIns="0" rtlCol="0" anchor="ctr"/>
          <a:lstStyle/>
          <a:p>
            <a:pPr algn="ctr" indent="0" marL="0">
              <a:buNone/>
            </a:pPr>
            <a:r>
              <a:rPr lang="en-US" sz="4800" b="1" dirty="0">
                <a:solidFill>
                  <a:srgbClr val="0F5347"/>
                </a:solidFill>
                <a:latin typeface="Calibri" pitchFamily="34" charset="0"/>
                <a:ea typeface="Calibri" pitchFamily="34" charset="-122"/>
                <a:cs typeface="Calibri" pitchFamily="34" charset="-120"/>
              </a:rPr>
              <a:t>PsyConnect</a:t>
            </a:r>
            <a:endParaRPr lang="en-US" sz="4800" dirty="0"/>
          </a:p>
        </p:txBody>
      </p:sp>
      <p:sp>
        <p:nvSpPr>
          <p:cNvPr id="7" name="Text 4"/>
          <p:cNvSpPr txBox="1"/>
          <p:nvPr/>
        </p:nvSpPr>
        <p:spPr>
          <a:xfrm>
            <a:off x="640080" y="3200400"/>
            <a:ext cx="10911535" cy="822960"/>
          </a:xfrm>
          <a:prstGeom prst="rect">
            <a:avLst/>
          </a:prstGeom>
          <a:noFill/>
          <a:ln/>
        </p:spPr>
        <p:txBody>
          <a:bodyPr wrap="square" lIns="0" tIns="0" rIns="0" bIns="0" rtlCol="0" anchor="t"/>
          <a:lstStyle/>
          <a:p>
            <a:pPr algn="ctr" indent="0" marL="0">
              <a:buNone/>
            </a:pPr>
            <a:r>
              <a:rPr lang="en-US" sz="2200" dirty="0">
                <a:solidFill>
                  <a:srgbClr val="17140F"/>
                </a:solidFill>
                <a:latin typeface="Calibri" pitchFamily="34" charset="0"/>
                <a:ea typeface="Calibri" pitchFamily="34" charset="-122"/>
                <a:cs typeface="Calibri" pitchFamily="34" charset="-120"/>
              </a:rPr>
              <a:t>Conception et réalisation d'une plateforme mobile intelligente</a:t>
            </a:r>
            <a:endParaRPr lang="en-US" sz="2200" dirty="0"/>
          </a:p>
          <a:p>
            <a:pPr algn="ctr" indent="0" marL="0">
              <a:buNone/>
            </a:pPr>
            <a:r>
              <a:rPr lang="en-US" sz="2200" dirty="0">
                <a:solidFill>
                  <a:srgbClr val="17140F"/>
                </a:solidFill>
                <a:latin typeface="Calibri" pitchFamily="34" charset="0"/>
                <a:ea typeface="Calibri" pitchFamily="34" charset="-122"/>
                <a:cs typeface="Calibri" pitchFamily="34" charset="-120"/>
              </a:rPr>
              <a:t>pour l'accès aux soins de santé mentale au Sénégal</a:t>
            </a:r>
            <a:endParaRPr lang="en-US" sz="2200" dirty="0"/>
          </a:p>
        </p:txBody>
      </p:sp>
      <p:sp>
        <p:nvSpPr>
          <p:cNvPr id="8" name="Shape 5"/>
          <p:cNvSpPr/>
          <p:nvPr/>
        </p:nvSpPr>
        <p:spPr>
          <a:xfrm>
            <a:off x="2926080" y="4206240"/>
            <a:ext cx="6339535" cy="0"/>
          </a:xfrm>
          <a:prstGeom prst="line">
            <a:avLst/>
          </a:prstGeom>
          <a:noFill/>
          <a:ln w="12700">
            <a:solidFill>
              <a:srgbClr val="0F5347"/>
            </a:solidFill>
            <a:prstDash val="solid"/>
          </a:ln>
        </p:spPr>
      </p:sp>
      <p:sp>
        <p:nvSpPr>
          <p:cNvPr id="9" name="Text 6"/>
          <p:cNvSpPr txBox="1"/>
          <p:nvPr/>
        </p:nvSpPr>
        <p:spPr>
          <a:xfrm>
            <a:off x="1371600" y="4572000"/>
            <a:ext cx="4114800" cy="7315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Présenté par</a:t>
            </a:r>
            <a:endParaRPr lang="en-US" sz="1500" dirty="0"/>
          </a:p>
          <a:p>
            <a:pPr indent="0" marL="0">
              <a:buNone/>
            </a:pPr>
            <a:r>
              <a:rPr lang="en-US" sz="1700" b="1" dirty="0">
                <a:solidFill>
                  <a:srgbClr val="17140F"/>
                </a:solidFill>
                <a:latin typeface="Calibri" pitchFamily="34" charset="0"/>
                <a:ea typeface="Calibri" pitchFamily="34" charset="-122"/>
                <a:cs typeface="Calibri" pitchFamily="34" charset="-120"/>
              </a:rPr>
              <a:t>Ndeye Maguette KANE</a:t>
            </a:r>
            <a:endParaRPr lang="en-US" sz="1500" dirty="0"/>
          </a:p>
        </p:txBody>
      </p:sp>
      <p:sp>
        <p:nvSpPr>
          <p:cNvPr id="10" name="Text 7"/>
          <p:cNvSpPr txBox="1"/>
          <p:nvPr/>
        </p:nvSpPr>
        <p:spPr>
          <a:xfrm>
            <a:off x="6248095" y="4572000"/>
            <a:ext cx="4572000" cy="731520"/>
          </a:xfrm>
          <a:prstGeom prst="rect">
            <a:avLst/>
          </a:prstGeom>
          <a:noFill/>
          <a:ln/>
        </p:spPr>
        <p:txBody>
          <a:bodyPr wrap="square" lIns="0" tIns="0" rIns="0" bIns="0" rtlCol="0" anchor="t"/>
          <a:lstStyle/>
          <a:p>
            <a:pPr algn="r" indent="0" marL="0">
              <a:buNone/>
            </a:pPr>
            <a:r>
              <a:rPr lang="en-US" sz="1300" dirty="0">
                <a:solidFill>
                  <a:srgbClr val="6B6458"/>
                </a:solidFill>
                <a:latin typeface="Calibri" pitchFamily="34" charset="0"/>
                <a:ea typeface="Calibri" pitchFamily="34" charset="-122"/>
                <a:cs typeface="Calibri" pitchFamily="34" charset="-120"/>
              </a:rPr>
              <a:t>Sous la direction de</a:t>
            </a:r>
            <a:endParaRPr lang="en-US" sz="1500" dirty="0"/>
          </a:p>
          <a:p>
            <a:pPr algn="r" indent="0" marL="0">
              <a:buNone/>
            </a:pPr>
            <a:r>
              <a:rPr lang="en-US" sz="1700" b="1" dirty="0">
                <a:solidFill>
                  <a:srgbClr val="17140F"/>
                </a:solidFill>
                <a:latin typeface="Calibri" pitchFamily="34" charset="0"/>
                <a:ea typeface="Calibri" pitchFamily="34" charset="-122"/>
                <a:cs typeface="Calibri" pitchFamily="34" charset="-120"/>
              </a:rPr>
              <a:t>M. Bassirou TOURÉ, Maître de conférences</a:t>
            </a:r>
            <a:endParaRPr lang="en-US" sz="1500" dirty="0"/>
          </a:p>
        </p:txBody>
      </p:sp>
      <p:sp>
        <p:nvSpPr>
          <p:cNvPr id="11" name="Text 8"/>
          <p:cNvSpPr txBox="1"/>
          <p:nvPr/>
        </p:nvSpPr>
        <p:spPr>
          <a:xfrm>
            <a:off x="640080" y="5943600"/>
            <a:ext cx="10911535" cy="365760"/>
          </a:xfrm>
          <a:prstGeom prst="rect">
            <a:avLst/>
          </a:prstGeom>
          <a:noFill/>
          <a:ln/>
        </p:spPr>
        <p:txBody>
          <a:bodyPr wrap="square" lIns="0" tIns="0" rIns="0" bIns="0" rtlCol="0" anchor="t"/>
          <a:lstStyle/>
          <a:p>
            <a:pPr algn="ctr" indent="0" marL="0">
              <a:buNone/>
            </a:pPr>
            <a:r>
              <a:rPr lang="en-US" sz="1400" dirty="0">
                <a:solidFill>
                  <a:srgbClr val="6B6458"/>
                </a:solidFill>
                <a:latin typeface="Calibri" pitchFamily="34" charset="0"/>
                <a:ea typeface="Calibri" pitchFamily="34" charset="-122"/>
                <a:cs typeface="Calibri" pitchFamily="34" charset="-120"/>
              </a:rPr>
              <a:t>Année universitaire 2025–2026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2</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Plan de la présentation</a:t>
            </a:r>
            <a:endParaRPr lang="en-US" sz="3000" dirty="0"/>
          </a:p>
        </p:txBody>
      </p:sp>
      <p:sp>
        <p:nvSpPr>
          <p:cNvPr id="7" name="Shape 4"/>
          <p:cNvSpPr/>
          <p:nvPr/>
        </p:nvSpPr>
        <p:spPr>
          <a:xfrm>
            <a:off x="2011680" y="1417320"/>
            <a:ext cx="9539935" cy="0"/>
          </a:xfrm>
          <a:prstGeom prst="line">
            <a:avLst/>
          </a:prstGeom>
          <a:noFill/>
          <a:ln w="12700">
            <a:solidFill>
              <a:srgbClr val="E2DCD0"/>
            </a:solidFill>
            <a:prstDash val="solid"/>
          </a:ln>
        </p:spPr>
      </p:sp>
      <p:sp>
        <p:nvSpPr>
          <p:cNvPr id="8" name="Text 5"/>
          <p:cNvSpPr txBox="1"/>
          <p:nvPr/>
        </p:nvSpPr>
        <p:spPr>
          <a:xfrm>
            <a:off x="2011680" y="155448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1</a:t>
            </a:r>
            <a:endParaRPr lang="en-US" sz="2200" dirty="0"/>
          </a:p>
        </p:txBody>
      </p:sp>
      <p:sp>
        <p:nvSpPr>
          <p:cNvPr id="9" name="Text 6"/>
          <p:cNvSpPr txBox="1"/>
          <p:nvPr/>
        </p:nvSpPr>
        <p:spPr>
          <a:xfrm>
            <a:off x="2834640" y="153619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Contexte et problématique</a:t>
            </a:r>
            <a:endParaRPr lang="en-US" sz="1900" dirty="0"/>
          </a:p>
        </p:txBody>
      </p:sp>
      <p:sp>
        <p:nvSpPr>
          <p:cNvPr id="10" name="Text 7"/>
          <p:cNvSpPr txBox="1"/>
          <p:nvPr/>
        </p:nvSpPr>
        <p:spPr>
          <a:xfrm>
            <a:off x="2834640" y="187452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L'accès aux soins de santé mentale au Sénégal</a:t>
            </a:r>
            <a:endParaRPr lang="en-US" sz="1300" dirty="0"/>
          </a:p>
        </p:txBody>
      </p:sp>
      <p:sp>
        <p:nvSpPr>
          <p:cNvPr id="11" name="Shape 8"/>
          <p:cNvSpPr/>
          <p:nvPr/>
        </p:nvSpPr>
        <p:spPr>
          <a:xfrm>
            <a:off x="2011680" y="2148840"/>
            <a:ext cx="9539935" cy="0"/>
          </a:xfrm>
          <a:prstGeom prst="line">
            <a:avLst/>
          </a:prstGeom>
          <a:noFill/>
          <a:ln w="12700">
            <a:solidFill>
              <a:srgbClr val="E2DCD0"/>
            </a:solidFill>
            <a:prstDash val="solid"/>
          </a:ln>
        </p:spPr>
      </p:sp>
      <p:sp>
        <p:nvSpPr>
          <p:cNvPr id="12" name="Text 9"/>
          <p:cNvSpPr txBox="1"/>
          <p:nvPr/>
        </p:nvSpPr>
        <p:spPr>
          <a:xfrm>
            <a:off x="2011680" y="228600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2</a:t>
            </a:r>
            <a:endParaRPr lang="en-US" sz="2200" dirty="0"/>
          </a:p>
        </p:txBody>
      </p:sp>
      <p:sp>
        <p:nvSpPr>
          <p:cNvPr id="13" name="Text 10"/>
          <p:cNvSpPr txBox="1"/>
          <p:nvPr/>
        </p:nvSpPr>
        <p:spPr>
          <a:xfrm>
            <a:off x="2834640" y="226771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Solutions existantes</a:t>
            </a:r>
            <a:endParaRPr lang="en-US" sz="1900" dirty="0"/>
          </a:p>
        </p:txBody>
      </p:sp>
      <p:sp>
        <p:nvSpPr>
          <p:cNvPr id="14" name="Text 11"/>
          <p:cNvSpPr txBox="1"/>
          <p:nvPr/>
        </p:nvSpPr>
        <p:spPr>
          <a:xfrm>
            <a:off x="2834640" y="260604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Dix applications étudiées</a:t>
            </a:r>
            <a:endParaRPr lang="en-US" sz="1300" dirty="0"/>
          </a:p>
        </p:txBody>
      </p:sp>
      <p:sp>
        <p:nvSpPr>
          <p:cNvPr id="15" name="Shape 12"/>
          <p:cNvSpPr/>
          <p:nvPr/>
        </p:nvSpPr>
        <p:spPr>
          <a:xfrm>
            <a:off x="2011680" y="2880360"/>
            <a:ext cx="9539935" cy="0"/>
          </a:xfrm>
          <a:prstGeom prst="line">
            <a:avLst/>
          </a:prstGeom>
          <a:noFill/>
          <a:ln w="12700">
            <a:solidFill>
              <a:srgbClr val="E2DCD0"/>
            </a:solidFill>
            <a:prstDash val="solid"/>
          </a:ln>
        </p:spPr>
      </p:sp>
      <p:sp>
        <p:nvSpPr>
          <p:cNvPr id="16" name="Text 13"/>
          <p:cNvSpPr txBox="1"/>
          <p:nvPr/>
        </p:nvSpPr>
        <p:spPr>
          <a:xfrm>
            <a:off x="2011680" y="301752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3</a:t>
            </a:r>
            <a:endParaRPr lang="en-US" sz="2200" dirty="0"/>
          </a:p>
        </p:txBody>
      </p:sp>
      <p:sp>
        <p:nvSpPr>
          <p:cNvPr id="17" name="Text 14"/>
          <p:cNvSpPr txBox="1"/>
          <p:nvPr/>
        </p:nvSpPr>
        <p:spPr>
          <a:xfrm>
            <a:off x="2834640" y="299923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Conception</a:t>
            </a:r>
            <a:endParaRPr lang="en-US" sz="1900" dirty="0"/>
          </a:p>
        </p:txBody>
      </p:sp>
      <p:sp>
        <p:nvSpPr>
          <p:cNvPr id="18" name="Text 15"/>
          <p:cNvSpPr txBox="1"/>
          <p:nvPr/>
        </p:nvSpPr>
        <p:spPr>
          <a:xfrm>
            <a:off x="2834640" y="333756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Acteurs et modélisation UML</a:t>
            </a:r>
            <a:endParaRPr lang="en-US" sz="1300" dirty="0"/>
          </a:p>
        </p:txBody>
      </p:sp>
      <p:sp>
        <p:nvSpPr>
          <p:cNvPr id="19" name="Shape 16"/>
          <p:cNvSpPr/>
          <p:nvPr/>
        </p:nvSpPr>
        <p:spPr>
          <a:xfrm>
            <a:off x="2011680" y="3611880"/>
            <a:ext cx="9539935" cy="0"/>
          </a:xfrm>
          <a:prstGeom prst="line">
            <a:avLst/>
          </a:prstGeom>
          <a:noFill/>
          <a:ln w="12700">
            <a:solidFill>
              <a:srgbClr val="E2DCD0"/>
            </a:solidFill>
            <a:prstDash val="solid"/>
          </a:ln>
        </p:spPr>
      </p:sp>
      <p:sp>
        <p:nvSpPr>
          <p:cNvPr id="20" name="Text 17"/>
          <p:cNvSpPr txBox="1"/>
          <p:nvPr/>
        </p:nvSpPr>
        <p:spPr>
          <a:xfrm>
            <a:off x="2011680" y="374904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4</a:t>
            </a:r>
            <a:endParaRPr lang="en-US" sz="2200" dirty="0"/>
          </a:p>
        </p:txBody>
      </p:sp>
      <p:sp>
        <p:nvSpPr>
          <p:cNvPr id="21" name="Text 18"/>
          <p:cNvSpPr txBox="1"/>
          <p:nvPr/>
        </p:nvSpPr>
        <p:spPr>
          <a:xfrm>
            <a:off x="2834640" y="373075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Réalisation</a:t>
            </a:r>
            <a:endParaRPr lang="en-US" sz="1900" dirty="0"/>
          </a:p>
        </p:txBody>
      </p:sp>
      <p:sp>
        <p:nvSpPr>
          <p:cNvPr id="22" name="Text 19"/>
          <p:cNvSpPr txBox="1"/>
          <p:nvPr/>
        </p:nvSpPr>
        <p:spPr>
          <a:xfrm>
            <a:off x="2834640" y="406908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Architecture, résilience et démonstration</a:t>
            </a:r>
            <a:endParaRPr lang="en-US" sz="1300" dirty="0"/>
          </a:p>
        </p:txBody>
      </p:sp>
      <p:sp>
        <p:nvSpPr>
          <p:cNvPr id="23" name="Shape 20"/>
          <p:cNvSpPr/>
          <p:nvPr/>
        </p:nvSpPr>
        <p:spPr>
          <a:xfrm>
            <a:off x="2011680" y="4343400"/>
            <a:ext cx="9539935" cy="0"/>
          </a:xfrm>
          <a:prstGeom prst="line">
            <a:avLst/>
          </a:prstGeom>
          <a:noFill/>
          <a:ln w="12700">
            <a:solidFill>
              <a:srgbClr val="E2DCD0"/>
            </a:solidFill>
            <a:prstDash val="solid"/>
          </a:ln>
        </p:spPr>
      </p:sp>
      <p:sp>
        <p:nvSpPr>
          <p:cNvPr id="24" name="Text 21"/>
          <p:cNvSpPr txBox="1"/>
          <p:nvPr/>
        </p:nvSpPr>
        <p:spPr>
          <a:xfrm>
            <a:off x="2011680" y="448056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5</a:t>
            </a:r>
            <a:endParaRPr lang="en-US" sz="2200" dirty="0"/>
          </a:p>
        </p:txBody>
      </p:sp>
      <p:sp>
        <p:nvSpPr>
          <p:cNvPr id="25" name="Text 22"/>
          <p:cNvSpPr txBox="1"/>
          <p:nvPr/>
        </p:nvSpPr>
        <p:spPr>
          <a:xfrm>
            <a:off x="2834640" y="446227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Xalaat et sécurité</a:t>
            </a:r>
            <a:endParaRPr lang="en-US" sz="1900" dirty="0"/>
          </a:p>
        </p:txBody>
      </p:sp>
      <p:sp>
        <p:nvSpPr>
          <p:cNvPr id="26" name="Text 23"/>
          <p:cNvSpPr txBox="1"/>
          <p:nvPr/>
        </p:nvSpPr>
        <p:spPr>
          <a:xfrm>
            <a:off x="2834640" y="4800600"/>
            <a:ext cx="5486400" cy="27432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Le compagnon IA et son garde-fou</a:t>
            </a:r>
            <a:endParaRPr lang="en-US" sz="1300" dirty="0"/>
          </a:p>
        </p:txBody>
      </p:sp>
      <p:sp>
        <p:nvSpPr>
          <p:cNvPr id="27" name="Shape 24"/>
          <p:cNvSpPr/>
          <p:nvPr/>
        </p:nvSpPr>
        <p:spPr>
          <a:xfrm>
            <a:off x="2011680" y="5074920"/>
            <a:ext cx="9539935" cy="0"/>
          </a:xfrm>
          <a:prstGeom prst="line">
            <a:avLst/>
          </a:prstGeom>
          <a:noFill/>
          <a:ln w="12700">
            <a:solidFill>
              <a:srgbClr val="E2DCD0"/>
            </a:solidFill>
            <a:prstDash val="solid"/>
          </a:ln>
        </p:spPr>
      </p:sp>
      <p:sp>
        <p:nvSpPr>
          <p:cNvPr id="28" name="Text 25"/>
          <p:cNvSpPr txBox="1"/>
          <p:nvPr/>
        </p:nvSpPr>
        <p:spPr>
          <a:xfrm>
            <a:off x="2011680" y="5212080"/>
            <a:ext cx="731520" cy="457200"/>
          </a:xfrm>
          <a:prstGeom prst="rect">
            <a:avLst/>
          </a:prstGeom>
          <a:noFill/>
          <a:ln/>
        </p:spPr>
        <p:txBody>
          <a:bodyPr wrap="square" lIns="0" tIns="0" rIns="0" bIns="0" rtlCol="0" anchor="ctr"/>
          <a:lstStyle/>
          <a:p>
            <a:pPr indent="0" marL="0">
              <a:buNone/>
            </a:pPr>
            <a:r>
              <a:rPr lang="en-US" sz="2200" b="1" dirty="0">
                <a:solidFill>
                  <a:srgbClr val="0F5347"/>
                </a:solidFill>
                <a:latin typeface="Calibri" pitchFamily="34" charset="0"/>
                <a:ea typeface="Calibri" pitchFamily="34" charset="-122"/>
                <a:cs typeface="Calibri" pitchFamily="34" charset="-120"/>
              </a:rPr>
              <a:t>6</a:t>
            </a:r>
            <a:endParaRPr lang="en-US" sz="2200" dirty="0"/>
          </a:p>
        </p:txBody>
      </p:sp>
      <p:sp>
        <p:nvSpPr>
          <p:cNvPr id="29" name="Text 26"/>
          <p:cNvSpPr txBox="1"/>
          <p:nvPr/>
        </p:nvSpPr>
        <p:spPr>
          <a:xfrm>
            <a:off x="2834640" y="5193792"/>
            <a:ext cx="5486400" cy="36576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Limites et perspectives</a:t>
            </a:r>
            <a:endParaRPr lang="en-US" sz="1900" dirty="0"/>
          </a:p>
        </p:txBody>
      </p:sp>
      <p:sp>
        <p:nvSpPr>
          <p:cNvPr id="30" name="Shape 27"/>
          <p:cNvSpPr/>
          <p:nvPr/>
        </p:nvSpPr>
        <p:spPr>
          <a:xfrm>
            <a:off x="2011680" y="5806440"/>
            <a:ext cx="9539935" cy="0"/>
          </a:xfrm>
          <a:prstGeom prst="line">
            <a:avLst/>
          </a:prstGeom>
          <a:noFill/>
          <a:ln w="12700">
            <a:solidFill>
              <a:srgbClr val="E2DCD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3</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Contexte</a:t>
            </a:r>
            <a:endParaRPr lang="en-US" sz="3000" dirty="0"/>
          </a:p>
        </p:txBody>
      </p:sp>
      <p:sp>
        <p:nvSpPr>
          <p:cNvPr id="7" name="Shape 4"/>
          <p:cNvSpPr/>
          <p:nvPr/>
        </p:nvSpPr>
        <p:spPr>
          <a:xfrm>
            <a:off x="640080" y="2057400"/>
            <a:ext cx="3393338" cy="0"/>
          </a:xfrm>
          <a:prstGeom prst="line">
            <a:avLst/>
          </a:prstGeom>
          <a:noFill/>
          <a:ln w="12700">
            <a:solidFill>
              <a:srgbClr val="17140F"/>
            </a:solidFill>
            <a:prstDash val="solid"/>
          </a:ln>
        </p:spPr>
      </p:sp>
      <p:sp>
        <p:nvSpPr>
          <p:cNvPr id="8" name="Text 5"/>
          <p:cNvSpPr txBox="1"/>
          <p:nvPr/>
        </p:nvSpPr>
        <p:spPr>
          <a:xfrm>
            <a:off x="640080" y="2240280"/>
            <a:ext cx="3393338" cy="1097280"/>
          </a:xfrm>
          <a:prstGeom prst="rect">
            <a:avLst/>
          </a:prstGeom>
          <a:noFill/>
          <a:ln/>
        </p:spPr>
        <p:txBody>
          <a:bodyPr wrap="square" lIns="0" tIns="0" rIns="0" bIns="0" rtlCol="0" anchor="ctr"/>
          <a:lstStyle/>
          <a:p>
            <a:pPr indent="0" marL="0">
              <a:buNone/>
            </a:pPr>
            <a:r>
              <a:rPr lang="en-US" sz="4400" b="1" dirty="0">
                <a:solidFill>
                  <a:srgbClr val="0F5347"/>
                </a:solidFill>
                <a:latin typeface="Calibri" pitchFamily="34" charset="0"/>
                <a:ea typeface="Calibri" pitchFamily="34" charset="-122"/>
                <a:cs typeface="Calibri" pitchFamily="34" charset="-120"/>
              </a:rPr>
              <a:t>38</a:t>
            </a:r>
            <a:endParaRPr lang="en-US" sz="4400" dirty="0"/>
          </a:p>
        </p:txBody>
      </p:sp>
      <p:sp>
        <p:nvSpPr>
          <p:cNvPr id="9" name="Text 6"/>
          <p:cNvSpPr txBox="1"/>
          <p:nvPr/>
        </p:nvSpPr>
        <p:spPr>
          <a:xfrm>
            <a:off x="640080"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psychiatres pour tout le pays (2019), concentrés à Dakar</a:t>
            </a:r>
            <a:endParaRPr lang="en-US" sz="1700" dirty="0"/>
          </a:p>
        </p:txBody>
      </p:sp>
      <p:sp>
        <p:nvSpPr>
          <p:cNvPr id="10" name="Text 7"/>
          <p:cNvSpPr txBox="1"/>
          <p:nvPr/>
        </p:nvSpPr>
        <p:spPr>
          <a:xfrm>
            <a:off x="640080"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MSAS, Plan stratégique santé mentale 2024–2028</a:t>
            </a:r>
            <a:endParaRPr lang="en-US" sz="1100" dirty="0"/>
          </a:p>
        </p:txBody>
      </p:sp>
      <p:sp>
        <p:nvSpPr>
          <p:cNvPr id="11" name="Shape 8"/>
          <p:cNvSpPr/>
          <p:nvPr/>
        </p:nvSpPr>
        <p:spPr>
          <a:xfrm>
            <a:off x="4399178" y="2057400"/>
            <a:ext cx="3393338" cy="0"/>
          </a:xfrm>
          <a:prstGeom prst="line">
            <a:avLst/>
          </a:prstGeom>
          <a:noFill/>
          <a:ln w="12700">
            <a:solidFill>
              <a:srgbClr val="17140F"/>
            </a:solidFill>
            <a:prstDash val="solid"/>
          </a:ln>
        </p:spPr>
      </p:sp>
      <p:sp>
        <p:nvSpPr>
          <p:cNvPr id="12" name="Text 9"/>
          <p:cNvSpPr txBox="1"/>
          <p:nvPr/>
        </p:nvSpPr>
        <p:spPr>
          <a:xfrm>
            <a:off x="4399178" y="2240280"/>
            <a:ext cx="3393338" cy="1097280"/>
          </a:xfrm>
          <a:prstGeom prst="rect">
            <a:avLst/>
          </a:prstGeom>
          <a:noFill/>
          <a:ln/>
        </p:spPr>
        <p:txBody>
          <a:bodyPr wrap="square" lIns="0" tIns="0" rIns="0" bIns="0" rtlCol="0" anchor="ctr"/>
          <a:lstStyle/>
          <a:p>
            <a:pPr indent="0" marL="0">
              <a:buNone/>
            </a:pPr>
            <a:r>
              <a:rPr lang="en-US" sz="4400" b="1" dirty="0">
                <a:solidFill>
                  <a:srgbClr val="9A4526"/>
                </a:solidFill>
                <a:latin typeface="Calibri" pitchFamily="34" charset="0"/>
                <a:ea typeface="Calibri" pitchFamily="34" charset="-122"/>
                <a:cs typeface="Calibri" pitchFamily="34" charset="-120"/>
              </a:rPr>
              <a:t>0</a:t>
            </a:r>
            <a:endParaRPr lang="en-US" sz="4400" dirty="0"/>
          </a:p>
        </p:txBody>
      </p:sp>
      <p:sp>
        <p:nvSpPr>
          <p:cNvPr id="13" name="Text 10"/>
          <p:cNvSpPr txBox="1"/>
          <p:nvPr/>
        </p:nvSpPr>
        <p:spPr>
          <a:xfrm>
            <a:off x="4399178"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numéro vert dédié aux urgences psychiatriques</a:t>
            </a:r>
            <a:endParaRPr lang="en-US" sz="1700" dirty="0"/>
          </a:p>
        </p:txBody>
      </p:sp>
      <p:sp>
        <p:nvSpPr>
          <p:cNvPr id="14" name="Text 11"/>
          <p:cNvSpPr txBox="1"/>
          <p:nvPr/>
        </p:nvSpPr>
        <p:spPr>
          <a:xfrm>
            <a:off x="4399178"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MSAS, Plan stratégique santé mentale 2024–2028</a:t>
            </a:r>
            <a:endParaRPr lang="en-US" sz="1100" dirty="0"/>
          </a:p>
        </p:txBody>
      </p:sp>
      <p:sp>
        <p:nvSpPr>
          <p:cNvPr id="15" name="Shape 12"/>
          <p:cNvSpPr/>
          <p:nvPr/>
        </p:nvSpPr>
        <p:spPr>
          <a:xfrm>
            <a:off x="8158277" y="2057400"/>
            <a:ext cx="3393338" cy="0"/>
          </a:xfrm>
          <a:prstGeom prst="line">
            <a:avLst/>
          </a:prstGeom>
          <a:noFill/>
          <a:ln w="12700">
            <a:solidFill>
              <a:srgbClr val="17140F"/>
            </a:solidFill>
            <a:prstDash val="solid"/>
          </a:ln>
        </p:spPr>
      </p:sp>
      <p:sp>
        <p:nvSpPr>
          <p:cNvPr id="16" name="Text 13"/>
          <p:cNvSpPr txBox="1"/>
          <p:nvPr/>
        </p:nvSpPr>
        <p:spPr>
          <a:xfrm>
            <a:off x="8158277" y="2240280"/>
            <a:ext cx="3393338" cy="1097280"/>
          </a:xfrm>
          <a:prstGeom prst="rect">
            <a:avLst/>
          </a:prstGeom>
          <a:noFill/>
          <a:ln/>
        </p:spPr>
        <p:txBody>
          <a:bodyPr wrap="square" lIns="0" tIns="0" rIns="0" bIns="0" rtlCol="0" anchor="ctr"/>
          <a:lstStyle/>
          <a:p>
            <a:pPr indent="0" marL="0">
              <a:buNone/>
            </a:pPr>
            <a:r>
              <a:rPr lang="en-US" sz="4400" b="1" dirty="0">
                <a:solidFill>
                  <a:srgbClr val="0F5347"/>
                </a:solidFill>
                <a:latin typeface="Calibri" pitchFamily="34" charset="0"/>
                <a:ea typeface="Calibri" pitchFamily="34" charset="-122"/>
                <a:cs typeface="Calibri" pitchFamily="34" charset="-120"/>
              </a:rPr>
              <a:t>1 milliard</a:t>
            </a:r>
            <a:endParaRPr lang="en-US" sz="4400" dirty="0"/>
          </a:p>
        </p:txBody>
      </p:sp>
      <p:sp>
        <p:nvSpPr>
          <p:cNvPr id="17" name="Text 14"/>
          <p:cNvSpPr txBox="1"/>
          <p:nvPr/>
        </p:nvSpPr>
        <p:spPr>
          <a:xfrm>
            <a:off x="8158277" y="3429000"/>
            <a:ext cx="3210458" cy="822960"/>
          </a:xfrm>
          <a:prstGeom prst="rect">
            <a:avLst/>
          </a:prstGeom>
          <a:noFill/>
          <a:ln/>
        </p:spPr>
        <p:txBody>
          <a:bodyPr wrap="square" lIns="0" tIns="0" rIns="0" bIns="0" rtlCol="0" anchor="t"/>
          <a:lstStyle/>
          <a:p>
            <a:pPr indent="0" marL="0">
              <a:buNone/>
            </a:pPr>
            <a:r>
              <a:rPr lang="en-US" sz="1700" dirty="0">
                <a:solidFill>
                  <a:srgbClr val="17140F"/>
                </a:solidFill>
                <a:latin typeface="Calibri" pitchFamily="34" charset="0"/>
                <a:ea typeface="Calibri" pitchFamily="34" charset="-122"/>
                <a:cs typeface="Calibri" pitchFamily="34" charset="-120"/>
              </a:rPr>
              <a:t>de personnes, environ, vivent avec un trouble mental dans le monde</a:t>
            </a:r>
            <a:endParaRPr lang="en-US" sz="1700" dirty="0"/>
          </a:p>
        </p:txBody>
      </p:sp>
      <p:sp>
        <p:nvSpPr>
          <p:cNvPr id="18" name="Text 15"/>
          <p:cNvSpPr txBox="1"/>
          <p:nvPr/>
        </p:nvSpPr>
        <p:spPr>
          <a:xfrm>
            <a:off x="8158277" y="4297680"/>
            <a:ext cx="3210458" cy="45720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Source : OMS, Rapport mondial sur la santé mentale, 2022</a:t>
            </a:r>
            <a:endParaRPr lang="en-US" sz="1100" dirty="0"/>
          </a:p>
        </p:txBody>
      </p:sp>
      <p:sp>
        <p:nvSpPr>
          <p:cNvPr id="19" name="Text 16"/>
          <p:cNvSpPr txBox="1"/>
          <p:nvPr/>
        </p:nvSpPr>
        <p:spPr>
          <a:xfrm>
            <a:off x="640080" y="5166360"/>
            <a:ext cx="10911535" cy="82296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À ces chiffres s'ajoute la stigmatisation : consulter un psychologue reste une démarche difficile, qu'on hésite à faire, et parfois qu'on cache. Pendant ce temps, presque tout le monde a un téléphone.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4</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Problématique</a:t>
            </a:r>
            <a:endParaRPr lang="en-US" sz="3000" dirty="0"/>
          </a:p>
        </p:txBody>
      </p:sp>
      <p:sp>
        <p:nvSpPr>
          <p:cNvPr id="7" name="Text 4"/>
          <p:cNvSpPr txBox="1"/>
          <p:nvPr/>
        </p:nvSpPr>
        <p:spPr>
          <a:xfrm>
            <a:off x="640080" y="1371600"/>
            <a:ext cx="10241280" cy="1188720"/>
          </a:xfrm>
          <a:prstGeom prst="rect">
            <a:avLst/>
          </a:prstGeom>
          <a:noFill/>
          <a:ln/>
        </p:spPr>
        <p:txBody>
          <a:bodyPr wrap="square" lIns="0" tIns="0" rIns="0" bIns="0" rtlCol="0" anchor="t"/>
          <a:lstStyle/>
          <a:p>
            <a:pPr indent="0" marL="0">
              <a:buNone/>
            </a:pPr>
            <a:r>
              <a:rPr lang="en-US" sz="2200" b="1" dirty="0">
                <a:solidFill>
                  <a:srgbClr val="17140F"/>
                </a:solidFill>
                <a:latin typeface="Calibri" pitchFamily="34" charset="0"/>
                <a:ea typeface="Calibri" pitchFamily="34" charset="-122"/>
                <a:cs typeface="Calibri" pitchFamily="34" charset="-120"/>
              </a:rPr>
              <a:t>Comment faciliter l'accès à des psychologues vérifiés, outiller les praticiens et offrir un suivi continu, sécurisé et confidentiel, dans le contexte sénégalais ?</a:t>
            </a:r>
            <a:endParaRPr lang="en-US" sz="2200" dirty="0"/>
          </a:p>
        </p:txBody>
      </p:sp>
      <p:sp>
        <p:nvSpPr>
          <p:cNvPr id="8" name="Shape 5"/>
          <p:cNvSpPr/>
          <p:nvPr/>
        </p:nvSpPr>
        <p:spPr>
          <a:xfrm>
            <a:off x="640080" y="2926080"/>
            <a:ext cx="3393338" cy="0"/>
          </a:xfrm>
          <a:prstGeom prst="line">
            <a:avLst/>
          </a:prstGeom>
          <a:noFill/>
          <a:ln w="12700">
            <a:solidFill>
              <a:srgbClr val="17140F"/>
            </a:solidFill>
            <a:prstDash val="solid"/>
          </a:ln>
        </p:spPr>
      </p:sp>
      <p:sp>
        <p:nvSpPr>
          <p:cNvPr id="9" name="Text 6"/>
          <p:cNvSpPr txBox="1"/>
          <p:nvPr/>
        </p:nvSpPr>
        <p:spPr>
          <a:xfrm>
            <a:off x="640080"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Le patient</a:t>
            </a:r>
            <a:endParaRPr lang="en-US" sz="1900" dirty="0"/>
          </a:p>
        </p:txBody>
      </p:sp>
      <p:sp>
        <p:nvSpPr>
          <p:cNvPr id="10" name="Text 7"/>
          <p:cNvSpPr txBox="1"/>
          <p:nvPr/>
        </p:nvSpPr>
        <p:spPr>
          <a:xfrm>
            <a:off x="640080"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Ne sait pas à qui s'adresser</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Prend rendez-vous par téléphone</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Appréhende la première séance</a:t>
            </a:r>
            <a:endParaRPr lang="en-US" sz="1600" dirty="0"/>
          </a:p>
        </p:txBody>
      </p:sp>
      <p:sp>
        <p:nvSpPr>
          <p:cNvPr id="11" name="Shape 8"/>
          <p:cNvSpPr/>
          <p:nvPr/>
        </p:nvSpPr>
        <p:spPr>
          <a:xfrm>
            <a:off x="4399178" y="2926080"/>
            <a:ext cx="3393338" cy="0"/>
          </a:xfrm>
          <a:prstGeom prst="line">
            <a:avLst/>
          </a:prstGeom>
          <a:noFill/>
          <a:ln w="12700">
            <a:solidFill>
              <a:srgbClr val="17140F"/>
            </a:solidFill>
            <a:prstDash val="solid"/>
          </a:ln>
        </p:spPr>
      </p:sp>
      <p:sp>
        <p:nvSpPr>
          <p:cNvPr id="12" name="Text 9"/>
          <p:cNvSpPr txBox="1"/>
          <p:nvPr/>
        </p:nvSpPr>
        <p:spPr>
          <a:xfrm>
            <a:off x="4399178"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Le psychologue</a:t>
            </a:r>
            <a:endParaRPr lang="en-US" sz="1900" dirty="0"/>
          </a:p>
        </p:txBody>
      </p:sp>
      <p:sp>
        <p:nvSpPr>
          <p:cNvPr id="13" name="Text 10"/>
          <p:cNvSpPr txBox="1"/>
          <p:nvPr/>
        </p:nvSpPr>
        <p:spPr>
          <a:xfrm>
            <a:off x="4399178"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Manque de visibilité</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Gère agenda et paiements à la main</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N'a pas d'outil de suivi</a:t>
            </a:r>
            <a:endParaRPr lang="en-US" sz="1600" dirty="0"/>
          </a:p>
        </p:txBody>
      </p:sp>
      <p:sp>
        <p:nvSpPr>
          <p:cNvPr id="14" name="Shape 11"/>
          <p:cNvSpPr/>
          <p:nvPr/>
        </p:nvSpPr>
        <p:spPr>
          <a:xfrm>
            <a:off x="8158277" y="2926080"/>
            <a:ext cx="3393338" cy="0"/>
          </a:xfrm>
          <a:prstGeom prst="line">
            <a:avLst/>
          </a:prstGeom>
          <a:noFill/>
          <a:ln w="12700">
            <a:solidFill>
              <a:srgbClr val="17140F"/>
            </a:solidFill>
            <a:prstDash val="solid"/>
          </a:ln>
        </p:spPr>
      </p:sp>
      <p:sp>
        <p:nvSpPr>
          <p:cNvPr id="15" name="Text 12"/>
          <p:cNvSpPr txBox="1"/>
          <p:nvPr/>
        </p:nvSpPr>
        <p:spPr>
          <a:xfrm>
            <a:off x="8158277" y="3063240"/>
            <a:ext cx="3393338" cy="411480"/>
          </a:xfrm>
          <a:prstGeom prst="rect">
            <a:avLst/>
          </a:prstGeom>
          <a:noFill/>
          <a:ln/>
        </p:spPr>
        <p:txBody>
          <a:bodyPr wrap="square" lIns="0" tIns="0" rIns="0" bIns="0" rtlCol="0" anchor="t"/>
          <a:lstStyle/>
          <a:p>
            <a:pPr indent="0" marL="0">
              <a:buNone/>
            </a:pPr>
            <a:r>
              <a:rPr lang="en-US" sz="1900" b="1" dirty="0">
                <a:solidFill>
                  <a:srgbClr val="17140F"/>
                </a:solidFill>
                <a:latin typeface="Calibri" pitchFamily="34" charset="0"/>
                <a:ea typeface="Calibri" pitchFamily="34" charset="-122"/>
                <a:cs typeface="Calibri" pitchFamily="34" charset="-120"/>
              </a:rPr>
              <a:t>L'administration</a:t>
            </a:r>
            <a:endParaRPr lang="en-US" sz="1900" dirty="0"/>
          </a:p>
        </p:txBody>
      </p:sp>
      <p:sp>
        <p:nvSpPr>
          <p:cNvPr id="16" name="Text 13"/>
          <p:cNvSpPr txBox="1"/>
          <p:nvPr/>
        </p:nvSpPr>
        <p:spPr>
          <a:xfrm>
            <a:off x="8158277" y="3611880"/>
            <a:ext cx="3393338" cy="16459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Vérifie difficilement les diplômes</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Aucun circuit pour les plaintes</a:t>
            </a:r>
            <a:endParaRPr lang="en-US" sz="1600" dirty="0"/>
          </a:p>
          <a:p>
            <a:pPr marL="203200" indent="-203200">
              <a:spcAft>
                <a:spcPts val="800"/>
              </a:spcAft>
              <a:buSzPct val="100000"/>
              <a:buChar char="•"/>
            </a:pPr>
            <a:r>
              <a:rPr lang="en-US" sz="1600" dirty="0">
                <a:solidFill>
                  <a:srgbClr val="17140F"/>
                </a:solidFill>
                <a:latin typeface="Calibri" pitchFamily="34" charset="0"/>
                <a:ea typeface="Calibri" pitchFamily="34" charset="-122"/>
                <a:cs typeface="Calibri" pitchFamily="34" charset="-120"/>
              </a:rPr>
              <a:t>Aucune vue d'ensemble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5</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Étude des solutions existantes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9144000" cy="914400"/>
        </p:xfrm>
        <a:graphic>
          <a:graphicData uri="http://schemas.openxmlformats.org/drawingml/2006/table">
            <a:tbl>
              <a:tblPr/>
              <a:tblGrid>
                <a:gridCol w="2651760"/>
                <a:gridCol w="1005840"/>
                <a:gridCol w="1005840"/>
                <a:gridCol w="914400"/>
                <a:gridCol w="914400"/>
                <a:gridCol w="1097280"/>
              </a:tblGrid>
              <a:tr h="438912">
                <a:tc>
                  <a:txBody>
                    <a:bodyPr/>
                    <a:lstStyle/>
                    <a:p>
                      <a:pPr algn="l" indent="0" marL="0">
                        <a:buNone/>
                      </a:pP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BetterHelp</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Consultel</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Wysa</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40F"/>
                          </a:solidFill>
                          <a:latin typeface="Calibri" pitchFamily="34" charset="0"/>
                          <a:ea typeface="Calibri" pitchFamily="34" charset="-122"/>
                          <a:cs typeface="Calibri" pitchFamily="34" charset="-120"/>
                        </a:rPr>
                        <a:t>Lyynk</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5347"/>
                          </a:solidFill>
                          <a:latin typeface="Calibri" pitchFamily="34" charset="0"/>
                          <a:ea typeface="Calibri" pitchFamily="34" charset="-122"/>
                          <a:cs typeface="Calibri" pitchFamily="34" charset="-120"/>
                        </a:rPr>
                        <a:t>PsyConnect</a:t>
                      </a:r>
                      <a:endParaRPr lang="en-US" sz="13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Mise en relation avec un psy</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Partiel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Consultation vidéo</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Compagnon IA</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Paiement adapté au Sénégal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Anonymat du patient</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Partiel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r h="438912">
                <a:tc>
                  <a:txBody>
                    <a:bodyPr/>
                    <a:lstStyle/>
                    <a:p>
                      <a:pPr algn="l" indent="0" marL="0">
                        <a:buNone/>
                      </a:pPr>
                      <a:r>
                        <a:rPr lang="en-US" sz="1400" b="1" dirty="0">
                          <a:solidFill>
                            <a:srgbClr val="17140F"/>
                          </a:solidFill>
                          <a:latin typeface="Calibri" pitchFamily="34" charset="0"/>
                          <a:ea typeface="Calibri" pitchFamily="34" charset="-122"/>
                          <a:cs typeface="Calibri" pitchFamily="34" charset="-120"/>
                        </a:rPr>
                        <a:t>Pensé pour le Sénégal</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140F"/>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B6458"/>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5347"/>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marL="54864" marR="54864" marT="0" marB="0" anchor="ctr">
                    <a:lnL w="0" cap="flat" cmpd="sng" algn="ctr">
                      <a:noFill/>
                    </a:lnL>
                    <a:lnR w="0" cap="flat" cmpd="sng" algn="ctr">
                      <a:noFill/>
                    </a:lnR>
                    <a:lnT w="0" cap="flat" cmpd="sng" algn="ctr">
                      <a:noFill/>
                    </a:lnT>
                    <a:lnB w="12700" cap="flat" cmpd="sng" algn="ctr">
                      <a:solidFill>
                        <a:srgbClr val="E2DCD0"/>
                      </a:solidFill>
                      <a:prstDash val="solid"/>
                      <a:round/>
                      <a:headEnd type="none" w="med" len="med"/>
                      <a:tailEnd type="none" w="med" len="med"/>
                    </a:lnB>
                    <a:solidFill>
                      <a:srgbClr val="E4EDEA"/>
                    </a:solidFill>
                  </a:tcPr>
                </a:tc>
              </a:tr>
            </a:tbl>
          </a:graphicData>
        </a:graphic>
      </p:graphicFrame>
      <p:sp>
        <p:nvSpPr>
          <p:cNvPr id="8" name="Text 4"/>
          <p:cNvSpPr txBox="1"/>
          <p:nvPr/>
        </p:nvSpPr>
        <p:spPr>
          <a:xfrm>
            <a:off x="640080" y="4892040"/>
            <a:ext cx="7589520" cy="27432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 recharge Wave / Orange Money simulée. Extrait du tableau comparatif du chapitre 2.</a:t>
            </a:r>
            <a:endParaRPr lang="en-US" sz="1100" dirty="0"/>
          </a:p>
        </p:txBody>
      </p:sp>
      <p:sp>
        <p:nvSpPr>
          <p:cNvPr id="9" name="Shape 5"/>
          <p:cNvSpPr/>
          <p:nvPr/>
        </p:nvSpPr>
        <p:spPr>
          <a:xfrm>
            <a:off x="8686800" y="1691640"/>
            <a:ext cx="2864815" cy="0"/>
          </a:xfrm>
          <a:prstGeom prst="line">
            <a:avLst/>
          </a:prstGeom>
          <a:noFill/>
          <a:ln w="12700">
            <a:solidFill>
              <a:srgbClr val="E2DCD0"/>
            </a:solidFill>
            <a:prstDash val="solid"/>
          </a:ln>
        </p:spPr>
      </p:sp>
      <p:sp>
        <p:nvSpPr>
          <p:cNvPr id="10" name="Text 6"/>
          <p:cNvSpPr txBox="1"/>
          <p:nvPr/>
        </p:nvSpPr>
        <p:spPr>
          <a:xfrm>
            <a:off x="8686800" y="180136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Plateformes mondiales</a:t>
            </a:r>
            <a:endParaRPr lang="en-US" sz="1500" dirty="0"/>
          </a:p>
        </p:txBody>
      </p:sp>
      <p:sp>
        <p:nvSpPr>
          <p:cNvPr id="11" name="Text 7"/>
          <p:cNvSpPr txBox="1"/>
          <p:nvPr/>
        </p:nvSpPr>
        <p:spPr>
          <a:xfrm>
            <a:off x="8686800" y="213055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Complètes, mais abonnement en dollars et aucun paiement local.</a:t>
            </a:r>
            <a:endParaRPr lang="en-US" sz="1300" dirty="0"/>
          </a:p>
        </p:txBody>
      </p:sp>
      <p:sp>
        <p:nvSpPr>
          <p:cNvPr id="12" name="Shape 8"/>
          <p:cNvSpPr/>
          <p:nvPr/>
        </p:nvSpPr>
        <p:spPr>
          <a:xfrm>
            <a:off x="8686800" y="2788920"/>
            <a:ext cx="2864815" cy="0"/>
          </a:xfrm>
          <a:prstGeom prst="line">
            <a:avLst/>
          </a:prstGeom>
          <a:noFill/>
          <a:ln w="12700">
            <a:solidFill>
              <a:srgbClr val="E2DCD0"/>
            </a:solidFill>
            <a:prstDash val="solid"/>
          </a:ln>
        </p:spPr>
      </p:sp>
      <p:sp>
        <p:nvSpPr>
          <p:cNvPr id="13" name="Text 9"/>
          <p:cNvSpPr txBox="1"/>
          <p:nvPr/>
        </p:nvSpPr>
        <p:spPr>
          <a:xfrm>
            <a:off x="8686800" y="289864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Solutions africaines</a:t>
            </a:r>
            <a:endParaRPr lang="en-US" sz="1500" dirty="0"/>
          </a:p>
        </p:txBody>
      </p:sp>
      <p:sp>
        <p:nvSpPr>
          <p:cNvPr id="14" name="Text 10"/>
          <p:cNvSpPr txBox="1"/>
          <p:nvPr/>
        </p:nvSpPr>
        <p:spPr>
          <a:xfrm>
            <a:off x="8686800" y="322783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Proches du terrain, mais centrées sur la médecine générale.</a:t>
            </a:r>
            <a:endParaRPr lang="en-US" sz="1300" dirty="0"/>
          </a:p>
        </p:txBody>
      </p:sp>
      <p:sp>
        <p:nvSpPr>
          <p:cNvPr id="15" name="Shape 11"/>
          <p:cNvSpPr/>
          <p:nvPr/>
        </p:nvSpPr>
        <p:spPr>
          <a:xfrm>
            <a:off x="8686800" y="3886200"/>
            <a:ext cx="2864815" cy="0"/>
          </a:xfrm>
          <a:prstGeom prst="line">
            <a:avLst/>
          </a:prstGeom>
          <a:noFill/>
          <a:ln w="12700">
            <a:solidFill>
              <a:srgbClr val="E2DCD0"/>
            </a:solidFill>
            <a:prstDash val="solid"/>
          </a:ln>
        </p:spPr>
      </p:sp>
      <p:sp>
        <p:nvSpPr>
          <p:cNvPr id="16" name="Text 12"/>
          <p:cNvSpPr txBox="1"/>
          <p:nvPr/>
        </p:nvSpPr>
        <p:spPr>
          <a:xfrm>
            <a:off x="8686800" y="3995928"/>
            <a:ext cx="2834640" cy="320040"/>
          </a:xfrm>
          <a:prstGeom prst="rect">
            <a:avLst/>
          </a:prstGeom>
          <a:noFill/>
          <a:ln/>
        </p:spPr>
        <p:txBody>
          <a:bodyPr wrap="square" lIns="0" tIns="0" rIns="0" bIns="0" rtlCol="0" anchor="t"/>
          <a:lstStyle/>
          <a:p>
            <a:pPr indent="0" marL="0">
              <a:buNone/>
            </a:pPr>
            <a:r>
              <a:rPr lang="en-US" sz="1500" b="1" dirty="0">
                <a:solidFill>
                  <a:srgbClr val="17140F"/>
                </a:solidFill>
                <a:latin typeface="Calibri" pitchFamily="34" charset="0"/>
                <a:ea typeface="Calibri" pitchFamily="34" charset="-122"/>
                <a:cs typeface="Calibri" pitchFamily="34" charset="-120"/>
              </a:rPr>
              <a:t>Compagnons IA</a:t>
            </a:r>
            <a:endParaRPr lang="en-US" sz="1500" dirty="0"/>
          </a:p>
        </p:txBody>
      </p:sp>
      <p:sp>
        <p:nvSpPr>
          <p:cNvPr id="17" name="Text 13"/>
          <p:cNvSpPr txBox="1"/>
          <p:nvPr/>
        </p:nvSpPr>
        <p:spPr>
          <a:xfrm>
            <a:off x="8686800" y="4325112"/>
            <a:ext cx="2834640" cy="64008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Aucune mise en relation avec un professionnel.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6</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758952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Solution proposée : trois profils d'utilisateurs</a:t>
            </a:r>
            <a:endParaRPr lang="en-US" sz="3000" dirty="0"/>
          </a:p>
        </p:txBody>
      </p:sp>
      <p:sp>
        <p:nvSpPr>
          <p:cNvPr id="7" name="Shape 4"/>
          <p:cNvSpPr/>
          <p:nvPr/>
        </p:nvSpPr>
        <p:spPr>
          <a:xfrm>
            <a:off x="640080" y="1737360"/>
            <a:ext cx="6949440" cy="0"/>
          </a:xfrm>
          <a:prstGeom prst="line">
            <a:avLst/>
          </a:prstGeom>
          <a:noFill/>
          <a:ln w="12700">
            <a:solidFill>
              <a:srgbClr val="E2DCD0"/>
            </a:solidFill>
            <a:prstDash val="solid"/>
          </a:ln>
        </p:spPr>
        <p:txBody>
          <a:bodyPr/>
          <a:p/>
        </p:txBody>
      </p:sp>
      <p:sp>
        <p:nvSpPr>
          <p:cNvPr id="8" name="Text 5"/>
          <p:cNvSpPr txBox="1"/>
          <p:nvPr/>
        </p:nvSpPr>
        <p:spPr>
          <a:xfrm>
            <a:off x="640080" y="18745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Patient</a:t>
            </a:r>
            <a:endParaRPr lang="en-US" sz="2000" dirty="0"/>
          </a:p>
        </p:txBody>
      </p:sp>
      <p:sp>
        <p:nvSpPr>
          <p:cNvPr id="9" name="Text 6"/>
          <p:cNvSpPr txBox="1"/>
          <p:nvPr/>
        </p:nvSpPr>
        <p:spPr>
          <a:xfrm>
            <a:off x="2834640" y="18928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Trouve un psychologue vérifié grâce aux recommandations, réserve, paie depuis son solde, consulte en vidéo ou en audio. Journal, PHQ-9 / GAD-7, compagnon Xalaat, mode anonyme.</a:t>
            </a:r>
            <a:endParaRPr lang="en-US" sz="1500" dirty="0"/>
          </a:p>
        </p:txBody>
      </p:sp>
      <p:sp>
        <p:nvSpPr>
          <p:cNvPr id="10" name="Shape 7"/>
          <p:cNvSpPr/>
          <p:nvPr/>
        </p:nvSpPr>
        <p:spPr>
          <a:xfrm>
            <a:off x="640080" y="3108960"/>
            <a:ext cx="6949440" cy="0"/>
          </a:xfrm>
          <a:prstGeom prst="line">
            <a:avLst/>
          </a:prstGeom>
          <a:noFill/>
          <a:ln w="12700">
            <a:solidFill>
              <a:srgbClr val="E2DCD0"/>
            </a:solidFill>
            <a:prstDash val="solid"/>
          </a:ln>
        </p:spPr>
      </p:sp>
      <p:sp>
        <p:nvSpPr>
          <p:cNvPr id="11" name="Text 8"/>
          <p:cNvSpPr txBox="1"/>
          <p:nvPr/>
        </p:nvSpPr>
        <p:spPr>
          <a:xfrm>
            <a:off x="640080" y="32461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Psychologue</a:t>
            </a:r>
            <a:endParaRPr lang="en-US" sz="2000" dirty="0"/>
          </a:p>
        </p:txBody>
      </p:sp>
      <p:sp>
        <p:nvSpPr>
          <p:cNvPr id="12" name="Text 9"/>
          <p:cNvSpPr txBox="1"/>
          <p:nvPr/>
        </p:nvSpPr>
        <p:spPr>
          <a:xfrm>
            <a:off x="2834640" y="32644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Visible seulement après validation de son justificatif. Disponibilités, agenda, notes cliniques privées, suivi des patients et revenus.</a:t>
            </a:r>
            <a:endParaRPr lang="en-US" sz="1500" dirty="0"/>
          </a:p>
        </p:txBody>
      </p:sp>
      <p:sp>
        <p:nvSpPr>
          <p:cNvPr id="13" name="Shape 10"/>
          <p:cNvSpPr/>
          <p:nvPr/>
        </p:nvSpPr>
        <p:spPr>
          <a:xfrm>
            <a:off x="640080" y="4480560"/>
            <a:ext cx="6949440" cy="0"/>
          </a:xfrm>
          <a:prstGeom prst="line">
            <a:avLst/>
          </a:prstGeom>
          <a:noFill/>
          <a:ln w="12700">
            <a:solidFill>
              <a:srgbClr val="E2DCD0"/>
            </a:solidFill>
            <a:prstDash val="solid"/>
          </a:ln>
        </p:spPr>
      </p:sp>
      <p:sp>
        <p:nvSpPr>
          <p:cNvPr id="14" name="Text 11"/>
          <p:cNvSpPr txBox="1"/>
          <p:nvPr/>
        </p:nvSpPr>
        <p:spPr>
          <a:xfrm>
            <a:off x="640080" y="4617720"/>
            <a:ext cx="2011680" cy="36576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Administrateur</a:t>
            </a:r>
            <a:endParaRPr lang="en-US" sz="2000" dirty="0"/>
          </a:p>
        </p:txBody>
      </p:sp>
      <p:sp>
        <p:nvSpPr>
          <p:cNvPr id="15" name="Text 12"/>
          <p:cNvSpPr txBox="1"/>
          <p:nvPr/>
        </p:nvSpPr>
        <p:spPr>
          <a:xfrm>
            <a:off x="2834640" y="4636008"/>
            <a:ext cx="4754880" cy="10972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Valide les psychologues, traite les signalements, diffuse des annonces.</a:t>
            </a:r>
            <a:endParaRPr lang="en-US" sz="1500" dirty="0"/>
          </a:p>
        </p:txBody>
      </p:sp>
      <p:sp>
        <p:nvSpPr>
          <p:cNvPr id="16" name="Shape 13"/>
          <p:cNvSpPr/>
          <p:nvPr/>
        </p:nvSpPr>
        <p:spPr>
          <a:xfrm>
            <a:off x="640080" y="5852160"/>
            <a:ext cx="6949440" cy="0"/>
          </a:xfrm>
          <a:prstGeom prst="line">
            <a:avLst/>
          </a:prstGeom>
          <a:noFill/>
          <a:ln w="12700">
            <a:solidFill>
              <a:srgbClr val="E2DCD0"/>
            </a:solidFill>
            <a:prstDash val="solid"/>
          </a:ln>
        </p:spPr>
      </p:sp>
      <p:pic>
        <p:nvPicPr>
          <p:cNvPr id="17" name="Image 0" descr="screenshot_accueil_patient_recommandations_et_prochain_rdv.jpg">    </p:cNvPr>
          <p:cNvPicPr>
            <a:picLocks noChangeAspect="1"/>
          </p:cNvPicPr>
          <p:nvPr/>
        </p:nvPicPr>
        <p:blipFill>
          <a:blip r:embed="rId1"/>
          <a:stretch>
            <a:fillRect/>
          </a:stretch>
        </p:blipFill>
        <p:spPr>
          <a:xfrm>
            <a:off x="8503920" y="685800"/>
            <a:ext cx="2377440" cy="5151120"/>
          </a:xfrm>
          <a:prstGeom prst="rect">
            <a:avLst/>
          </a:prstGeom>
        </p:spPr>
      </p:pic>
      <p:sp>
        <p:nvSpPr>
          <p:cNvPr id="18" name="Text 14"/>
          <p:cNvSpPr txBox="1"/>
          <p:nvPr/>
        </p:nvSpPr>
        <p:spPr>
          <a:xfrm>
            <a:off x="8503920" y="5910072"/>
            <a:ext cx="2377440" cy="274320"/>
          </a:xfrm>
          <a:prstGeom prst="rect">
            <a:avLst/>
          </a:prstGeom>
          <a:noFill/>
          <a:ln/>
        </p:spPr>
        <p:txBody>
          <a:bodyPr wrap="square" lIns="0" tIns="0" rIns="0" bIns="0" rtlCol="0" anchor="t"/>
          <a:lstStyle/>
          <a:p>
            <a:pPr algn="ctr" indent="0" marL="0">
              <a:buNone/>
            </a:pPr>
            <a:r>
              <a:rPr lang="en-US" sz="1100" dirty="0">
                <a:solidFill>
                  <a:srgbClr val="6B6458"/>
                </a:solidFill>
                <a:latin typeface="Calibri" pitchFamily="34" charset="0"/>
                <a:ea typeface="Calibri" pitchFamily="34" charset="-122"/>
                <a:cs typeface="Calibri" pitchFamily="34" charset="-120"/>
              </a:rPr>
              <a:t>Accueil patient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7</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Conception : modélisation UML</a:t>
            </a:r>
            <a:endParaRPr lang="en-US" sz="3000" dirty="0"/>
          </a:p>
        </p:txBody>
      </p:sp>
      <p:sp>
        <p:nvSpPr>
          <p:cNvPr id="7" name="Text 4"/>
          <p:cNvSpPr txBox="1"/>
          <p:nvPr/>
        </p:nvSpPr>
        <p:spPr>
          <a:xfrm>
            <a:off x="640080" y="1737360"/>
            <a:ext cx="2286000" cy="1188720"/>
          </a:xfrm>
          <a:prstGeom prst="rect">
            <a:avLst/>
          </a:prstGeom>
          <a:noFill/>
          <a:ln/>
        </p:spPr>
        <p:txBody>
          <a:bodyPr wrap="square" lIns="0" tIns="0" rIns="0" bIns="0" rtlCol="0" anchor="ctr"/>
          <a:lstStyle/>
          <a:p>
            <a:pPr indent="0" marL="0">
              <a:buNone/>
            </a:pPr>
            <a:r>
              <a:rPr lang="en-US" sz="8000" b="1" dirty="0">
                <a:solidFill>
                  <a:srgbClr val="0F5347"/>
                </a:solidFill>
                <a:latin typeface="Calibri" pitchFamily="34" charset="0"/>
                <a:ea typeface="Calibri" pitchFamily="34" charset="-122"/>
                <a:cs typeface="Calibri" pitchFamily="34" charset="-120"/>
              </a:rPr>
              <a:t>11</a:t>
            </a:r>
            <a:endParaRPr lang="en-US" sz="8000" dirty="0"/>
          </a:p>
        </p:txBody>
      </p:sp>
      <p:sp>
        <p:nvSpPr>
          <p:cNvPr id="8" name="Text 5"/>
          <p:cNvSpPr txBox="1"/>
          <p:nvPr/>
        </p:nvSpPr>
        <p:spPr>
          <a:xfrm>
            <a:off x="640080" y="2926080"/>
            <a:ext cx="2743200" cy="365760"/>
          </a:xfrm>
          <a:prstGeom prst="rect">
            <a:avLst/>
          </a:prstGeom>
          <a:noFill/>
          <a:ln/>
        </p:spPr>
        <p:txBody>
          <a:bodyPr wrap="square" lIns="0" tIns="0" rIns="0" bIns="0" rtlCol="0" anchor="t"/>
          <a:lstStyle/>
          <a:p>
            <a:pPr indent="0" marL="0">
              <a:buNone/>
            </a:pPr>
            <a:r>
              <a:rPr lang="en-US" sz="1800" b="1" dirty="0">
                <a:solidFill>
                  <a:srgbClr val="17140F"/>
                </a:solidFill>
                <a:latin typeface="Calibri" pitchFamily="34" charset="0"/>
                <a:ea typeface="Calibri" pitchFamily="34" charset="-122"/>
                <a:cs typeface="Calibri" pitchFamily="34" charset="-120"/>
              </a:rPr>
              <a:t>diagrammes UML</a:t>
            </a:r>
            <a:endParaRPr lang="en-US" sz="1800" dirty="0"/>
          </a:p>
        </p:txBody>
      </p:sp>
      <p:sp>
        <p:nvSpPr>
          <p:cNvPr id="9" name="Shape 6"/>
          <p:cNvSpPr/>
          <p:nvPr/>
        </p:nvSpPr>
        <p:spPr>
          <a:xfrm>
            <a:off x="640080" y="3474720"/>
            <a:ext cx="3017520" cy="0"/>
          </a:xfrm>
          <a:prstGeom prst="line">
            <a:avLst/>
          </a:prstGeom>
          <a:noFill/>
          <a:ln w="12700">
            <a:solidFill>
              <a:srgbClr val="E2DCD0"/>
            </a:solidFill>
            <a:prstDash val="solid"/>
          </a:ln>
        </p:spPr>
      </p:sp>
      <p:sp>
        <p:nvSpPr>
          <p:cNvPr id="10" name="Text 7"/>
          <p:cNvSpPr txBox="1"/>
          <p:nvPr/>
        </p:nvSpPr>
        <p:spPr>
          <a:xfrm>
            <a:off x="640080" y="35661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3</a:t>
            </a:r>
            <a:endParaRPr lang="en-US" sz="1500" dirty="0"/>
          </a:p>
        </p:txBody>
      </p:sp>
      <p:sp>
        <p:nvSpPr>
          <p:cNvPr id="11" name="Text 8"/>
          <p:cNvSpPr txBox="1"/>
          <p:nvPr/>
        </p:nvSpPr>
        <p:spPr>
          <a:xfrm>
            <a:off x="1051560" y="35661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cas d'utilisation, un par acteur</a:t>
            </a:r>
            <a:endParaRPr lang="en-US" sz="1400" dirty="0"/>
          </a:p>
        </p:txBody>
      </p:sp>
      <p:sp>
        <p:nvSpPr>
          <p:cNvPr id="12" name="Shape 9"/>
          <p:cNvSpPr/>
          <p:nvPr/>
        </p:nvSpPr>
        <p:spPr>
          <a:xfrm>
            <a:off x="640080" y="3931920"/>
            <a:ext cx="3017520" cy="0"/>
          </a:xfrm>
          <a:prstGeom prst="line">
            <a:avLst/>
          </a:prstGeom>
          <a:noFill/>
          <a:ln w="12700">
            <a:solidFill>
              <a:srgbClr val="E2DCD0"/>
            </a:solidFill>
            <a:prstDash val="solid"/>
          </a:ln>
        </p:spPr>
      </p:sp>
      <p:sp>
        <p:nvSpPr>
          <p:cNvPr id="13" name="Text 10"/>
          <p:cNvSpPr txBox="1"/>
          <p:nvPr/>
        </p:nvSpPr>
        <p:spPr>
          <a:xfrm>
            <a:off x="640080" y="40233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1051560" y="40233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de classes</a:t>
            </a:r>
            <a:endParaRPr lang="en-US" sz="1400" dirty="0"/>
          </a:p>
        </p:txBody>
      </p:sp>
      <p:sp>
        <p:nvSpPr>
          <p:cNvPr id="15" name="Shape 12"/>
          <p:cNvSpPr/>
          <p:nvPr/>
        </p:nvSpPr>
        <p:spPr>
          <a:xfrm>
            <a:off x="640080" y="4389120"/>
            <a:ext cx="3017520" cy="0"/>
          </a:xfrm>
          <a:prstGeom prst="line">
            <a:avLst/>
          </a:prstGeom>
          <a:noFill/>
          <a:ln w="12700">
            <a:solidFill>
              <a:srgbClr val="E2DCD0"/>
            </a:solidFill>
            <a:prstDash val="solid"/>
          </a:ln>
        </p:spPr>
      </p:sp>
      <p:sp>
        <p:nvSpPr>
          <p:cNvPr id="16" name="Text 13"/>
          <p:cNvSpPr txBox="1"/>
          <p:nvPr/>
        </p:nvSpPr>
        <p:spPr>
          <a:xfrm>
            <a:off x="640080" y="44805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4</a:t>
            </a:r>
            <a:endParaRPr lang="en-US" sz="1500" dirty="0"/>
          </a:p>
        </p:txBody>
      </p:sp>
      <p:sp>
        <p:nvSpPr>
          <p:cNvPr id="17" name="Text 14"/>
          <p:cNvSpPr txBox="1"/>
          <p:nvPr/>
        </p:nvSpPr>
        <p:spPr>
          <a:xfrm>
            <a:off x="1051560" y="44805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de séquence</a:t>
            </a:r>
            <a:endParaRPr lang="en-US" sz="1400" dirty="0"/>
          </a:p>
        </p:txBody>
      </p:sp>
      <p:sp>
        <p:nvSpPr>
          <p:cNvPr id="18" name="Shape 15"/>
          <p:cNvSpPr/>
          <p:nvPr/>
        </p:nvSpPr>
        <p:spPr>
          <a:xfrm>
            <a:off x="640080" y="4846320"/>
            <a:ext cx="3017520" cy="0"/>
          </a:xfrm>
          <a:prstGeom prst="line">
            <a:avLst/>
          </a:prstGeom>
          <a:noFill/>
          <a:ln w="12700">
            <a:solidFill>
              <a:srgbClr val="E2DCD0"/>
            </a:solidFill>
            <a:prstDash val="solid"/>
          </a:ln>
        </p:spPr>
      </p:sp>
      <p:sp>
        <p:nvSpPr>
          <p:cNvPr id="19" name="Text 16"/>
          <p:cNvSpPr txBox="1"/>
          <p:nvPr/>
        </p:nvSpPr>
        <p:spPr>
          <a:xfrm>
            <a:off x="640080" y="4937760"/>
            <a:ext cx="365760" cy="320040"/>
          </a:xfrm>
          <a:prstGeom prst="rect">
            <a:avLst/>
          </a:prstGeom>
          <a:noFill/>
          <a:ln/>
        </p:spPr>
        <p:txBody>
          <a:bodyPr wrap="square" lIns="0" tIns="0" rIns="0" bIns="0" rtlCol="0" anchor="t"/>
          <a:lstStyle/>
          <a:p>
            <a:pPr indent="0" marL="0">
              <a:buNone/>
            </a:pPr>
            <a:r>
              <a:rPr lang="en-US" sz="1500" b="1" dirty="0">
                <a:solidFill>
                  <a:srgbClr val="0F5347"/>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1051560" y="4937760"/>
            <a:ext cx="2651760" cy="320040"/>
          </a:xfrm>
          <a:prstGeom prst="rect">
            <a:avLst/>
          </a:prstGeom>
          <a:noFill/>
          <a:ln/>
        </p:spPr>
        <p:txBody>
          <a:bodyPr wrap="square" lIns="0" tIns="0" rIns="0" bIns="0" rtlCol="0" anchor="t"/>
          <a:lstStyle/>
          <a:p>
            <a:pPr indent="0" marL="0">
              <a:buNone/>
            </a:pPr>
            <a:r>
              <a:rPr lang="en-US" sz="1400" dirty="0">
                <a:solidFill>
                  <a:srgbClr val="17140F"/>
                </a:solidFill>
                <a:latin typeface="Calibri" pitchFamily="34" charset="0"/>
                <a:ea typeface="Calibri" pitchFamily="34" charset="-122"/>
                <a:cs typeface="Calibri" pitchFamily="34" charset="-120"/>
              </a:rPr>
              <a:t>diagrammes d'activités</a:t>
            </a:r>
            <a:endParaRPr lang="en-US" sz="1400" dirty="0"/>
          </a:p>
        </p:txBody>
      </p:sp>
      <p:pic>
        <p:nvPicPr>
          <p:cNvPr id="21" name="Image 0" descr="uc.png">    </p:cNvPr>
          <p:cNvPicPr>
            <a:picLocks noChangeAspect="1"/>
          </p:cNvPicPr>
          <p:nvPr/>
        </p:nvPicPr>
        <p:blipFill>
          <a:blip r:embed="rId1"/>
          <a:stretch>
            <a:fillRect/>
          </a:stretch>
        </p:blipFill>
        <p:spPr>
          <a:xfrm>
            <a:off x="3886200" y="1828800"/>
            <a:ext cx="7680960" cy="3096018"/>
          </a:xfrm>
          <a:prstGeom prst="rect">
            <a:avLst/>
          </a:prstGeom>
        </p:spPr>
      </p:pic>
      <p:sp>
        <p:nvSpPr>
          <p:cNvPr id="22" name="Text 18"/>
          <p:cNvSpPr txBox="1"/>
          <p:nvPr/>
        </p:nvSpPr>
        <p:spPr>
          <a:xfrm>
            <a:off x="3886200" y="5016258"/>
            <a:ext cx="7680960" cy="274320"/>
          </a:xfrm>
          <a:prstGeom prst="rect">
            <a:avLst/>
          </a:prstGeom>
          <a:noFill/>
          <a:ln/>
        </p:spPr>
        <p:txBody>
          <a:bodyPr wrap="square" lIns="0" tIns="0" rIns="0" bIns="0" rtlCol="0" anchor="t"/>
          <a:lstStyle/>
          <a:p>
            <a:pPr indent="0" marL="0">
              <a:buNone/>
            </a:pPr>
            <a:r>
              <a:rPr lang="en-US" sz="1100" dirty="0">
                <a:solidFill>
                  <a:srgbClr val="6B6458"/>
                </a:solidFill>
                <a:latin typeface="Calibri" pitchFamily="34" charset="0"/>
                <a:ea typeface="Calibri" pitchFamily="34" charset="-122"/>
                <a:cs typeface="Calibri" pitchFamily="34" charset="-120"/>
              </a:rPr>
              <a:t>Diagramme de cas d'utilisation du patient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8</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Architecture technique</a:t>
            </a:r>
            <a:endParaRPr lang="en-US" sz="3000" dirty="0"/>
          </a:p>
        </p:txBody>
      </p:sp>
      <p:sp>
        <p:nvSpPr>
          <p:cNvPr id="7" name="Shape 4"/>
          <p:cNvSpPr/>
          <p:nvPr/>
        </p:nvSpPr>
        <p:spPr>
          <a:xfrm>
            <a:off x="640080" y="3063240"/>
            <a:ext cx="1280160" cy="822960"/>
          </a:xfrm>
          <a:prstGeom prst="rect">
            <a:avLst/>
          </a:prstGeom>
          <a:solidFill>
            <a:srgbClr val="E4EDEA"/>
          </a:solidFill>
          <a:ln w="12700">
            <a:solidFill>
              <a:srgbClr val="0F5347"/>
            </a:solidFill>
            <a:prstDash val="solid"/>
          </a:ln>
        </p:spPr>
      </p:sp>
      <p:sp>
        <p:nvSpPr>
          <p:cNvPr id="8" name="Text 5"/>
          <p:cNvSpPr txBox="1"/>
          <p:nvPr/>
        </p:nvSpPr>
        <p:spPr>
          <a:xfrm>
            <a:off x="640080" y="3063240"/>
            <a:ext cx="1280160" cy="822960"/>
          </a:xfrm>
          <a:prstGeom prst="rect">
            <a:avLst/>
          </a:prstGeom>
          <a:noFill/>
          <a:ln/>
        </p:spPr>
        <p:txBody>
          <a:bodyPr wrap="square" lIns="25400" tIns="25400" rIns="25400" bIns="25400" rtlCol="0" anchor="ctr"/>
          <a:lstStyle/>
          <a:p>
            <a:pPr algn="ctr" indent="0" marL="0">
              <a:buNone/>
            </a:pPr>
            <a:r>
              <a:rPr lang="en-US" sz="1200" b="1" dirty="0">
                <a:solidFill>
                  <a:srgbClr val="0F5347"/>
                </a:solidFill>
                <a:latin typeface="Calibri" pitchFamily="34" charset="0"/>
                <a:ea typeface="Calibri" pitchFamily="34" charset="-122"/>
                <a:cs typeface="Calibri" pitchFamily="34" charset="-120"/>
              </a:rPr>
              <a:t>Application</a:t>
            </a:r>
            <a:endParaRPr lang="en-US" sz="1200" dirty="0"/>
          </a:p>
          <a:p>
            <a:pPr algn="ctr" indent="0" marL="0">
              <a:buNone/>
            </a:pPr>
            <a:r>
              <a:rPr lang="en-US" sz="1200" b="1" dirty="0">
                <a:solidFill>
                  <a:srgbClr val="0F5347"/>
                </a:solidFill>
                <a:latin typeface="Calibri" pitchFamily="34" charset="0"/>
                <a:ea typeface="Calibri" pitchFamily="34" charset="-122"/>
                <a:cs typeface="Calibri" pitchFamily="34" charset="-120"/>
              </a:rPr>
              <a:t>Flutter</a:t>
            </a:r>
            <a:endParaRPr lang="en-US" sz="1200" dirty="0"/>
          </a:p>
        </p:txBody>
      </p:sp>
      <p:sp>
        <p:nvSpPr>
          <p:cNvPr id="9" name="Shape 6"/>
          <p:cNvSpPr/>
          <p:nvPr/>
        </p:nvSpPr>
        <p:spPr>
          <a:xfrm>
            <a:off x="1920240" y="3474720"/>
            <a:ext cx="320040" cy="0"/>
          </a:xfrm>
          <a:prstGeom prst="line">
            <a:avLst/>
          </a:prstGeom>
          <a:noFill/>
          <a:ln w="12700">
            <a:solidFill>
              <a:srgbClr val="17140F"/>
            </a:solidFill>
            <a:prstDash val="solid"/>
            <a:tailEnd type="triangle"/>
          </a:ln>
        </p:spPr>
      </p:sp>
      <p:sp>
        <p:nvSpPr>
          <p:cNvPr id="10" name="Shape 7"/>
          <p:cNvSpPr/>
          <p:nvPr/>
        </p:nvSpPr>
        <p:spPr>
          <a:xfrm>
            <a:off x="2240280" y="2926080"/>
            <a:ext cx="1188720" cy="1097280"/>
          </a:xfrm>
          <a:prstGeom prst="rect">
            <a:avLst/>
          </a:prstGeom>
          <a:solidFill>
            <a:srgbClr val="FFFFFF"/>
          </a:solidFill>
          <a:ln w="12700">
            <a:solidFill>
              <a:srgbClr val="17140F"/>
            </a:solidFill>
            <a:prstDash val="solid"/>
          </a:ln>
        </p:spPr>
      </p:sp>
      <p:sp>
        <p:nvSpPr>
          <p:cNvPr id="11" name="Text 8"/>
          <p:cNvSpPr txBox="1"/>
          <p:nvPr/>
        </p:nvSpPr>
        <p:spPr>
          <a:xfrm>
            <a:off x="2240280" y="2926080"/>
            <a:ext cx="1188720" cy="1097280"/>
          </a:xfrm>
          <a:prstGeom prst="rect">
            <a:avLst/>
          </a:prstGeom>
          <a:noFill/>
          <a:ln/>
        </p:spPr>
        <p:txBody>
          <a:bodyPr wrap="square" lIns="25400" tIns="25400" rIns="25400" bIns="25400" rtlCol="0" anchor="ctr"/>
          <a:lstStyle/>
          <a:p>
            <a:pPr algn="ctr" indent="0" marL="0">
              <a:buNone/>
            </a:pPr>
            <a:r>
              <a:rPr lang="en-US" sz="1200" b="1" dirty="0">
                <a:solidFill>
                  <a:srgbClr val="17140F"/>
                </a:solidFill>
                <a:latin typeface="Calibri" pitchFamily="34" charset="0"/>
                <a:ea typeface="Calibri" pitchFamily="34" charset="-122"/>
                <a:cs typeface="Calibri" pitchFamily="34" charset="-120"/>
              </a:rPr>
              <a:t>API Gateway</a:t>
            </a:r>
            <a:endParaRPr lang="en-US" sz="1200" dirty="0"/>
          </a:p>
          <a:p>
            <a:pPr algn="ctr" indent="0" marL="0">
              <a:buNone/>
            </a:pPr>
            <a:r>
              <a:rPr lang="en-US" sz="1200" b="1" dirty="0">
                <a:solidFill>
                  <a:srgbClr val="17140F"/>
                </a:solidFill>
                <a:latin typeface="Calibri" pitchFamily="34" charset="0"/>
                <a:ea typeface="Calibri" pitchFamily="34" charset="-122"/>
                <a:cs typeface="Calibri" pitchFamily="34" charset="-120"/>
              </a:rPr>
              <a:t>Spring Cloud</a:t>
            </a:r>
            <a:endParaRPr lang="en-US" sz="1200" dirty="0"/>
          </a:p>
        </p:txBody>
      </p:sp>
      <p:sp>
        <p:nvSpPr>
          <p:cNvPr id="12" name="Shape 9"/>
          <p:cNvSpPr/>
          <p:nvPr/>
        </p:nvSpPr>
        <p:spPr>
          <a:xfrm>
            <a:off x="3429000" y="3474720"/>
            <a:ext cx="365760" cy="0"/>
          </a:xfrm>
          <a:prstGeom prst="line">
            <a:avLst/>
          </a:prstGeom>
          <a:noFill/>
          <a:ln w="12700">
            <a:solidFill>
              <a:srgbClr val="17140F"/>
            </a:solidFill>
            <a:prstDash val="solid"/>
            <a:tailEnd type="triangle"/>
          </a:ln>
        </p:spPr>
      </p:sp>
      <p:sp>
        <p:nvSpPr>
          <p:cNvPr id="13" name="Shape 10"/>
          <p:cNvSpPr/>
          <p:nvPr/>
        </p:nvSpPr>
        <p:spPr>
          <a:xfrm>
            <a:off x="3794760" y="1920240"/>
            <a:ext cx="2889504" cy="3273552"/>
          </a:xfrm>
          <a:prstGeom prst="rect">
            <a:avLst/>
          </a:prstGeom>
          <a:solidFill>
            <a:srgbClr val="FFFFFF"/>
          </a:solidFill>
          <a:ln w="12700">
            <a:solidFill>
              <a:srgbClr val="6B6458"/>
            </a:solidFill>
            <a:prstDash val="dash"/>
          </a:ln>
        </p:spPr>
      </p:sp>
      <p:sp>
        <p:nvSpPr>
          <p:cNvPr id="14" name="Shape 11"/>
          <p:cNvSpPr/>
          <p:nvPr/>
        </p:nvSpPr>
        <p:spPr>
          <a:xfrm>
            <a:off x="3904488" y="2075688"/>
            <a:ext cx="1280160" cy="658368"/>
          </a:xfrm>
          <a:prstGeom prst="rect">
            <a:avLst/>
          </a:prstGeom>
          <a:solidFill>
            <a:srgbClr val="FFFFFF"/>
          </a:solidFill>
          <a:ln w="12700">
            <a:solidFill>
              <a:srgbClr val="17140F"/>
            </a:solidFill>
            <a:prstDash val="solid"/>
          </a:ln>
        </p:spPr>
      </p:sp>
      <p:sp>
        <p:nvSpPr>
          <p:cNvPr id="15" name="Text 12"/>
          <p:cNvSpPr txBox="1"/>
          <p:nvPr/>
        </p:nvSpPr>
        <p:spPr>
          <a:xfrm>
            <a:off x="3904488" y="2075688"/>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auth-service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16" name="Shape 13"/>
          <p:cNvSpPr/>
          <p:nvPr/>
        </p:nvSpPr>
        <p:spPr>
          <a:xfrm>
            <a:off x="5294376" y="2075688"/>
            <a:ext cx="1280160" cy="658368"/>
          </a:xfrm>
          <a:prstGeom prst="rect">
            <a:avLst/>
          </a:prstGeom>
          <a:solidFill>
            <a:srgbClr val="FFFFFF"/>
          </a:solidFill>
          <a:ln w="12700">
            <a:solidFill>
              <a:srgbClr val="17140F"/>
            </a:solidFill>
            <a:prstDash val="solid"/>
          </a:ln>
        </p:spPr>
      </p:sp>
      <p:sp>
        <p:nvSpPr>
          <p:cNvPr id="17" name="Text 14"/>
          <p:cNvSpPr txBox="1"/>
          <p:nvPr/>
        </p:nvSpPr>
        <p:spPr>
          <a:xfrm>
            <a:off x="5294376" y="2075688"/>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user-service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18" name="Shape 15"/>
          <p:cNvSpPr/>
          <p:nvPr/>
        </p:nvSpPr>
        <p:spPr>
          <a:xfrm>
            <a:off x="3904488" y="2843784"/>
            <a:ext cx="1280160" cy="658368"/>
          </a:xfrm>
          <a:prstGeom prst="rect">
            <a:avLst/>
          </a:prstGeom>
          <a:solidFill>
            <a:srgbClr val="FFFFFF"/>
          </a:solidFill>
          <a:ln w="12700">
            <a:solidFill>
              <a:srgbClr val="17140F"/>
            </a:solidFill>
            <a:prstDash val="solid"/>
          </a:ln>
        </p:spPr>
      </p:sp>
      <p:sp>
        <p:nvSpPr>
          <p:cNvPr id="19" name="Text 16"/>
          <p:cNvSpPr txBox="1"/>
          <p:nvPr/>
        </p:nvSpPr>
        <p:spPr>
          <a:xfrm>
            <a:off x="3904488" y="2843784"/>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appointment-service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0" name="Shape 17"/>
          <p:cNvSpPr/>
          <p:nvPr/>
        </p:nvSpPr>
        <p:spPr>
          <a:xfrm>
            <a:off x="5294376" y="2843784"/>
            <a:ext cx="1280160" cy="658368"/>
          </a:xfrm>
          <a:prstGeom prst="rect">
            <a:avLst/>
          </a:prstGeom>
          <a:solidFill>
            <a:srgbClr val="FFFFFF"/>
          </a:solidFill>
          <a:ln w="12700">
            <a:solidFill>
              <a:srgbClr val="17140F"/>
            </a:solidFill>
            <a:prstDash val="solid"/>
          </a:ln>
        </p:spPr>
      </p:sp>
      <p:sp>
        <p:nvSpPr>
          <p:cNvPr id="21" name="Text 18"/>
          <p:cNvSpPr txBox="1"/>
          <p:nvPr/>
        </p:nvSpPr>
        <p:spPr>
          <a:xfrm>
            <a:off x="5294376" y="2843784"/>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session-service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 · Jitsi</a:t>
            </a:r>
            <a:endParaRPr lang="en-US" sz="1100" dirty="0"/>
          </a:p>
        </p:txBody>
      </p:sp>
      <p:sp>
        <p:nvSpPr>
          <p:cNvPr id="22" name="Shape 19"/>
          <p:cNvSpPr/>
          <p:nvPr/>
        </p:nvSpPr>
        <p:spPr>
          <a:xfrm>
            <a:off x="3904488" y="3611880"/>
            <a:ext cx="1280160" cy="658368"/>
          </a:xfrm>
          <a:prstGeom prst="rect">
            <a:avLst/>
          </a:prstGeom>
          <a:solidFill>
            <a:srgbClr val="FFFFFF"/>
          </a:solidFill>
          <a:ln w="12700">
            <a:solidFill>
              <a:srgbClr val="17140F"/>
            </a:solidFill>
            <a:prstDash val="solid"/>
          </a:ln>
        </p:spPr>
      </p:sp>
      <p:sp>
        <p:nvSpPr>
          <p:cNvPr id="23" name="Text 20"/>
          <p:cNvSpPr txBox="1"/>
          <p:nvPr/>
        </p:nvSpPr>
        <p:spPr>
          <a:xfrm>
            <a:off x="3904488" y="3611880"/>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payment-service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4" name="Shape 21"/>
          <p:cNvSpPr/>
          <p:nvPr/>
        </p:nvSpPr>
        <p:spPr>
          <a:xfrm>
            <a:off x="5294376" y="3611880"/>
            <a:ext cx="1280160" cy="658368"/>
          </a:xfrm>
          <a:prstGeom prst="rect">
            <a:avLst/>
          </a:prstGeom>
          <a:solidFill>
            <a:srgbClr val="FFFFFF"/>
          </a:solidFill>
          <a:ln w="12700">
            <a:solidFill>
              <a:srgbClr val="17140F"/>
            </a:solidFill>
            <a:prstDash val="solid"/>
          </a:ln>
        </p:spPr>
      </p:sp>
      <p:sp>
        <p:nvSpPr>
          <p:cNvPr id="25" name="Text 22"/>
          <p:cNvSpPr txBox="1"/>
          <p:nvPr/>
        </p:nvSpPr>
        <p:spPr>
          <a:xfrm>
            <a:off x="5294376" y="3611880"/>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17140F"/>
                </a:solidFill>
                <a:latin typeface="Calibri" pitchFamily="34" charset="0"/>
                <a:ea typeface="Calibri" pitchFamily="34" charset="-122"/>
                <a:cs typeface="Calibri" pitchFamily="34" charset="-120"/>
              </a:rPr>
              <a:t>notification-service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a:t>
            </a:r>
            <a:endParaRPr lang="en-US" sz="1100" dirty="0"/>
          </a:p>
        </p:txBody>
      </p:sp>
      <p:sp>
        <p:nvSpPr>
          <p:cNvPr id="26" name="Shape 23"/>
          <p:cNvSpPr/>
          <p:nvPr/>
        </p:nvSpPr>
        <p:spPr>
          <a:xfrm>
            <a:off x="3904488" y="4379976"/>
            <a:ext cx="1280160" cy="658368"/>
          </a:xfrm>
          <a:prstGeom prst="rect">
            <a:avLst/>
          </a:prstGeom>
          <a:solidFill>
            <a:srgbClr val="FFFFFF"/>
          </a:solidFill>
          <a:ln w="12700">
            <a:solidFill>
              <a:srgbClr val="0F5347"/>
            </a:solidFill>
            <a:prstDash val="solid"/>
          </a:ln>
        </p:spPr>
      </p:sp>
      <p:sp>
        <p:nvSpPr>
          <p:cNvPr id="27" name="Text 24"/>
          <p:cNvSpPr txBox="1"/>
          <p:nvPr/>
        </p:nvSpPr>
        <p:spPr>
          <a:xfrm>
            <a:off x="3904488" y="4379976"/>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0F5347"/>
                </a:solidFill>
                <a:latin typeface="Calibri" pitchFamily="34" charset="0"/>
                <a:ea typeface="Calibri" pitchFamily="34" charset="-122"/>
                <a:cs typeface="Calibri" pitchFamily="34" charset="-120"/>
              </a:rPr>
              <a:t>ai-companion-service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Java · Ollama</a:t>
            </a:r>
            <a:endParaRPr lang="en-US" sz="1100" dirty="0"/>
          </a:p>
        </p:txBody>
      </p:sp>
      <p:sp>
        <p:nvSpPr>
          <p:cNvPr id="28" name="Shape 25"/>
          <p:cNvSpPr/>
          <p:nvPr/>
        </p:nvSpPr>
        <p:spPr>
          <a:xfrm>
            <a:off x="5294376" y="4379976"/>
            <a:ext cx="1280160" cy="658368"/>
          </a:xfrm>
          <a:prstGeom prst="rect">
            <a:avLst/>
          </a:prstGeom>
          <a:solidFill>
            <a:srgbClr val="FFFFFF"/>
          </a:solidFill>
          <a:ln w="12700">
            <a:solidFill>
              <a:srgbClr val="0F5347"/>
            </a:solidFill>
            <a:prstDash val="solid"/>
          </a:ln>
        </p:spPr>
      </p:sp>
      <p:sp>
        <p:nvSpPr>
          <p:cNvPr id="29" name="Text 26"/>
          <p:cNvSpPr txBox="1"/>
          <p:nvPr/>
        </p:nvSpPr>
        <p:spPr>
          <a:xfrm>
            <a:off x="5294376" y="4379976"/>
            <a:ext cx="1280160" cy="658368"/>
          </a:xfrm>
          <a:prstGeom prst="rect">
            <a:avLst/>
          </a:prstGeom>
          <a:noFill/>
          <a:ln/>
        </p:spPr>
        <p:txBody>
          <a:bodyPr wrap="square" lIns="25400" tIns="25400" rIns="25400" bIns="25400" rtlCol="0" anchor="ctr"/>
          <a:lstStyle/>
          <a:p>
            <a:pPr algn="ctr" indent="0" marL="0">
              <a:buNone/>
            </a:pPr>
            <a:r>
              <a:rPr lang="en-US" sz="1100" b="1" dirty="0">
                <a:solidFill>
                  <a:srgbClr val="0F5347"/>
                </a:solidFill>
                <a:latin typeface="Calibri" pitchFamily="34" charset="0"/>
                <a:ea typeface="Calibri" pitchFamily="34" charset="-122"/>
                <a:cs typeface="Calibri" pitchFamily="34" charset="-120"/>
              </a:rPr>
              <a:t>ml-service</a:t>
            </a:r>
            <a:endParaRPr lang="en-US" sz="1100" dirty="0"/>
          </a:p>
          <a:p>
            <a:pPr algn="ctr" indent="0" marL="0">
              <a:buNone/>
            </a:pPr>
            <a:r>
              <a:rPr lang="en-US" sz="1000" dirty="0">
                <a:solidFill>
                  <a:srgbClr val="6B6458"/>
                </a:solidFill>
                <a:latin typeface="Calibri" pitchFamily="34" charset="0"/>
                <a:ea typeface="Calibri" pitchFamily="34" charset="-122"/>
                <a:cs typeface="Calibri" pitchFamily="34" charset="-120"/>
              </a:rPr>
              <a:t>Python · FastAPI</a:t>
            </a:r>
            <a:endParaRPr lang="en-US" sz="1100" dirty="0"/>
          </a:p>
        </p:txBody>
      </p:sp>
      <p:sp>
        <p:nvSpPr>
          <p:cNvPr id="30" name="Shape 27"/>
          <p:cNvSpPr/>
          <p:nvPr/>
        </p:nvSpPr>
        <p:spPr>
          <a:xfrm>
            <a:off x="6912864" y="1965960"/>
            <a:ext cx="1143000" cy="658368"/>
          </a:xfrm>
          <a:prstGeom prst="rect">
            <a:avLst/>
          </a:prstGeom>
          <a:solidFill>
            <a:srgbClr val="FFFFFF"/>
          </a:solidFill>
          <a:ln w="12700">
            <a:solidFill>
              <a:srgbClr val="17140F"/>
            </a:solidFill>
            <a:prstDash val="solid"/>
          </a:ln>
        </p:spPr>
      </p:sp>
      <p:sp>
        <p:nvSpPr>
          <p:cNvPr id="31" name="Text 28"/>
          <p:cNvSpPr txBox="1"/>
          <p:nvPr/>
        </p:nvSpPr>
        <p:spPr>
          <a:xfrm>
            <a:off x="6912864" y="1965960"/>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Eureka</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annuaire</a:t>
            </a:r>
            <a:endParaRPr lang="en-US" sz="1100" dirty="0"/>
          </a:p>
        </p:txBody>
      </p:sp>
      <p:sp>
        <p:nvSpPr>
          <p:cNvPr id="32" name="Shape 29"/>
          <p:cNvSpPr/>
          <p:nvPr/>
        </p:nvSpPr>
        <p:spPr>
          <a:xfrm>
            <a:off x="6912864" y="3145536"/>
            <a:ext cx="1143000" cy="658368"/>
          </a:xfrm>
          <a:prstGeom prst="rect">
            <a:avLst/>
          </a:prstGeom>
          <a:solidFill>
            <a:srgbClr val="FFFFFF"/>
          </a:solidFill>
          <a:ln w="12700">
            <a:solidFill>
              <a:srgbClr val="17140F"/>
            </a:solidFill>
            <a:prstDash val="solid"/>
          </a:ln>
        </p:spPr>
      </p:sp>
      <p:sp>
        <p:nvSpPr>
          <p:cNvPr id="33" name="Text 30"/>
          <p:cNvSpPr txBox="1"/>
          <p:nvPr/>
        </p:nvSpPr>
        <p:spPr>
          <a:xfrm>
            <a:off x="6912864" y="3145536"/>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Zipkin</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traçage</a:t>
            </a:r>
            <a:endParaRPr lang="en-US" sz="1100" dirty="0"/>
          </a:p>
        </p:txBody>
      </p:sp>
      <p:sp>
        <p:nvSpPr>
          <p:cNvPr id="34" name="Shape 31"/>
          <p:cNvSpPr/>
          <p:nvPr/>
        </p:nvSpPr>
        <p:spPr>
          <a:xfrm>
            <a:off x="6912864" y="4325112"/>
            <a:ext cx="1143000" cy="658368"/>
          </a:xfrm>
          <a:prstGeom prst="rect">
            <a:avLst/>
          </a:prstGeom>
          <a:solidFill>
            <a:srgbClr val="FFFFFF"/>
          </a:solidFill>
          <a:ln w="12700">
            <a:solidFill>
              <a:srgbClr val="17140F"/>
            </a:solidFill>
            <a:prstDash val="solid"/>
          </a:ln>
        </p:spPr>
      </p:sp>
      <p:sp>
        <p:nvSpPr>
          <p:cNvPr id="35" name="Text 32"/>
          <p:cNvSpPr txBox="1"/>
          <p:nvPr/>
        </p:nvSpPr>
        <p:spPr>
          <a:xfrm>
            <a:off x="6912864" y="4325112"/>
            <a:ext cx="1143000" cy="658368"/>
          </a:xfrm>
          <a:prstGeom prst="rect">
            <a:avLst/>
          </a:prstGeom>
          <a:noFill/>
          <a:ln/>
        </p:spPr>
        <p:txBody>
          <a:bodyPr wrap="square" lIns="25400" tIns="25400" rIns="25400" bIns="25400" rtlCol="0" anchor="ctr"/>
          <a:lstStyle/>
          <a:p>
            <a:pPr algn="ctr" indent="0" marL="0">
              <a:buNone/>
            </a:pPr>
            <a:r>
              <a:rPr lang="en-US" sz="1100" dirty="0">
                <a:solidFill>
                  <a:srgbClr val="17140F"/>
                </a:solidFill>
                <a:latin typeface="Calibri" pitchFamily="34" charset="0"/>
                <a:ea typeface="Calibri" pitchFamily="34" charset="-122"/>
                <a:cs typeface="Calibri" pitchFamily="34" charset="-120"/>
              </a:rPr>
              <a:t>PostgreSQL</a:t>
            </a:r>
            <a:endParaRPr lang="en-US" sz="1100" dirty="0"/>
          </a:p>
          <a:p>
            <a:pPr algn="ctr" indent="0" marL="0">
              <a:buNone/>
            </a:pPr>
            <a:r>
              <a:rPr lang="en-US" sz="1100" dirty="0">
                <a:solidFill>
                  <a:srgbClr val="17140F"/>
                </a:solidFill>
                <a:latin typeface="Calibri" pitchFamily="34" charset="0"/>
                <a:ea typeface="Calibri" pitchFamily="34" charset="-122"/>
                <a:cs typeface="Calibri" pitchFamily="34" charset="-120"/>
              </a:rPr>
              <a:t>6 bases</a:t>
            </a:r>
            <a:endParaRPr lang="en-US" sz="1100" dirty="0"/>
          </a:p>
        </p:txBody>
      </p:sp>
      <p:sp>
        <p:nvSpPr>
          <p:cNvPr id="36" name="Text 33"/>
          <p:cNvSpPr txBox="1"/>
          <p:nvPr/>
        </p:nvSpPr>
        <p:spPr>
          <a:xfrm>
            <a:off x="8503920" y="1783080"/>
            <a:ext cx="3017520" cy="36576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Pourquoi ce choix</a:t>
            </a:r>
            <a:endParaRPr lang="en-US" sz="1700" dirty="0"/>
          </a:p>
        </p:txBody>
      </p:sp>
      <p:sp>
        <p:nvSpPr>
          <p:cNvPr id="37" name="Shape 34"/>
          <p:cNvSpPr/>
          <p:nvPr/>
        </p:nvSpPr>
        <p:spPr>
          <a:xfrm>
            <a:off x="8503920" y="2286000"/>
            <a:ext cx="3047695" cy="0"/>
          </a:xfrm>
          <a:prstGeom prst="line">
            <a:avLst/>
          </a:prstGeom>
          <a:noFill/>
          <a:ln w="12700">
            <a:solidFill>
              <a:srgbClr val="E2DCD0"/>
            </a:solidFill>
            <a:prstDash val="solid"/>
          </a:ln>
        </p:spPr>
      </p:sp>
      <p:sp>
        <p:nvSpPr>
          <p:cNvPr id="38" name="Text 35"/>
          <p:cNvSpPr txBox="1"/>
          <p:nvPr/>
        </p:nvSpPr>
        <p:spPr>
          <a:xfrm>
            <a:off x="8503920" y="237744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Deux langages</a:t>
            </a:r>
            <a:endParaRPr lang="en-US" sz="1400" dirty="0"/>
          </a:p>
        </p:txBody>
      </p:sp>
      <p:sp>
        <p:nvSpPr>
          <p:cNvPr id="39" name="Text 36"/>
          <p:cNvSpPr txBox="1"/>
          <p:nvPr/>
        </p:nvSpPr>
        <p:spPr>
          <a:xfrm>
            <a:off x="8503920" y="269748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Python pour la recommandation, Java pour le reste.</a:t>
            </a:r>
            <a:endParaRPr lang="en-US" sz="1300" dirty="0"/>
          </a:p>
        </p:txBody>
      </p:sp>
      <p:sp>
        <p:nvSpPr>
          <p:cNvPr id="40" name="Shape 37"/>
          <p:cNvSpPr/>
          <p:nvPr/>
        </p:nvSpPr>
        <p:spPr>
          <a:xfrm>
            <a:off x="8503920" y="3246120"/>
            <a:ext cx="3047695" cy="0"/>
          </a:xfrm>
          <a:prstGeom prst="line">
            <a:avLst/>
          </a:prstGeom>
          <a:noFill/>
          <a:ln w="12700">
            <a:solidFill>
              <a:srgbClr val="E2DCD0"/>
            </a:solidFill>
            <a:prstDash val="solid"/>
          </a:ln>
        </p:spPr>
      </p:sp>
      <p:sp>
        <p:nvSpPr>
          <p:cNvPr id="41" name="Text 38"/>
          <p:cNvSpPr txBox="1"/>
          <p:nvPr/>
        </p:nvSpPr>
        <p:spPr>
          <a:xfrm>
            <a:off x="8503920" y="333756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Une panne reste locale</a:t>
            </a:r>
            <a:endParaRPr lang="en-US" sz="1400" dirty="0"/>
          </a:p>
        </p:txBody>
      </p:sp>
      <p:sp>
        <p:nvSpPr>
          <p:cNvPr id="42" name="Text 39"/>
          <p:cNvSpPr txBox="1"/>
          <p:nvPr/>
        </p:nvSpPr>
        <p:spPr>
          <a:xfrm>
            <a:off x="8503920" y="365760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Si l'IA tombe, rendez-vous et paiements continuent.</a:t>
            </a:r>
            <a:endParaRPr lang="en-US" sz="1300" dirty="0"/>
          </a:p>
        </p:txBody>
      </p:sp>
      <p:sp>
        <p:nvSpPr>
          <p:cNvPr id="43" name="Shape 40"/>
          <p:cNvSpPr/>
          <p:nvPr/>
        </p:nvSpPr>
        <p:spPr>
          <a:xfrm>
            <a:off x="8503920" y="4206240"/>
            <a:ext cx="3047695" cy="0"/>
          </a:xfrm>
          <a:prstGeom prst="line">
            <a:avLst/>
          </a:prstGeom>
          <a:noFill/>
          <a:ln w="12700">
            <a:solidFill>
              <a:srgbClr val="E2DCD0"/>
            </a:solidFill>
            <a:prstDash val="solid"/>
          </a:ln>
        </p:spPr>
      </p:sp>
      <p:sp>
        <p:nvSpPr>
          <p:cNvPr id="44" name="Text 41"/>
          <p:cNvSpPr txBox="1"/>
          <p:nvPr/>
        </p:nvSpPr>
        <p:spPr>
          <a:xfrm>
            <a:off x="8503920" y="4297680"/>
            <a:ext cx="3017520" cy="320040"/>
          </a:xfrm>
          <a:prstGeom prst="rect">
            <a:avLst/>
          </a:prstGeom>
          <a:noFill/>
          <a:ln/>
        </p:spPr>
        <p:txBody>
          <a:bodyPr wrap="square" lIns="0" tIns="0" rIns="0" bIns="0" rtlCol="0" anchor="t"/>
          <a:lstStyle/>
          <a:p>
            <a:pPr indent="0" marL="0">
              <a:buNone/>
            </a:pPr>
            <a:r>
              <a:rPr lang="en-US" sz="1400" b="1" dirty="0">
                <a:solidFill>
                  <a:srgbClr val="0F5347"/>
                </a:solidFill>
                <a:latin typeface="Calibri" pitchFamily="34" charset="0"/>
                <a:ea typeface="Calibri" pitchFamily="34" charset="-122"/>
                <a:cs typeface="Calibri" pitchFamily="34" charset="-120"/>
              </a:rPr>
              <a:t>Éprouvé en cours de projet</a:t>
            </a:r>
            <a:endParaRPr lang="en-US" sz="1400" dirty="0"/>
          </a:p>
        </p:txBody>
      </p:sp>
      <p:sp>
        <p:nvSpPr>
          <p:cNvPr id="45" name="Text 42"/>
          <p:cNvSpPr txBox="1"/>
          <p:nvPr/>
        </p:nvSpPr>
        <p:spPr>
          <a:xfrm>
            <a:off x="8503920" y="4617720"/>
            <a:ext cx="3017520" cy="50292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Le paiement extrait en service dédié sans toucher au reste.</a:t>
            </a:r>
            <a:endParaRPr lang="en-US" sz="1300" dirty="0"/>
          </a:p>
        </p:txBody>
      </p:sp>
      <p:sp>
        <p:nvSpPr>
          <p:cNvPr id="46" name="Text 43"/>
          <p:cNvSpPr txBox="1"/>
          <p:nvPr/>
        </p:nvSpPr>
        <p:spPr>
          <a:xfrm>
            <a:off x="640080" y="5623560"/>
            <a:ext cx="7680960" cy="36576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Coût assumé : plus de services à lancer et à déboguer, compensé par le traçage distribué.</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9</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Résilience des échanges entre services</a:t>
            </a:r>
            <a:endParaRPr lang="en-US" sz="3000" dirty="0"/>
          </a:p>
        </p:txBody>
      </p:sp>
      <p:sp>
        <p:nvSpPr>
          <p:cNvPr id="7" name="Text 4"/>
          <p:cNvSpPr txBox="1"/>
          <p:nvPr/>
        </p:nvSpPr>
        <p:spPr>
          <a:xfrm>
            <a:off x="640080" y="1508760"/>
            <a:ext cx="10515600" cy="548640"/>
          </a:xfrm>
          <a:prstGeom prst="rect">
            <a:avLst/>
          </a:prstGeom>
          <a:noFill/>
          <a:ln/>
        </p:spPr>
        <p:txBody>
          <a:bodyPr wrap="square" lIns="0" tIns="0" rIns="0" bIns="0" rtlCol="0" anchor="t"/>
          <a:lstStyle/>
          <a:p>
            <a:pPr indent="0" marL="0">
              <a:buNone/>
            </a:pPr>
            <a:r>
              <a:rPr lang="en-US" sz="1600" dirty="0">
                <a:solidFill>
                  <a:srgbClr val="6B6458"/>
                </a:solidFill>
                <a:latin typeface="Calibri" pitchFamily="34" charset="0"/>
                <a:ea typeface="Calibri" pitchFamily="34" charset="-122"/>
                <a:cs typeface="Calibri" pitchFamily="34" charset="-120"/>
              </a:rPr>
              <a:t>Quand un service ne répond pas, appointment-service ne réagit pas partout de la même façon (Resilience4j : nouvelles tentatives et disjoncteur).</a:t>
            </a:r>
            <a:endParaRPr lang="en-US" sz="1600" dirty="0"/>
          </a:p>
        </p:txBody>
      </p:sp>
      <p:sp>
        <p:nvSpPr>
          <p:cNvPr id="8" name="Text 5"/>
          <p:cNvSpPr txBox="1"/>
          <p:nvPr/>
        </p:nvSpPr>
        <p:spPr>
          <a:xfrm>
            <a:off x="640080" y="2331720"/>
            <a:ext cx="27432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Service indisponible</a:t>
            </a:r>
            <a:endParaRPr lang="en-US" sz="1100" dirty="0"/>
          </a:p>
        </p:txBody>
      </p:sp>
      <p:sp>
        <p:nvSpPr>
          <p:cNvPr id="9" name="Text 6"/>
          <p:cNvSpPr txBox="1"/>
          <p:nvPr/>
        </p:nvSpPr>
        <p:spPr>
          <a:xfrm>
            <a:off x="3657600" y="2331720"/>
            <a:ext cx="45720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Ce qui se passe</a:t>
            </a:r>
            <a:endParaRPr lang="en-US" sz="1100" dirty="0"/>
          </a:p>
        </p:txBody>
      </p:sp>
      <p:sp>
        <p:nvSpPr>
          <p:cNvPr id="10" name="Text 7"/>
          <p:cNvSpPr txBox="1"/>
          <p:nvPr/>
        </p:nvSpPr>
        <p:spPr>
          <a:xfrm>
            <a:off x="8869680" y="2331720"/>
            <a:ext cx="2743200" cy="274320"/>
          </a:xfrm>
          <a:prstGeom prst="rect">
            <a:avLst/>
          </a:prstGeom>
          <a:noFill/>
          <a:ln/>
        </p:spPr>
        <p:txBody>
          <a:bodyPr wrap="square" lIns="0" tIns="0" rIns="0" bIns="0" rtlCol="0" anchor="t"/>
          <a:lstStyle/>
          <a:p>
            <a:pPr indent="0" marL="0">
              <a:buNone/>
            </a:pPr>
            <a:r>
              <a:rPr lang="en-US" sz="1100" b="1" dirty="0">
                <a:solidFill>
                  <a:srgbClr val="6B6458"/>
                </a:solidFill>
                <a:latin typeface="Calibri" pitchFamily="34" charset="0"/>
                <a:ea typeface="Calibri" pitchFamily="34" charset="-122"/>
                <a:cs typeface="Calibri" pitchFamily="34" charset="-120"/>
              </a:rPr>
              <a:t>Choix</a:t>
            </a:r>
            <a:endParaRPr lang="en-US" sz="1100" dirty="0"/>
          </a:p>
        </p:txBody>
      </p:sp>
      <p:sp>
        <p:nvSpPr>
          <p:cNvPr id="11" name="Shape 8"/>
          <p:cNvSpPr/>
          <p:nvPr/>
        </p:nvSpPr>
        <p:spPr>
          <a:xfrm>
            <a:off x="640080" y="2697480"/>
            <a:ext cx="10911535" cy="0"/>
          </a:xfrm>
          <a:prstGeom prst="line">
            <a:avLst/>
          </a:prstGeom>
          <a:noFill/>
          <a:ln w="12700">
            <a:solidFill>
              <a:srgbClr val="17140F"/>
            </a:solidFill>
            <a:prstDash val="solid"/>
          </a:ln>
        </p:spPr>
        <p:txBody>
          <a:bodyPr/>
          <a:p/>
        </p:txBody>
      </p:sp>
      <p:sp>
        <p:nvSpPr>
          <p:cNvPr id="12" name="Text 9"/>
          <p:cNvSpPr txBox="1"/>
          <p:nvPr/>
        </p:nvSpPr>
        <p:spPr>
          <a:xfrm>
            <a:off x="640080" y="286207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Notifications</a:t>
            </a:r>
            <a:endParaRPr lang="en-US" sz="1700" dirty="0"/>
          </a:p>
        </p:txBody>
      </p:sp>
      <p:sp>
        <p:nvSpPr>
          <p:cNvPr id="13" name="Text 10"/>
          <p:cNvSpPr txBox="1"/>
          <p:nvPr/>
        </p:nvSpPr>
        <p:spPr>
          <a:xfrm>
            <a:off x="3657600" y="286207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Le rendez-vous est quand même créé. L'incident est journalisé.</a:t>
            </a:r>
            <a:endParaRPr lang="en-US" sz="1500" dirty="0"/>
          </a:p>
        </p:txBody>
      </p:sp>
      <p:sp>
        <p:nvSpPr>
          <p:cNvPr id="14" name="Text 11"/>
          <p:cNvSpPr txBox="1"/>
          <p:nvPr/>
        </p:nvSpPr>
        <p:spPr>
          <a:xfrm>
            <a:off x="8869680" y="2862072"/>
            <a:ext cx="2651760" cy="548640"/>
          </a:xfrm>
          <a:prstGeom prst="rect">
            <a:avLst/>
          </a:prstGeom>
          <a:noFill/>
          <a:ln/>
        </p:spPr>
        <p:txBody>
          <a:bodyPr wrap="square" lIns="0" tIns="0" rIns="0" bIns="0" rtlCol="0" anchor="t"/>
          <a:lstStyle/>
          <a:p>
            <a:pPr indent="0" marL="0">
              <a:buNone/>
            </a:pPr>
            <a:r>
              <a:rPr lang="en-US" sz="1700" b="1" dirty="0">
                <a:solidFill>
                  <a:srgbClr val="0F5347"/>
                </a:solidFill>
                <a:latin typeface="Calibri" pitchFamily="34" charset="0"/>
                <a:ea typeface="Calibri" pitchFamily="34" charset="-122"/>
                <a:cs typeface="Calibri" pitchFamily="34" charset="-120"/>
              </a:rPr>
              <a:t>Tomber en marche</a:t>
            </a:r>
            <a:endParaRPr lang="en-US" sz="1700" dirty="0"/>
          </a:p>
        </p:txBody>
      </p:sp>
      <p:sp>
        <p:nvSpPr>
          <p:cNvPr id="15" name="Shape 12"/>
          <p:cNvSpPr/>
          <p:nvPr/>
        </p:nvSpPr>
        <p:spPr>
          <a:xfrm>
            <a:off x="640080" y="3566160"/>
            <a:ext cx="10911535" cy="0"/>
          </a:xfrm>
          <a:prstGeom prst="line">
            <a:avLst/>
          </a:prstGeom>
          <a:noFill/>
          <a:ln w="12700">
            <a:solidFill>
              <a:srgbClr val="17140F"/>
            </a:solidFill>
            <a:prstDash val="solid"/>
          </a:ln>
        </p:spPr>
        <p:txBody>
          <a:bodyPr/>
          <a:p/>
        </p:txBody>
      </p:sp>
      <p:sp>
        <p:nvSpPr>
          <p:cNvPr id="16" name="Text 13"/>
          <p:cNvSpPr txBox="1"/>
          <p:nvPr/>
        </p:nvSpPr>
        <p:spPr>
          <a:xfrm>
            <a:off x="640080" y="373075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Identité (user-service)</a:t>
            </a:r>
            <a:endParaRPr lang="en-US" sz="1700" dirty="0"/>
          </a:p>
        </p:txBody>
      </p:sp>
      <p:sp>
        <p:nvSpPr>
          <p:cNvPr id="17" name="Text 14"/>
          <p:cNvSpPr txBox="1"/>
          <p:nvPr/>
        </p:nvSpPr>
        <p:spPr>
          <a:xfrm>
            <a:off x="3657600" y="373075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L'opération est refusée (503). Sans identité vérifiée, laisser passer serait une faille.</a:t>
            </a:r>
            <a:endParaRPr lang="en-US" sz="1500" dirty="0"/>
          </a:p>
        </p:txBody>
      </p:sp>
      <p:sp>
        <p:nvSpPr>
          <p:cNvPr id="18" name="Text 15"/>
          <p:cNvSpPr txBox="1"/>
          <p:nvPr/>
        </p:nvSpPr>
        <p:spPr>
          <a:xfrm>
            <a:off x="8869680" y="3730752"/>
            <a:ext cx="2651760" cy="548640"/>
          </a:xfrm>
          <a:prstGeom prst="rect">
            <a:avLst/>
          </a:prstGeom>
          <a:noFill/>
          <a:ln/>
        </p:spPr>
        <p:txBody>
          <a:bodyPr wrap="square" lIns="0" tIns="0" rIns="0" bIns="0" rtlCol="0" anchor="t"/>
          <a:lstStyle/>
          <a:p>
            <a:pPr indent="0" marL="0">
              <a:buNone/>
            </a:pPr>
            <a:r>
              <a:rPr lang="en-US" sz="1700" b="1" dirty="0">
                <a:solidFill>
                  <a:srgbClr val="9A4526"/>
                </a:solidFill>
                <a:latin typeface="Calibri" pitchFamily="34" charset="0"/>
                <a:ea typeface="Calibri" pitchFamily="34" charset="-122"/>
                <a:cs typeface="Calibri" pitchFamily="34" charset="-120"/>
              </a:rPr>
              <a:t>Tomber fermé</a:t>
            </a:r>
            <a:endParaRPr lang="en-US" sz="1700" dirty="0"/>
          </a:p>
        </p:txBody>
      </p:sp>
      <p:sp>
        <p:nvSpPr>
          <p:cNvPr id="19" name="Shape 16"/>
          <p:cNvSpPr/>
          <p:nvPr/>
        </p:nvSpPr>
        <p:spPr>
          <a:xfrm>
            <a:off x="640080" y="4434840"/>
            <a:ext cx="10911535" cy="0"/>
          </a:xfrm>
          <a:prstGeom prst="line">
            <a:avLst/>
          </a:prstGeom>
          <a:noFill/>
          <a:ln w="12700">
            <a:solidFill>
              <a:srgbClr val="17140F"/>
            </a:solidFill>
            <a:prstDash val="solid"/>
          </a:ln>
        </p:spPr>
        <p:txBody>
          <a:bodyPr/>
          <a:p/>
        </p:txBody>
      </p:sp>
      <p:sp>
        <p:nvSpPr>
          <p:cNvPr id="20" name="Text 17"/>
          <p:cNvSpPr txBox="1"/>
          <p:nvPr/>
        </p:nvSpPr>
        <p:spPr>
          <a:xfrm>
            <a:off x="640080" y="4599432"/>
            <a:ext cx="2834640" cy="548640"/>
          </a:xfrm>
          <a:prstGeom prst="rect">
            <a:avLst/>
          </a:prstGeom>
          <a:noFill/>
          <a:ln/>
        </p:spPr>
        <p:txBody>
          <a:bodyPr wrap="square" lIns="0" tIns="0" rIns="0" bIns="0" rtlCol="0" anchor="t"/>
          <a:lstStyle/>
          <a:p>
            <a:pPr indent="0" marL="0">
              <a:buNone/>
            </a:pPr>
            <a:r>
              <a:rPr lang="en-US" sz="1700" b="1" dirty="0">
                <a:solidFill>
                  <a:srgbClr val="17140F"/>
                </a:solidFill>
                <a:latin typeface="Calibri" pitchFamily="34" charset="0"/>
                <a:ea typeface="Calibri" pitchFamily="34" charset="-122"/>
                <a:cs typeface="Calibri" pitchFamily="34" charset="-120"/>
              </a:rPr>
              <a:t>Remboursement</a:t>
            </a:r>
            <a:endParaRPr lang="en-US" sz="1700" dirty="0"/>
          </a:p>
        </p:txBody>
      </p:sp>
      <p:sp>
        <p:nvSpPr>
          <p:cNvPr id="21" name="Text 18"/>
          <p:cNvSpPr txBox="1"/>
          <p:nvPr/>
        </p:nvSpPr>
        <p:spPr>
          <a:xfrm>
            <a:off x="3657600" y="4599432"/>
            <a:ext cx="4937760" cy="640080"/>
          </a:xfrm>
          <a:prstGeom prst="rect">
            <a:avLst/>
          </a:prstGeom>
          <a:noFill/>
          <a:ln/>
        </p:spPr>
        <p:txBody>
          <a:bodyPr wrap="square" lIns="0" tIns="0" rIns="0" bIns="0" rtlCol="0" anchor="t"/>
          <a:lstStyle/>
          <a:p>
            <a:pPr indent="0" marL="0">
              <a:buNone/>
            </a:pPr>
            <a:r>
              <a:rPr lang="en-US" sz="1500" dirty="0">
                <a:solidFill>
                  <a:srgbClr val="17140F"/>
                </a:solidFill>
                <a:latin typeface="Calibri" pitchFamily="34" charset="0"/>
                <a:ea typeface="Calibri" pitchFamily="34" charset="-122"/>
                <a:cs typeface="Calibri" pitchFamily="34" charset="-120"/>
              </a:rPr>
              <a:t>L'annulation aboutit. L'échec est journalisé pour un remboursement manuel.</a:t>
            </a:r>
            <a:endParaRPr lang="en-US" sz="1500" dirty="0"/>
          </a:p>
        </p:txBody>
      </p:sp>
      <p:sp>
        <p:nvSpPr>
          <p:cNvPr id="22" name="Text 19"/>
          <p:cNvSpPr txBox="1"/>
          <p:nvPr/>
        </p:nvSpPr>
        <p:spPr>
          <a:xfrm>
            <a:off x="8869680" y="4599432"/>
            <a:ext cx="2651760" cy="548640"/>
          </a:xfrm>
          <a:prstGeom prst="rect">
            <a:avLst/>
          </a:prstGeom>
          <a:noFill/>
          <a:ln/>
        </p:spPr>
        <p:txBody>
          <a:bodyPr wrap="square" lIns="0" tIns="0" rIns="0" bIns="0" rtlCol="0" anchor="t"/>
          <a:lstStyle/>
          <a:p>
            <a:pPr indent="0" marL="0">
              <a:buNone/>
            </a:pPr>
            <a:r>
              <a:rPr lang="en-US" sz="1700" b="1" dirty="0">
                <a:solidFill>
                  <a:srgbClr val="0F5347"/>
                </a:solidFill>
                <a:latin typeface="Calibri" pitchFamily="34" charset="0"/>
                <a:ea typeface="Calibri" pitchFamily="34" charset="-122"/>
                <a:cs typeface="Calibri" pitchFamily="34" charset="-120"/>
              </a:rPr>
              <a:t>En marche, avec alerte</a:t>
            </a:r>
            <a:endParaRPr lang="en-US" sz="1700" dirty="0"/>
          </a:p>
        </p:txBody>
      </p:sp>
      <p:sp>
        <p:nvSpPr>
          <p:cNvPr id="23" name="Shape 20"/>
          <p:cNvSpPr/>
          <p:nvPr/>
        </p:nvSpPr>
        <p:spPr>
          <a:xfrm>
            <a:off x="640080" y="5303520"/>
            <a:ext cx="10911535" cy="0"/>
          </a:xfrm>
          <a:prstGeom prst="line">
            <a:avLst/>
          </a:prstGeom>
          <a:noFill/>
          <a:ln w="12700">
            <a:solidFill>
              <a:srgbClr val="17140F"/>
            </a:solidFill>
            <a:prstDash val="solid"/>
          </a:ln>
        </p:spPr>
        <p:txBody>
          <a:bodyPr/>
          <a:p/>
        </p:txBody>
      </p:sp>
      <p:sp>
        <p:nvSpPr>
          <p:cNvPr id="24" name="Text 21"/>
          <p:cNvSpPr txBox="1"/>
          <p:nvPr/>
        </p:nvSpPr>
        <p:spPr>
          <a:xfrm>
            <a:off x="640080" y="5532120"/>
            <a:ext cx="7315200" cy="320040"/>
          </a:xfrm>
          <a:prstGeom prst="rect">
            <a:avLst/>
          </a:prstGeom>
          <a:noFill/>
          <a:ln/>
        </p:spPr>
        <p:txBody>
          <a:bodyPr wrap="square" lIns="0" tIns="0" rIns="0" bIns="0" rtlCol="0" anchor="t"/>
          <a:lstStyle/>
          <a:p>
            <a:pPr indent="0" marL="0">
              <a:buNone/>
            </a:pPr>
            <a:r>
              <a:rPr lang="en-US" sz="1300" dirty="0">
                <a:solidFill>
                  <a:srgbClr val="6B6458"/>
                </a:solidFill>
                <a:latin typeface="Calibri" pitchFamily="34" charset="0"/>
                <a:ea typeface="Calibri" pitchFamily="34" charset="-122"/>
                <a:cs typeface="Calibri" pitchFamily="34" charset="-120"/>
              </a:rPr>
              <a:t>Cas notifications et identité couverts par des tests automatisés.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10</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05840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Démonstration</a:t>
            </a:r>
            <a:endParaRPr lang="en-US" sz="3000" dirty="0"/>
          </a:p>
        </p:txBody>
      </p:sp>
      <p:sp>
        <p:nvSpPr>
          <p:cNvPr id="7" name="Shape 4"/>
          <p:cNvSpPr/>
          <p:nvPr/>
        </p:nvSpPr>
        <p:spPr>
          <a:xfrm>
            <a:off x="640080" y="1691640"/>
            <a:ext cx="2045147" cy="0"/>
          </a:xfrm>
          <a:prstGeom prst="line">
            <a:avLst/>
          </a:prstGeom>
          <a:noFill/>
          <a:ln w="12700">
            <a:solidFill>
              <a:srgbClr val="17140F"/>
            </a:solidFill>
            <a:prstDash val="solid"/>
          </a:ln>
        </p:spPr>
      </p:sp>
      <p:sp>
        <p:nvSpPr>
          <p:cNvPr id="8" name="Text 5"/>
          <p:cNvSpPr txBox="1"/>
          <p:nvPr/>
        </p:nvSpPr>
        <p:spPr>
          <a:xfrm>
            <a:off x="640080"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051560"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Recherche et recommandation</a:t>
            </a:r>
            <a:endParaRPr lang="en-US" sz="1300" dirty="0"/>
          </a:p>
        </p:txBody>
      </p:sp>
      <p:sp>
        <p:nvSpPr>
          <p:cNvPr id="10" name="Shape 7"/>
          <p:cNvSpPr/>
          <p:nvPr/>
        </p:nvSpPr>
        <p:spPr>
          <a:xfrm>
            <a:off x="2822387" y="1691640"/>
            <a:ext cx="2045147" cy="0"/>
          </a:xfrm>
          <a:prstGeom prst="line">
            <a:avLst/>
          </a:prstGeom>
          <a:noFill/>
          <a:ln w="12700">
            <a:solidFill>
              <a:srgbClr val="17140F"/>
            </a:solidFill>
            <a:prstDash val="solid"/>
          </a:ln>
        </p:spPr>
      </p:sp>
      <p:sp>
        <p:nvSpPr>
          <p:cNvPr id="11" name="Text 8"/>
          <p:cNvSpPr txBox="1"/>
          <p:nvPr/>
        </p:nvSpPr>
        <p:spPr>
          <a:xfrm>
            <a:off x="2822387"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3233867"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Réservation d'un créneau</a:t>
            </a:r>
            <a:endParaRPr lang="en-US" sz="1300" dirty="0"/>
          </a:p>
        </p:txBody>
      </p:sp>
      <p:sp>
        <p:nvSpPr>
          <p:cNvPr id="13" name="Shape 10"/>
          <p:cNvSpPr/>
          <p:nvPr/>
        </p:nvSpPr>
        <p:spPr>
          <a:xfrm>
            <a:off x="5004694" y="1691640"/>
            <a:ext cx="2045147" cy="0"/>
          </a:xfrm>
          <a:prstGeom prst="line">
            <a:avLst/>
          </a:prstGeom>
          <a:noFill/>
          <a:ln w="12700">
            <a:solidFill>
              <a:srgbClr val="17140F"/>
            </a:solidFill>
            <a:prstDash val="solid"/>
          </a:ln>
        </p:spPr>
      </p:sp>
      <p:sp>
        <p:nvSpPr>
          <p:cNvPr id="14" name="Text 11"/>
          <p:cNvSpPr txBox="1"/>
          <p:nvPr/>
        </p:nvSpPr>
        <p:spPr>
          <a:xfrm>
            <a:off x="5004694"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5416174"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Confirmation par le psychologue</a:t>
            </a:r>
            <a:endParaRPr lang="en-US" sz="1300" dirty="0"/>
          </a:p>
        </p:txBody>
      </p:sp>
      <p:sp>
        <p:nvSpPr>
          <p:cNvPr id="16" name="Shape 13"/>
          <p:cNvSpPr/>
          <p:nvPr/>
        </p:nvSpPr>
        <p:spPr>
          <a:xfrm>
            <a:off x="7187001" y="1691640"/>
            <a:ext cx="2045147" cy="0"/>
          </a:xfrm>
          <a:prstGeom prst="line">
            <a:avLst/>
          </a:prstGeom>
          <a:noFill/>
          <a:ln w="12700">
            <a:solidFill>
              <a:srgbClr val="17140F"/>
            </a:solidFill>
            <a:prstDash val="solid"/>
          </a:ln>
        </p:spPr>
      </p:sp>
      <p:sp>
        <p:nvSpPr>
          <p:cNvPr id="17" name="Text 14"/>
          <p:cNvSpPr txBox="1"/>
          <p:nvPr/>
        </p:nvSpPr>
        <p:spPr>
          <a:xfrm>
            <a:off x="7187001"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4</a:t>
            </a:r>
            <a:endParaRPr lang="en-US" sz="2000" dirty="0"/>
          </a:p>
        </p:txBody>
      </p:sp>
      <p:sp>
        <p:nvSpPr>
          <p:cNvPr id="18" name="Text 15"/>
          <p:cNvSpPr txBox="1"/>
          <p:nvPr/>
        </p:nvSpPr>
        <p:spPr>
          <a:xfrm>
            <a:off x="7598481"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Paiement depuis le solde</a:t>
            </a:r>
            <a:endParaRPr lang="en-US" sz="1300" dirty="0"/>
          </a:p>
        </p:txBody>
      </p:sp>
      <p:sp>
        <p:nvSpPr>
          <p:cNvPr id="19" name="Shape 16"/>
          <p:cNvSpPr/>
          <p:nvPr/>
        </p:nvSpPr>
        <p:spPr>
          <a:xfrm>
            <a:off x="9369308" y="1691640"/>
            <a:ext cx="2045147" cy="0"/>
          </a:xfrm>
          <a:prstGeom prst="line">
            <a:avLst/>
          </a:prstGeom>
          <a:noFill/>
          <a:ln w="12700">
            <a:solidFill>
              <a:srgbClr val="17140F"/>
            </a:solidFill>
            <a:prstDash val="solid"/>
          </a:ln>
        </p:spPr>
      </p:sp>
      <p:sp>
        <p:nvSpPr>
          <p:cNvPr id="20" name="Text 17"/>
          <p:cNvSpPr txBox="1"/>
          <p:nvPr/>
        </p:nvSpPr>
        <p:spPr>
          <a:xfrm>
            <a:off x="9369308" y="1783080"/>
            <a:ext cx="457200" cy="411480"/>
          </a:xfrm>
          <a:prstGeom prst="rect">
            <a:avLst/>
          </a:prstGeom>
          <a:noFill/>
          <a:ln/>
        </p:spPr>
        <p:txBody>
          <a:bodyPr wrap="square" lIns="0" tIns="0" rIns="0" bIns="0" rtlCol="0" anchor="ctr"/>
          <a:lstStyle/>
          <a:p>
            <a:pPr indent="0" marL="0">
              <a:buNone/>
            </a:pPr>
            <a:r>
              <a:rPr lang="en-US" sz="2000" b="1" dirty="0">
                <a:solidFill>
                  <a:srgbClr val="0F5347"/>
                </a:solidFill>
                <a:latin typeface="Calibri" pitchFamily="34" charset="0"/>
                <a:ea typeface="Calibri" pitchFamily="34" charset="-122"/>
                <a:cs typeface="Calibri" pitchFamily="34" charset="-120"/>
              </a:rPr>
              <a:t>5</a:t>
            </a:r>
            <a:endParaRPr lang="en-US" sz="2000" dirty="0"/>
          </a:p>
        </p:txBody>
      </p:sp>
      <p:sp>
        <p:nvSpPr>
          <p:cNvPr id="21" name="Text 18"/>
          <p:cNvSpPr txBox="1"/>
          <p:nvPr/>
        </p:nvSpPr>
        <p:spPr>
          <a:xfrm>
            <a:off x="9780788" y="1828800"/>
            <a:ext cx="1587947" cy="548640"/>
          </a:xfrm>
          <a:prstGeom prst="rect">
            <a:avLst/>
          </a:prstGeom>
          <a:noFill/>
          <a:ln/>
        </p:spPr>
        <p:txBody>
          <a:bodyPr wrap="square" lIns="0" tIns="0" rIns="0" bIns="0" rtlCol="0" anchor="t"/>
          <a:lstStyle/>
          <a:p>
            <a:pPr indent="0" marL="0">
              <a:buNone/>
            </a:pPr>
            <a:r>
              <a:rPr lang="en-US" sz="1300" dirty="0">
                <a:solidFill>
                  <a:srgbClr val="17140F"/>
                </a:solidFill>
                <a:latin typeface="Calibri" pitchFamily="34" charset="0"/>
                <a:ea typeface="Calibri" pitchFamily="34" charset="-122"/>
                <a:cs typeface="Calibri" pitchFamily="34" charset="-120"/>
              </a:rPr>
              <a:t>Consultation vidéo</a:t>
            </a:r>
            <a:endParaRPr lang="en-US" sz="1300" dirty="0"/>
          </a:p>
        </p:txBody>
      </p:sp>
      <p:sp>
        <p:nvSpPr>
          <p:cNvPr id="22" name="Shape 19"/>
          <p:cNvSpPr/>
          <p:nvPr/>
        </p:nvSpPr>
        <p:spPr>
          <a:xfrm>
            <a:off x="2103120" y="2651760"/>
            <a:ext cx="7985455" cy="3520440"/>
          </a:xfrm>
          <a:prstGeom prst="rect">
            <a:avLst/>
          </a:prstGeom>
          <a:solidFill>
            <a:srgbClr val="FFFFFF"/>
          </a:solidFill>
          <a:ln w="12700">
            <a:solidFill>
              <a:srgbClr val="E2DCD0"/>
            </a:solidFill>
            <a:prstDash val="dash"/>
          </a:ln>
        </p:spPr>
      </p:sp>
      <p:sp>
        <p:nvSpPr>
          <p:cNvPr id="23" name="Text 20"/>
          <p:cNvSpPr txBox="1"/>
          <p:nvPr/>
        </p:nvSpPr>
        <p:spPr>
          <a:xfrm>
            <a:off x="2103120" y="2651760"/>
            <a:ext cx="7985455" cy="3520440"/>
          </a:xfrm>
          <a:prstGeom prst="rect">
            <a:avLst/>
          </a:prstGeom>
          <a:noFill/>
          <a:ln/>
        </p:spPr>
        <p:txBody>
          <a:bodyPr wrap="square" lIns="0" tIns="0" rIns="0" bIns="0" rtlCol="0" anchor="ctr"/>
          <a:lstStyle/>
          <a:p>
            <a:pPr algn="ctr" indent="0" marL="0">
              <a:buNone/>
            </a:pPr>
            <a:r>
              <a:rPr lang="en-US" sz="1500" dirty="0">
                <a:solidFill>
                  <a:srgbClr val="6B6458"/>
                </a:solidFill>
                <a:latin typeface="Calibri" pitchFamily="34" charset="0"/>
                <a:ea typeface="Calibri" pitchFamily="34" charset="-122"/>
                <a:cs typeface="Calibri" pitchFamily="34" charset="-120"/>
              </a:rPr>
              <a:t>Vidéo de démonstration (3 min)</a:t>
            </a:r>
            <a:endParaRPr lang="en-US" sz="1500" dirty="0"/>
          </a:p>
          <a:p>
            <a:pPr algn="ctr" indent="0" marL="0">
              <a:buNone/>
            </a:pPr>
            <a:r>
              <a:rPr lang="en-US" sz="1500" dirty="0">
                <a:solidFill>
                  <a:srgbClr val="6B6458"/>
                </a:solidFill>
                <a:latin typeface="Calibri" pitchFamily="34" charset="0"/>
                <a:ea typeface="Calibri" pitchFamily="34" charset="-122"/>
                <a:cs typeface="Calibri" pitchFamily="34" charset="-120"/>
              </a:rPr>
              <a:t>Insertion › Vidéo, puis la placer dans ce cadre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11</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6583680" cy="822960"/>
          </a:xfrm>
          <a:prstGeom prst="rect">
            <a:avLst/>
          </a:prstGeom>
          <a:noFill/>
          <a:ln/>
        </p:spPr>
        <p:txBody>
          <a:bodyPr wrap="square" lIns="0" tIns="0" rIns="0" bIns="0" rtlCol="0" anchor="t"/>
          <a:lstStyle/>
          <a:p>
            <a:pPr indent="0" marL="0">
              <a:buNone/>
            </a:pPr>
            <a:r>
              <a:rPr lang="en-US" sz="2600" b="1" dirty="0">
                <a:solidFill>
                  <a:srgbClr val="0F5347"/>
                </a:solidFill>
                <a:latin typeface="Calibri" pitchFamily="34" charset="0"/>
                <a:ea typeface="Calibri" pitchFamily="34" charset="-122"/>
                <a:cs typeface="Calibri" pitchFamily="34" charset="-120"/>
              </a:rPr>
              <a:t>Compagnon IA Xalaat</a:t>
            </a:r>
            <a:endParaRPr lang="en-US" sz="2600" dirty="0"/>
          </a:p>
        </p:txBody>
      </p:sp>
      <p:pic>
        <p:nvPicPr>
          <p:cNvPr id="7" name="Image 0" descr="screenshot_ecran_de_conversation_xalaat_message_normal.jpg">    </p:cNvPr>
          <p:cNvPicPr>
            <a:picLocks noChangeAspect="1"/>
          </p:cNvPicPr>
          <p:nvPr/>
        </p:nvPicPr>
        <p:blipFill>
          <a:blip r:embed="rId1"/>
          <a:stretch>
            <a:fillRect/>
          </a:stretch>
        </p:blipFill>
        <p:spPr>
          <a:xfrm>
            <a:off x="7360920" y="685800"/>
            <a:ext cx="2173458" cy="4709160"/>
          </a:xfrm>
          <a:prstGeom prst="rect">
            <a:avLst/>
          </a:prstGeom>
        </p:spPr>
      </p:pic>
      <p:pic>
        <p:nvPicPr>
          <p:cNvPr id="8" name="Image 1" descr="screenshot_reponse_du_garde_fou_en_cas_de_message_de_detresse.jpg">    </p:cNvPr>
          <p:cNvPicPr>
            <a:picLocks noChangeAspect="1"/>
          </p:cNvPicPr>
          <p:nvPr/>
        </p:nvPicPr>
        <p:blipFill>
          <a:blip r:embed="rId2"/>
          <a:stretch>
            <a:fillRect/>
          </a:stretch>
        </p:blipFill>
        <p:spPr>
          <a:xfrm>
            <a:off x="9717258" y="685800"/>
            <a:ext cx="2173458" cy="4709160"/>
          </a:xfrm>
          <a:prstGeom prst="rect">
            <a:avLst/>
          </a:prstGeom>
        </p:spPr>
      </p:pic>
      <p:sp>
        <p:nvSpPr>
          <p:cNvPr id="9" name="Text 4"/>
          <p:cNvSpPr txBox="1"/>
          <p:nvPr/>
        </p:nvSpPr>
        <p:spPr>
          <a:xfrm>
            <a:off x="7360920" y="5449824"/>
            <a:ext cx="2173458" cy="274320"/>
          </a:xfrm>
          <a:prstGeom prst="rect">
            <a:avLst/>
          </a:prstGeom>
          <a:noFill/>
          <a:ln/>
        </p:spPr>
        <p:txBody>
          <a:bodyPr wrap="square" lIns="0" tIns="0" rIns="0" bIns="0" rtlCol="0" anchor="t"/>
          <a:lstStyle/>
          <a:p>
            <a:pPr algn="ctr" indent="0" marL="0">
              <a:buNone/>
            </a:pPr>
            <a:r>
              <a:rPr lang="en-US" sz="1100" dirty="0">
                <a:solidFill>
                  <a:srgbClr val="6B6458"/>
                </a:solidFill>
                <a:latin typeface="Calibri" pitchFamily="34" charset="0"/>
                <a:ea typeface="Calibri" pitchFamily="34" charset="-122"/>
                <a:cs typeface="Calibri" pitchFamily="34" charset="-120"/>
              </a:rPr>
              <a:t>Échange normal</a:t>
            </a:r>
            <a:endParaRPr lang="en-US" sz="1100" dirty="0"/>
          </a:p>
        </p:txBody>
      </p:sp>
      <p:sp>
        <p:nvSpPr>
          <p:cNvPr id="10" name="Text 5"/>
          <p:cNvSpPr txBox="1"/>
          <p:nvPr/>
        </p:nvSpPr>
        <p:spPr>
          <a:xfrm>
            <a:off x="9717258" y="5449824"/>
            <a:ext cx="2173458" cy="274320"/>
          </a:xfrm>
          <a:prstGeom prst="rect">
            <a:avLst/>
          </a:prstGeom>
          <a:noFill/>
          <a:ln/>
        </p:spPr>
        <p:txBody>
          <a:bodyPr wrap="square" lIns="0" tIns="0" rIns="0" bIns="0" rtlCol="0" anchor="t"/>
          <a:lstStyle/>
          <a:p>
            <a:pPr algn="ctr" indent="0" marL="0">
              <a:buNone/>
            </a:pPr>
            <a:r>
              <a:rPr lang="en-US" sz="1100" dirty="0">
                <a:solidFill>
                  <a:srgbClr val="9A4526"/>
                </a:solidFill>
                <a:latin typeface="Calibri" pitchFamily="34" charset="0"/>
                <a:ea typeface="Calibri" pitchFamily="34" charset="-122"/>
                <a:cs typeface="Calibri" pitchFamily="34" charset="-120"/>
              </a:rPr>
              <a:t>Garde-fou déclenché</a:t>
            </a:r>
            <a:endParaRPr lang="en-US" sz="1100" dirty="0"/>
          </a:p>
        </p:txBody>
      </p:sp>
      <p:sp>
        <p:nvSpPr>
          <p:cNvPr id="11" name="Shape 6"/>
          <p:cNvSpPr/>
          <p:nvPr/>
        </p:nvSpPr>
        <p:spPr>
          <a:xfrm>
            <a:off x="640080" y="1691640"/>
            <a:ext cx="1920240" cy="685800"/>
          </a:xfrm>
          <a:prstGeom prst="rect">
            <a:avLst/>
          </a:prstGeom>
          <a:solidFill>
            <a:srgbClr val="FFFFFF"/>
          </a:solidFill>
          <a:ln w="12700">
            <a:solidFill>
              <a:srgbClr val="17140F"/>
            </a:solidFill>
            <a:prstDash val="solid"/>
          </a:ln>
        </p:spPr>
      </p:sp>
      <p:sp>
        <p:nvSpPr>
          <p:cNvPr id="12" name="Text 7"/>
          <p:cNvSpPr txBox="1"/>
          <p:nvPr/>
        </p:nvSpPr>
        <p:spPr>
          <a:xfrm>
            <a:off x="640080" y="1691640"/>
            <a:ext cx="1920240" cy="685800"/>
          </a:xfrm>
          <a:prstGeom prst="rect">
            <a:avLst/>
          </a:prstGeom>
          <a:noFill/>
          <a:ln/>
        </p:spPr>
        <p:txBody>
          <a:bodyPr wrap="square" lIns="50800" tIns="50800" rIns="50800" bIns="50800" rtlCol="0" anchor="ctr"/>
          <a:lstStyle/>
          <a:p>
            <a:pPr algn="ctr" indent="0" marL="0">
              <a:buNone/>
            </a:pPr>
            <a:r>
              <a:rPr lang="en-US" sz="1200" dirty="0">
                <a:solidFill>
                  <a:srgbClr val="17140F"/>
                </a:solidFill>
                <a:latin typeface="Calibri" pitchFamily="34" charset="0"/>
                <a:ea typeface="Calibri" pitchFamily="34" charset="-122"/>
                <a:cs typeface="Calibri" pitchFamily="34" charset="-120"/>
              </a:rPr>
              <a:t>Message</a:t>
            </a:r>
            <a:endParaRPr lang="en-US" sz="1200" dirty="0"/>
          </a:p>
          <a:p>
            <a:pPr algn="ctr" indent="0" marL="0">
              <a:buNone/>
            </a:pPr>
            <a:r>
              <a:rPr lang="en-US" sz="1200" dirty="0">
                <a:solidFill>
                  <a:srgbClr val="17140F"/>
                </a:solidFill>
                <a:latin typeface="Calibri" pitchFamily="34" charset="0"/>
                <a:ea typeface="Calibri" pitchFamily="34" charset="-122"/>
                <a:cs typeface="Calibri" pitchFamily="34" charset="-120"/>
              </a:rPr>
              <a:t>du patient</a:t>
            </a:r>
            <a:endParaRPr lang="en-US" sz="1200" dirty="0"/>
          </a:p>
        </p:txBody>
      </p:sp>
      <p:sp>
        <p:nvSpPr>
          <p:cNvPr id="13" name="Shape 8"/>
          <p:cNvSpPr/>
          <p:nvPr/>
        </p:nvSpPr>
        <p:spPr>
          <a:xfrm>
            <a:off x="2560320" y="2034540"/>
            <a:ext cx="365760" cy="0"/>
          </a:xfrm>
          <a:prstGeom prst="line">
            <a:avLst/>
          </a:prstGeom>
          <a:noFill/>
          <a:ln w="12700">
            <a:solidFill>
              <a:srgbClr val="17140F"/>
            </a:solidFill>
            <a:prstDash val="solid"/>
            <a:tailEnd type="triangle"/>
          </a:ln>
        </p:spPr>
      </p:sp>
      <p:sp>
        <p:nvSpPr>
          <p:cNvPr id="14" name="Shape 9"/>
          <p:cNvSpPr/>
          <p:nvPr/>
        </p:nvSpPr>
        <p:spPr>
          <a:xfrm>
            <a:off x="2926080" y="1600200"/>
            <a:ext cx="2377440" cy="868680"/>
          </a:xfrm>
          <a:prstGeom prst="rect">
            <a:avLst/>
          </a:prstGeom>
          <a:solidFill>
            <a:srgbClr val="FFFFFF"/>
          </a:solidFill>
          <a:ln w="12700">
            <a:solidFill>
              <a:srgbClr val="17140F"/>
            </a:solidFill>
            <a:prstDash val="solid"/>
          </a:ln>
        </p:spPr>
      </p:sp>
      <p:sp>
        <p:nvSpPr>
          <p:cNvPr id="15" name="Text 10"/>
          <p:cNvSpPr txBox="1"/>
          <p:nvPr/>
        </p:nvSpPr>
        <p:spPr>
          <a:xfrm>
            <a:off x="2926080" y="1600200"/>
            <a:ext cx="2377440" cy="868680"/>
          </a:xfrm>
          <a:prstGeom prst="rect">
            <a:avLst/>
          </a:prstGeom>
          <a:noFill/>
          <a:ln/>
        </p:spPr>
        <p:txBody>
          <a:bodyPr wrap="square" lIns="50800" tIns="50800" rIns="50800" bIns="50800" rtlCol="0" anchor="ctr"/>
          <a:lstStyle/>
          <a:p>
            <a:pPr algn="ctr" indent="0" marL="0">
              <a:buNone/>
            </a:pPr>
            <a:r>
              <a:rPr lang="en-US" sz="1200" b="1" dirty="0">
                <a:solidFill>
                  <a:srgbClr val="17140F"/>
                </a:solidFill>
                <a:latin typeface="Calibri" pitchFamily="34" charset="0"/>
                <a:ea typeface="Calibri" pitchFamily="34" charset="-122"/>
                <a:cs typeface="Calibri" pitchFamily="34" charset="-120"/>
              </a:rPr>
              <a:t>Filtre déterministe</a:t>
            </a:r>
            <a:endParaRPr lang="en-US" sz="1200" dirty="0"/>
          </a:p>
          <a:p>
            <a:pPr algn="ctr" indent="0" marL="0">
              <a:buNone/>
            </a:pPr>
            <a:r>
              <a:rPr lang="en-US" sz="1100" dirty="0">
                <a:solidFill>
                  <a:srgbClr val="17140F"/>
                </a:solidFill>
                <a:latin typeface="Calibri" pitchFamily="34" charset="0"/>
                <a:ea typeface="Calibri" pitchFamily="34" charset="-122"/>
                <a:cs typeface="Calibri" pitchFamily="34" charset="-120"/>
              </a:rPr>
              <a:t>avant le modèle</a:t>
            </a:r>
            <a:endParaRPr lang="en-US" sz="1200" dirty="0"/>
          </a:p>
        </p:txBody>
      </p:sp>
      <p:sp>
        <p:nvSpPr>
          <p:cNvPr id="16" name="Shape 11"/>
          <p:cNvSpPr/>
          <p:nvPr/>
        </p:nvSpPr>
        <p:spPr>
          <a:xfrm>
            <a:off x="5303520" y="1828800"/>
            <a:ext cx="457200" cy="0"/>
          </a:xfrm>
          <a:prstGeom prst="line">
            <a:avLst/>
          </a:prstGeom>
          <a:noFill/>
          <a:ln w="12700">
            <a:solidFill>
              <a:srgbClr val="9A4526"/>
            </a:solidFill>
            <a:prstDash val="solid"/>
            <a:tailEnd type="triangle"/>
          </a:ln>
        </p:spPr>
      </p:sp>
      <p:sp>
        <p:nvSpPr>
          <p:cNvPr id="17" name="Shape 12"/>
          <p:cNvSpPr/>
          <p:nvPr/>
        </p:nvSpPr>
        <p:spPr>
          <a:xfrm>
            <a:off x="5303520" y="2240280"/>
            <a:ext cx="457200" cy="640080"/>
          </a:xfrm>
          <a:prstGeom prst="line">
            <a:avLst/>
          </a:prstGeom>
          <a:noFill/>
          <a:ln w="12700">
            <a:solidFill>
              <a:srgbClr val="17140F"/>
            </a:solidFill>
            <a:prstDash val="solid"/>
            <a:tailEnd type="triangle"/>
          </a:ln>
        </p:spPr>
      </p:sp>
      <p:sp>
        <p:nvSpPr>
          <p:cNvPr id="18" name="Text 13"/>
          <p:cNvSpPr txBox="1"/>
          <p:nvPr/>
        </p:nvSpPr>
        <p:spPr>
          <a:xfrm>
            <a:off x="5257800" y="1463040"/>
            <a:ext cx="822960" cy="228600"/>
          </a:xfrm>
          <a:prstGeom prst="rect">
            <a:avLst/>
          </a:prstGeom>
          <a:noFill/>
          <a:ln/>
        </p:spPr>
        <p:txBody>
          <a:bodyPr wrap="square" lIns="0" tIns="0" rIns="0" bIns="0" rtlCol="0" anchor="t"/>
          <a:lstStyle/>
          <a:p>
            <a:pPr indent="0" marL="0">
              <a:buNone/>
            </a:pPr>
            <a:r>
              <a:rPr lang="en-US" sz="1000" dirty="0">
                <a:solidFill>
                  <a:srgbClr val="9A4526"/>
                </a:solidFill>
                <a:latin typeface="Calibri" pitchFamily="34" charset="0"/>
                <a:ea typeface="Calibri" pitchFamily="34" charset="-122"/>
                <a:cs typeface="Calibri" pitchFamily="34" charset="-120"/>
              </a:rPr>
              <a:t>détresse</a:t>
            </a:r>
            <a:endParaRPr lang="en-US" sz="1000" dirty="0"/>
          </a:p>
        </p:txBody>
      </p:sp>
      <p:sp>
        <p:nvSpPr>
          <p:cNvPr id="19" name="Shape 14"/>
          <p:cNvSpPr/>
          <p:nvPr/>
        </p:nvSpPr>
        <p:spPr>
          <a:xfrm>
            <a:off x="5760720" y="1508760"/>
            <a:ext cx="1371600" cy="685800"/>
          </a:xfrm>
          <a:prstGeom prst="rect">
            <a:avLst/>
          </a:prstGeom>
          <a:solidFill>
            <a:srgbClr val="F6E9E2"/>
          </a:solidFill>
          <a:ln w="12700">
            <a:solidFill>
              <a:srgbClr val="9A4526"/>
            </a:solidFill>
            <a:prstDash val="solid"/>
          </a:ln>
        </p:spPr>
      </p:sp>
      <p:sp>
        <p:nvSpPr>
          <p:cNvPr id="20" name="Text 15"/>
          <p:cNvSpPr txBox="1"/>
          <p:nvPr/>
        </p:nvSpPr>
        <p:spPr>
          <a:xfrm>
            <a:off x="5760720" y="1508760"/>
            <a:ext cx="1371600" cy="685800"/>
          </a:xfrm>
          <a:prstGeom prst="rect">
            <a:avLst/>
          </a:prstGeom>
          <a:noFill/>
          <a:ln/>
        </p:spPr>
        <p:txBody>
          <a:bodyPr wrap="square" lIns="50800" tIns="50800" rIns="50800" bIns="50800" rtlCol="0" anchor="ctr"/>
          <a:lstStyle/>
          <a:p>
            <a:pPr algn="ctr" indent="0" marL="0">
              <a:buNone/>
            </a:pPr>
            <a:r>
              <a:rPr lang="en-US" sz="1200" dirty="0">
                <a:solidFill>
                  <a:srgbClr val="9A4526"/>
                </a:solidFill>
                <a:latin typeface="Calibri" pitchFamily="34" charset="0"/>
                <a:ea typeface="Calibri" pitchFamily="34" charset="-122"/>
                <a:cs typeface="Calibri" pitchFamily="34" charset="-120"/>
              </a:rPr>
              <a:t>Message fixe</a:t>
            </a:r>
            <a:endParaRPr lang="en-US" sz="1200" dirty="0"/>
          </a:p>
          <a:p>
            <a:pPr algn="ctr" indent="0" marL="0">
              <a:buNone/>
            </a:pPr>
            <a:r>
              <a:rPr lang="en-US" sz="1200" dirty="0">
                <a:solidFill>
                  <a:srgbClr val="9A4526"/>
                </a:solidFill>
                <a:latin typeface="Calibri" pitchFamily="34" charset="0"/>
                <a:ea typeface="Calibri" pitchFamily="34" charset="-122"/>
                <a:cs typeface="Calibri" pitchFamily="34" charset="-120"/>
              </a:rPr>
              <a:t>+ numéros</a:t>
            </a:r>
            <a:endParaRPr lang="en-US" sz="1200" dirty="0"/>
          </a:p>
        </p:txBody>
      </p:sp>
      <p:sp>
        <p:nvSpPr>
          <p:cNvPr id="21" name="Shape 16"/>
          <p:cNvSpPr/>
          <p:nvPr/>
        </p:nvSpPr>
        <p:spPr>
          <a:xfrm>
            <a:off x="5760720" y="2697480"/>
            <a:ext cx="1371600" cy="685800"/>
          </a:xfrm>
          <a:prstGeom prst="rect">
            <a:avLst/>
          </a:prstGeom>
          <a:solidFill>
            <a:srgbClr val="E4EDEA"/>
          </a:solidFill>
          <a:ln w="12700">
            <a:solidFill>
              <a:srgbClr val="0F5347"/>
            </a:solidFill>
            <a:prstDash val="solid"/>
          </a:ln>
        </p:spPr>
      </p:sp>
      <p:sp>
        <p:nvSpPr>
          <p:cNvPr id="22" name="Text 17"/>
          <p:cNvSpPr txBox="1"/>
          <p:nvPr/>
        </p:nvSpPr>
        <p:spPr>
          <a:xfrm>
            <a:off x="5760720" y="2697480"/>
            <a:ext cx="1371600" cy="685800"/>
          </a:xfrm>
          <a:prstGeom prst="rect">
            <a:avLst/>
          </a:prstGeom>
          <a:noFill/>
          <a:ln/>
        </p:spPr>
        <p:txBody>
          <a:bodyPr wrap="square" lIns="50800" tIns="50800" rIns="50800" bIns="50800" rtlCol="0" anchor="ctr"/>
          <a:lstStyle/>
          <a:p>
            <a:pPr algn="ctr" indent="0" marL="0">
              <a:buNone/>
            </a:pPr>
            <a:r>
              <a:rPr lang="en-US" sz="1200" dirty="0">
                <a:solidFill>
                  <a:srgbClr val="0F5347"/>
                </a:solidFill>
                <a:latin typeface="Calibri" pitchFamily="34" charset="0"/>
                <a:ea typeface="Calibri" pitchFamily="34" charset="-122"/>
                <a:cs typeface="Calibri" pitchFamily="34" charset="-120"/>
              </a:rPr>
              <a:t>Modèle local</a:t>
            </a:r>
            <a:endParaRPr lang="en-US" sz="1200" dirty="0"/>
          </a:p>
          <a:p>
            <a:pPr algn="ctr" indent="0" marL="0">
              <a:buNone/>
            </a:pPr>
            <a:r>
              <a:rPr lang="en-US" sz="1200" dirty="0">
                <a:solidFill>
                  <a:srgbClr val="0F5347"/>
                </a:solidFill>
                <a:latin typeface="Calibri" pitchFamily="34" charset="0"/>
                <a:ea typeface="Calibri" pitchFamily="34" charset="-122"/>
                <a:cs typeface="Calibri" pitchFamily="34" charset="-120"/>
              </a:rPr>
              <a:t>qwen2.5:3b</a:t>
            </a:r>
            <a:endParaRPr lang="en-US" sz="1200" dirty="0"/>
          </a:p>
        </p:txBody>
      </p:sp>
      <p:sp>
        <p:nvSpPr>
          <p:cNvPr id="23" name="Text 18"/>
          <p:cNvSpPr txBox="1"/>
          <p:nvPr/>
        </p:nvSpPr>
        <p:spPr>
          <a:xfrm>
            <a:off x="5349240" y="2606040"/>
            <a:ext cx="548640" cy="228600"/>
          </a:xfrm>
          <a:prstGeom prst="rect">
            <a:avLst/>
          </a:prstGeom>
          <a:noFill/>
          <a:ln/>
        </p:spPr>
        <p:txBody>
          <a:bodyPr wrap="square" lIns="0" tIns="0" rIns="0" bIns="0" rtlCol="0" anchor="t"/>
          <a:lstStyle/>
          <a:p>
            <a:pPr indent="0" marL="0">
              <a:buNone/>
            </a:pPr>
            <a:r>
              <a:rPr lang="en-US" sz="1000" dirty="0">
                <a:solidFill>
                  <a:srgbClr val="6B6458"/>
                </a:solidFill>
                <a:latin typeface="Calibri" pitchFamily="34" charset="0"/>
                <a:ea typeface="Calibri" pitchFamily="34" charset="-122"/>
                <a:cs typeface="Calibri" pitchFamily="34" charset="-120"/>
              </a:rPr>
              <a:t>sinon</a:t>
            </a:r>
            <a:endParaRPr lang="en-US" sz="1000" dirty="0"/>
          </a:p>
        </p:txBody>
      </p:sp>
      <p:sp>
        <p:nvSpPr>
          <p:cNvPr id="24" name="Shape 19"/>
          <p:cNvSpPr/>
          <p:nvPr/>
        </p:nvSpPr>
        <p:spPr>
          <a:xfrm>
            <a:off x="640080" y="3657600"/>
            <a:ext cx="6492240" cy="0"/>
          </a:xfrm>
          <a:prstGeom prst="line">
            <a:avLst/>
          </a:prstGeom>
          <a:noFill/>
          <a:ln w="12700">
            <a:solidFill>
              <a:srgbClr val="E2DCD0"/>
            </a:solidFill>
            <a:prstDash val="solid"/>
          </a:ln>
        </p:spPr>
      </p:sp>
      <p:sp>
        <p:nvSpPr>
          <p:cNvPr id="25" name="Text 20"/>
          <p:cNvSpPr txBox="1"/>
          <p:nvPr/>
        </p:nvSpPr>
        <p:spPr>
          <a:xfrm>
            <a:off x="640080" y="3749040"/>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Rôle</a:t>
            </a:r>
            <a:endParaRPr lang="en-US" sz="1300" dirty="0"/>
          </a:p>
        </p:txBody>
      </p:sp>
      <p:sp>
        <p:nvSpPr>
          <p:cNvPr id="26" name="Text 21"/>
          <p:cNvSpPr txBox="1"/>
          <p:nvPr/>
        </p:nvSpPr>
        <p:spPr>
          <a:xfrm>
            <a:off x="2377440" y="3749040"/>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Aider à préparer la première séance. Jamais de diagnostic, jamais à la place du psychologue.</a:t>
            </a:r>
            <a:endParaRPr lang="en-US" sz="1250" dirty="0"/>
          </a:p>
        </p:txBody>
      </p:sp>
      <p:sp>
        <p:nvSpPr>
          <p:cNvPr id="27" name="Shape 22"/>
          <p:cNvSpPr/>
          <p:nvPr/>
        </p:nvSpPr>
        <p:spPr>
          <a:xfrm>
            <a:off x="640080" y="4224528"/>
            <a:ext cx="6492240" cy="0"/>
          </a:xfrm>
          <a:prstGeom prst="line">
            <a:avLst/>
          </a:prstGeom>
          <a:noFill/>
          <a:ln w="12700">
            <a:solidFill>
              <a:srgbClr val="E2DCD0"/>
            </a:solidFill>
            <a:prstDash val="solid"/>
          </a:ln>
        </p:spPr>
      </p:sp>
      <p:sp>
        <p:nvSpPr>
          <p:cNvPr id="28" name="Text 23"/>
          <p:cNvSpPr txBox="1"/>
          <p:nvPr/>
        </p:nvSpPr>
        <p:spPr>
          <a:xfrm>
            <a:off x="640080" y="4315968"/>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Confidentialité</a:t>
            </a:r>
            <a:endParaRPr lang="en-US" sz="1300" dirty="0"/>
          </a:p>
        </p:txBody>
      </p:sp>
      <p:sp>
        <p:nvSpPr>
          <p:cNvPr id="29" name="Text 24"/>
          <p:cNvSpPr txBox="1"/>
          <p:nvPr/>
        </p:nvSpPr>
        <p:spPr>
          <a:xfrm>
            <a:off x="2377440" y="4315968"/>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Modèle exécuté en local avec Ollama. Rien n'est stocké : ni base, ni journal, ni téléphone.</a:t>
            </a:r>
            <a:endParaRPr lang="en-US" sz="1250" dirty="0"/>
          </a:p>
        </p:txBody>
      </p:sp>
      <p:sp>
        <p:nvSpPr>
          <p:cNvPr id="30" name="Shape 25"/>
          <p:cNvSpPr/>
          <p:nvPr/>
        </p:nvSpPr>
        <p:spPr>
          <a:xfrm>
            <a:off x="640080" y="4791456"/>
            <a:ext cx="6492240" cy="0"/>
          </a:xfrm>
          <a:prstGeom prst="line">
            <a:avLst/>
          </a:prstGeom>
          <a:noFill/>
          <a:ln w="12700">
            <a:solidFill>
              <a:srgbClr val="E2DCD0"/>
            </a:solidFill>
            <a:prstDash val="solid"/>
          </a:ln>
        </p:spPr>
      </p:sp>
      <p:sp>
        <p:nvSpPr>
          <p:cNvPr id="31" name="Text 26"/>
          <p:cNvSpPr txBox="1"/>
          <p:nvPr/>
        </p:nvSpPr>
        <p:spPr>
          <a:xfrm>
            <a:off x="640080" y="4882896"/>
            <a:ext cx="1645920" cy="411480"/>
          </a:xfrm>
          <a:prstGeom prst="rect">
            <a:avLst/>
          </a:prstGeom>
          <a:noFill/>
          <a:ln/>
        </p:spPr>
        <p:txBody>
          <a:bodyPr wrap="square" lIns="0" tIns="0" rIns="0" bIns="0" rtlCol="0" anchor="t"/>
          <a:lstStyle/>
          <a:p>
            <a:pPr indent="0" marL="0">
              <a:buNone/>
            </a:pPr>
            <a:r>
              <a:rPr lang="en-US" sz="1300" b="1" dirty="0">
                <a:solidFill>
                  <a:srgbClr val="9A4526"/>
                </a:solidFill>
                <a:latin typeface="Calibri" pitchFamily="34" charset="0"/>
                <a:ea typeface="Calibri" pitchFamily="34" charset="-122"/>
                <a:cs typeface="Calibri" pitchFamily="34" charset="-120"/>
              </a:rPr>
              <a:t>Garde-fou</a:t>
            </a:r>
            <a:endParaRPr lang="en-US" sz="1300" dirty="0"/>
          </a:p>
        </p:txBody>
      </p:sp>
      <p:sp>
        <p:nvSpPr>
          <p:cNvPr id="32" name="Text 27"/>
          <p:cNvSpPr txBox="1"/>
          <p:nvPr/>
        </p:nvSpPr>
        <p:spPr>
          <a:xfrm>
            <a:off x="2377440" y="4882896"/>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En cas de détresse, le modèle n'est pas appelé : SAMU 1515, numéro vert du ministère 800 00 50 50, 17, 18.</a:t>
            </a:r>
            <a:endParaRPr lang="en-US" sz="1250" dirty="0"/>
          </a:p>
        </p:txBody>
      </p:sp>
      <p:sp>
        <p:nvSpPr>
          <p:cNvPr id="33" name="Shape 28"/>
          <p:cNvSpPr/>
          <p:nvPr/>
        </p:nvSpPr>
        <p:spPr>
          <a:xfrm>
            <a:off x="640080" y="5358384"/>
            <a:ext cx="6492240" cy="0"/>
          </a:xfrm>
          <a:prstGeom prst="line">
            <a:avLst/>
          </a:prstGeom>
          <a:noFill/>
          <a:ln w="12700">
            <a:solidFill>
              <a:srgbClr val="E2DCD0"/>
            </a:solidFill>
            <a:prstDash val="solid"/>
          </a:ln>
        </p:spPr>
      </p:sp>
      <p:sp>
        <p:nvSpPr>
          <p:cNvPr id="34" name="Text 29"/>
          <p:cNvSpPr txBox="1"/>
          <p:nvPr/>
        </p:nvSpPr>
        <p:spPr>
          <a:xfrm>
            <a:off x="640080" y="5449824"/>
            <a:ext cx="1645920" cy="411480"/>
          </a:xfrm>
          <a:prstGeom prst="rect">
            <a:avLst/>
          </a:prstGeom>
          <a:noFill/>
          <a:ln/>
        </p:spPr>
        <p:txBody>
          <a:bodyPr wrap="square" lIns="0" tIns="0" rIns="0" bIns="0" rtlCol="0" anchor="t"/>
          <a:lstStyle/>
          <a:p>
            <a:pPr indent="0" marL="0">
              <a:buNone/>
            </a:pPr>
            <a:r>
              <a:rPr lang="en-US" sz="1300" b="1" dirty="0">
                <a:solidFill>
                  <a:srgbClr val="0F5347"/>
                </a:solidFill>
                <a:latin typeface="Calibri" pitchFamily="34" charset="0"/>
                <a:ea typeface="Calibri" pitchFamily="34" charset="-122"/>
                <a:cs typeface="Calibri" pitchFamily="34" charset="-120"/>
              </a:rPr>
              <a:t>Limite assumée</a:t>
            </a:r>
            <a:endParaRPr lang="en-US" sz="1300" dirty="0"/>
          </a:p>
        </p:txBody>
      </p:sp>
      <p:sp>
        <p:nvSpPr>
          <p:cNvPr id="35" name="Text 30"/>
          <p:cNvSpPr txBox="1"/>
          <p:nvPr/>
        </p:nvSpPr>
        <p:spPr>
          <a:xfrm>
            <a:off x="2377440" y="5449824"/>
            <a:ext cx="4754880" cy="457200"/>
          </a:xfrm>
          <a:prstGeom prst="rect">
            <a:avLst/>
          </a:prstGeom>
          <a:noFill/>
          <a:ln/>
        </p:spPr>
        <p:txBody>
          <a:bodyPr wrap="square" lIns="0" tIns="0" rIns="0" bIns="0" rtlCol="0" anchor="t"/>
          <a:lstStyle/>
          <a:p>
            <a:pPr indent="0" marL="0">
              <a:buNone/>
            </a:pPr>
            <a:r>
              <a:rPr lang="en-US" sz="1250" dirty="0">
                <a:solidFill>
                  <a:srgbClr val="17140F"/>
                </a:solidFill>
                <a:latin typeface="Calibri" pitchFamily="34" charset="0"/>
                <a:ea typeface="Calibri" pitchFamily="34" charset="-122"/>
                <a:cs typeface="Calibri" pitchFamily="34" charset="-120"/>
              </a:rPr>
              <a:t>Formulations en français seulement. Filtre couvert par un test automatisé.</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12</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txBody>
          <a:bodyPr/>
          <a:p/>
        </p:txBody>
      </p:sp>
      <p:sp>
        <p:nvSpPr>
          <p:cNvPr id="6" name="Text 3"/>
          <p:cNvSpPr txBox="1"/>
          <p:nvPr/>
        </p:nvSpPr>
        <p:spPr>
          <a:xfrm>
            <a:off x="640080" y="457200"/>
            <a:ext cx="10515600"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Sécurité et confidentialité</a:t>
            </a:r>
            <a:endParaRPr lang="en-US" sz="3000" dirty="0"/>
          </a:p>
        </p:txBody>
      </p:sp>
      <p:sp>
        <p:nvSpPr>
          <p:cNvPr id="7" name="Shape 4"/>
          <p:cNvSpPr/>
          <p:nvPr/>
        </p:nvSpPr>
        <p:spPr>
          <a:xfrm>
            <a:off x="640080" y="1691640"/>
            <a:ext cx="10911535" cy="0"/>
          </a:xfrm>
          <a:prstGeom prst="line">
            <a:avLst/>
          </a:prstGeom>
          <a:noFill/>
          <a:ln w="12700">
            <a:solidFill>
              <a:srgbClr val="E2DCD0"/>
            </a:solidFill>
            <a:prstDash val="solid"/>
          </a:ln>
        </p:spPr>
        <p:txBody>
          <a:bodyPr/>
          <a:p/>
        </p:txBody>
      </p:sp>
      <p:sp>
        <p:nvSpPr>
          <p:cNvPr id="8" name="Text 5"/>
          <p:cNvSpPr txBox="1"/>
          <p:nvPr/>
        </p:nvSpPr>
        <p:spPr>
          <a:xfrm>
            <a:off x="640080" y="1874520"/>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Authentification</a:t>
            </a:r>
            <a:endParaRPr lang="en-US" sz="1800" dirty="0"/>
          </a:p>
        </p:txBody>
      </p:sp>
      <p:sp>
        <p:nvSpPr>
          <p:cNvPr id="9" name="Text 6"/>
          <p:cNvSpPr txBox="1"/>
          <p:nvPr/>
        </p:nvSpPr>
        <p:spPr>
          <a:xfrm>
            <a:off x="3840480" y="1892808"/>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Chaque service vérifie lui-même le jeton JWT ; la passerelle ne fait que router.</a:t>
            </a:r>
            <a:endParaRPr lang="en-US" sz="1600" dirty="0"/>
          </a:p>
        </p:txBody>
      </p:sp>
      <p:sp>
        <p:nvSpPr>
          <p:cNvPr id="10" name="Shape 7"/>
          <p:cNvSpPr/>
          <p:nvPr/>
        </p:nvSpPr>
        <p:spPr>
          <a:xfrm>
            <a:off x="640080" y="2441448"/>
            <a:ext cx="10911535" cy="0"/>
          </a:xfrm>
          <a:prstGeom prst="line">
            <a:avLst/>
          </a:prstGeom>
          <a:noFill/>
          <a:ln w="12700">
            <a:solidFill>
              <a:srgbClr val="E2DCD0"/>
            </a:solidFill>
            <a:prstDash val="solid"/>
          </a:ln>
        </p:spPr>
        <p:txBody>
          <a:bodyPr/>
          <a:p/>
        </p:txBody>
      </p:sp>
      <p:sp>
        <p:nvSpPr>
          <p:cNvPr id="11" name="Text 8"/>
          <p:cNvSpPr txBox="1"/>
          <p:nvPr/>
        </p:nvSpPr>
        <p:spPr>
          <a:xfrm>
            <a:off x="640080" y="2624328"/>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Propriété</a:t>
            </a:r>
            <a:endParaRPr lang="en-US" sz="1800" dirty="0"/>
          </a:p>
        </p:txBody>
      </p:sp>
      <p:sp>
        <p:nvSpPr>
          <p:cNvPr id="12" name="Text 9"/>
          <p:cNvSpPr txBox="1"/>
          <p:nvPr/>
        </p:nvSpPr>
        <p:spPr>
          <a:xfrm>
            <a:off x="3840480" y="2642616"/>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Le client déclare, le serveur vérifie : un patient n'accède qu'à ses propres données.</a:t>
            </a:r>
            <a:endParaRPr lang="en-US" sz="1600" dirty="0"/>
          </a:p>
        </p:txBody>
      </p:sp>
      <p:sp>
        <p:nvSpPr>
          <p:cNvPr id="13" name="Shape 10"/>
          <p:cNvSpPr/>
          <p:nvPr/>
        </p:nvSpPr>
        <p:spPr>
          <a:xfrm>
            <a:off x="640080" y="3191256"/>
            <a:ext cx="10911535" cy="0"/>
          </a:xfrm>
          <a:prstGeom prst="line">
            <a:avLst/>
          </a:prstGeom>
          <a:noFill/>
          <a:ln w="12700">
            <a:solidFill>
              <a:srgbClr val="E2DCD0"/>
            </a:solidFill>
            <a:prstDash val="solid"/>
          </a:ln>
        </p:spPr>
        <p:txBody>
          <a:bodyPr/>
          <a:p/>
        </p:txBody>
      </p:sp>
      <p:sp>
        <p:nvSpPr>
          <p:cNvPr id="14" name="Text 11"/>
          <p:cNvSpPr txBox="1"/>
          <p:nvPr/>
        </p:nvSpPr>
        <p:spPr>
          <a:xfrm>
            <a:off x="640080" y="3374136"/>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Secrets</a:t>
            </a:r>
            <a:endParaRPr lang="en-US" sz="1800" dirty="0"/>
          </a:p>
        </p:txBody>
      </p:sp>
      <p:sp>
        <p:nvSpPr>
          <p:cNvPr id="15" name="Text 12"/>
          <p:cNvSpPr txBox="1"/>
          <p:nvPr/>
        </p:nvSpPr>
        <p:spPr>
          <a:xfrm>
            <a:off x="3840480" y="3392424"/>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Mots de passe et codes de réinitialisation hachés.</a:t>
            </a:r>
            <a:endParaRPr lang="en-US" sz="1600" dirty="0"/>
          </a:p>
        </p:txBody>
      </p:sp>
      <p:sp>
        <p:nvSpPr>
          <p:cNvPr id="16" name="Shape 13"/>
          <p:cNvSpPr/>
          <p:nvPr/>
        </p:nvSpPr>
        <p:spPr>
          <a:xfrm>
            <a:off x="640080" y="3941064"/>
            <a:ext cx="10911535" cy="0"/>
          </a:xfrm>
          <a:prstGeom prst="line">
            <a:avLst/>
          </a:prstGeom>
          <a:noFill/>
          <a:ln w="12700">
            <a:solidFill>
              <a:srgbClr val="E2DCD0"/>
            </a:solidFill>
            <a:prstDash val="solid"/>
          </a:ln>
        </p:spPr>
        <p:txBody>
          <a:bodyPr/>
          <a:p/>
        </p:txBody>
      </p:sp>
      <p:sp>
        <p:nvSpPr>
          <p:cNvPr id="17" name="Text 14"/>
          <p:cNvSpPr txBox="1"/>
          <p:nvPr/>
        </p:nvSpPr>
        <p:spPr>
          <a:xfrm>
            <a:off x="640080" y="4123944"/>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Anonymat</a:t>
            </a:r>
            <a:endParaRPr lang="en-US" sz="1800" dirty="0"/>
          </a:p>
        </p:txBody>
      </p:sp>
      <p:sp>
        <p:nvSpPr>
          <p:cNvPr id="18" name="Text 15"/>
          <p:cNvSpPr txBox="1"/>
          <p:nvPr/>
        </p:nvSpPr>
        <p:spPr>
          <a:xfrm>
            <a:off x="3840480" y="4142232"/>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Pseudonymisation côté serveur : le psychologue voit un pseudo à la place du nom.</a:t>
            </a:r>
            <a:endParaRPr lang="en-US" sz="1600" dirty="0"/>
          </a:p>
        </p:txBody>
      </p:sp>
      <p:sp>
        <p:nvSpPr>
          <p:cNvPr id="19" name="Shape 16"/>
          <p:cNvSpPr/>
          <p:nvPr/>
        </p:nvSpPr>
        <p:spPr>
          <a:xfrm>
            <a:off x="640080" y="4690872"/>
            <a:ext cx="10911535" cy="0"/>
          </a:xfrm>
          <a:prstGeom prst="line">
            <a:avLst/>
          </a:prstGeom>
          <a:noFill/>
          <a:ln w="12700">
            <a:solidFill>
              <a:srgbClr val="E2DCD0"/>
            </a:solidFill>
            <a:prstDash val="solid"/>
          </a:ln>
        </p:spPr>
      </p:sp>
      <p:sp>
        <p:nvSpPr>
          <p:cNvPr id="20" name="Text 17"/>
          <p:cNvSpPr txBox="1"/>
          <p:nvPr/>
        </p:nvSpPr>
        <p:spPr>
          <a:xfrm>
            <a:off x="640080" y="4873752"/>
            <a:ext cx="2926080" cy="411480"/>
          </a:xfrm>
          <a:prstGeom prst="rect">
            <a:avLst/>
          </a:prstGeom>
          <a:noFill/>
          <a:ln/>
        </p:spPr>
        <p:txBody>
          <a:bodyPr wrap="square" lIns="0" tIns="0" rIns="0" bIns="0" rtlCol="0" anchor="t"/>
          <a:lstStyle/>
          <a:p>
            <a:pPr indent="0" marL="0">
              <a:buNone/>
            </a:pPr>
            <a:r>
              <a:rPr lang="en-US" sz="1800" b="1" dirty="0">
                <a:solidFill>
                  <a:srgbClr val="0F5347"/>
                </a:solidFill>
                <a:latin typeface="Calibri" pitchFamily="34" charset="0"/>
                <a:ea typeface="Calibri" pitchFamily="34" charset="-122"/>
                <a:cs typeface="Calibri" pitchFamily="34" charset="-120"/>
              </a:rPr>
              <a:t>Données cliniques</a:t>
            </a:r>
            <a:endParaRPr lang="en-US" sz="1800" dirty="0"/>
          </a:p>
        </p:txBody>
      </p:sp>
      <p:sp>
        <p:nvSpPr>
          <p:cNvPr id="21" name="Text 18"/>
          <p:cNvSpPr txBox="1"/>
          <p:nvPr/>
        </p:nvSpPr>
        <p:spPr>
          <a:xfrm>
            <a:off x="3840480" y="4892040"/>
            <a:ext cx="7680960" cy="45720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Notes visibles par leur seul auteur ; conversations Xalaat jamais enregistrées.</a:t>
            </a:r>
            <a:endParaRPr lang="en-US" sz="1600" dirty="0"/>
          </a:p>
        </p:txBody>
      </p:sp>
      <p:sp>
        <p:nvSpPr>
          <p:cNvPr id="22" name="Shape 19"/>
          <p:cNvSpPr/>
          <p:nvPr/>
        </p:nvSpPr>
        <p:spPr>
          <a:xfrm>
            <a:off x="640080" y="5440680"/>
            <a:ext cx="10911535" cy="0"/>
          </a:xfrm>
          <a:prstGeom prst="line">
            <a:avLst/>
          </a:prstGeom>
          <a:noFill/>
          <a:ln w="12700">
            <a:solidFill>
              <a:srgbClr val="E2DCD0"/>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13</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Limites et perspectives</a:t>
            </a:r>
            <a:endParaRPr lang="en-US" sz="3000" dirty="0"/>
          </a:p>
        </p:txBody>
      </p:sp>
      <p:sp>
        <p:nvSpPr>
          <p:cNvPr id="7" name="Text 4"/>
          <p:cNvSpPr txBox="1"/>
          <p:nvPr/>
        </p:nvSpPr>
        <p:spPr>
          <a:xfrm>
            <a:off x="640080" y="1645920"/>
            <a:ext cx="5120640" cy="411480"/>
          </a:xfrm>
          <a:prstGeom prst="rect">
            <a:avLst/>
          </a:prstGeom>
          <a:noFill/>
          <a:ln/>
        </p:spPr>
        <p:txBody>
          <a:bodyPr wrap="square" lIns="0" tIns="0" rIns="0" bIns="0" rtlCol="0" anchor="t"/>
          <a:lstStyle/>
          <a:p>
            <a:pPr indent="0" marL="0">
              <a:buNone/>
            </a:pPr>
            <a:r>
              <a:rPr lang="en-US" sz="2000" b="1" dirty="0">
                <a:solidFill>
                  <a:srgbClr val="9A4526"/>
                </a:solidFill>
                <a:latin typeface="Calibri" pitchFamily="34" charset="0"/>
                <a:ea typeface="Calibri" pitchFamily="34" charset="-122"/>
                <a:cs typeface="Calibri" pitchFamily="34" charset="-120"/>
              </a:rPr>
              <a:t>Limites</a:t>
            </a:r>
            <a:endParaRPr lang="en-US" sz="2000" dirty="0"/>
          </a:p>
        </p:txBody>
      </p:sp>
      <p:sp>
        <p:nvSpPr>
          <p:cNvPr id="8" name="Text 5"/>
          <p:cNvSpPr txBox="1"/>
          <p:nvPr/>
        </p:nvSpPr>
        <p:spPr>
          <a:xfrm>
            <a:off x="6400800" y="1645920"/>
            <a:ext cx="5120640" cy="411480"/>
          </a:xfrm>
          <a:prstGeom prst="rect">
            <a:avLst/>
          </a:prstGeom>
          <a:noFill/>
          <a:ln/>
        </p:spPr>
        <p:txBody>
          <a:bodyPr wrap="square" lIns="0" tIns="0" rIns="0" bIns="0" rtlCol="0" anchor="t"/>
          <a:lstStyle/>
          <a:p>
            <a:pPr indent="0" marL="0">
              <a:buNone/>
            </a:pPr>
            <a:r>
              <a:rPr lang="en-US" sz="2000" b="1" dirty="0">
                <a:solidFill>
                  <a:srgbClr val="0F5347"/>
                </a:solidFill>
                <a:latin typeface="Calibri" pitchFamily="34" charset="0"/>
                <a:ea typeface="Calibri" pitchFamily="34" charset="-122"/>
                <a:cs typeface="Calibri" pitchFamily="34" charset="-120"/>
              </a:rPr>
              <a:t>Perspectives</a:t>
            </a:r>
            <a:endParaRPr lang="en-US" sz="2000" dirty="0"/>
          </a:p>
        </p:txBody>
      </p:sp>
      <p:sp>
        <p:nvSpPr>
          <p:cNvPr id="9" name="Shape 6"/>
          <p:cNvSpPr/>
          <p:nvPr/>
        </p:nvSpPr>
        <p:spPr>
          <a:xfrm>
            <a:off x="640080" y="2194560"/>
            <a:ext cx="5120640" cy="0"/>
          </a:xfrm>
          <a:prstGeom prst="line">
            <a:avLst/>
          </a:prstGeom>
          <a:noFill/>
          <a:ln w="12700">
            <a:solidFill>
              <a:srgbClr val="E2DCD0"/>
            </a:solidFill>
            <a:prstDash val="solid"/>
          </a:ln>
        </p:spPr>
      </p:sp>
      <p:sp>
        <p:nvSpPr>
          <p:cNvPr id="10" name="Shape 7"/>
          <p:cNvSpPr/>
          <p:nvPr/>
        </p:nvSpPr>
        <p:spPr>
          <a:xfrm>
            <a:off x="6400800" y="2194560"/>
            <a:ext cx="5120640" cy="0"/>
          </a:xfrm>
          <a:prstGeom prst="line">
            <a:avLst/>
          </a:prstGeom>
          <a:noFill/>
          <a:ln w="12700">
            <a:solidFill>
              <a:srgbClr val="E2DCD0"/>
            </a:solidFill>
            <a:prstDash val="solid"/>
          </a:ln>
        </p:spPr>
      </p:sp>
      <p:sp>
        <p:nvSpPr>
          <p:cNvPr id="11" name="Text 8"/>
          <p:cNvSpPr txBox="1"/>
          <p:nvPr/>
        </p:nvSpPr>
        <p:spPr>
          <a:xfrm>
            <a:off x="640080" y="235915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Paiement mobile simulé</a:t>
            </a:r>
            <a:endParaRPr lang="en-US" sz="1600" dirty="0"/>
          </a:p>
        </p:txBody>
      </p:sp>
      <p:sp>
        <p:nvSpPr>
          <p:cNvPr id="12" name="Text 9"/>
          <p:cNvSpPr txBox="1"/>
          <p:nvPr/>
        </p:nvSpPr>
        <p:spPr>
          <a:xfrm>
            <a:off x="6400800" y="235915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Intégrer les API de Wave et d'Orange Money</a:t>
            </a:r>
            <a:endParaRPr lang="en-US" sz="1600" dirty="0"/>
          </a:p>
        </p:txBody>
      </p:sp>
      <p:sp>
        <p:nvSpPr>
          <p:cNvPr id="13" name="Shape 10"/>
          <p:cNvSpPr/>
          <p:nvPr/>
        </p:nvSpPr>
        <p:spPr>
          <a:xfrm>
            <a:off x="640080" y="2971800"/>
            <a:ext cx="5120640" cy="0"/>
          </a:xfrm>
          <a:prstGeom prst="line">
            <a:avLst/>
          </a:prstGeom>
          <a:noFill/>
          <a:ln w="12700">
            <a:solidFill>
              <a:srgbClr val="E2DCD0"/>
            </a:solidFill>
            <a:prstDash val="solid"/>
          </a:ln>
        </p:spPr>
      </p:sp>
      <p:sp>
        <p:nvSpPr>
          <p:cNvPr id="14" name="Shape 11"/>
          <p:cNvSpPr/>
          <p:nvPr/>
        </p:nvSpPr>
        <p:spPr>
          <a:xfrm>
            <a:off x="6400800" y="2971800"/>
            <a:ext cx="5120640" cy="0"/>
          </a:xfrm>
          <a:prstGeom prst="line">
            <a:avLst/>
          </a:prstGeom>
          <a:noFill/>
          <a:ln w="12700">
            <a:solidFill>
              <a:srgbClr val="E2DCD0"/>
            </a:solidFill>
            <a:prstDash val="solid"/>
          </a:ln>
        </p:spPr>
      </p:sp>
      <p:sp>
        <p:nvSpPr>
          <p:cNvPr id="15" name="Text 12"/>
          <p:cNvSpPr txBox="1"/>
          <p:nvPr/>
        </p:nvSpPr>
        <p:spPr>
          <a:xfrm>
            <a:off x="640080" y="313639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Déploiement local, sans chiffrement des échanges</a:t>
            </a:r>
            <a:endParaRPr lang="en-US" sz="1600" dirty="0"/>
          </a:p>
        </p:txBody>
      </p:sp>
      <p:sp>
        <p:nvSpPr>
          <p:cNvPr id="16" name="Text 13"/>
          <p:cNvSpPr txBox="1"/>
          <p:nvPr/>
        </p:nvSpPr>
        <p:spPr>
          <a:xfrm>
            <a:off x="6400800" y="313639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Mise en production : cloud, TLS, gestionnaire de secrets</a:t>
            </a:r>
            <a:endParaRPr lang="en-US" sz="1600" dirty="0"/>
          </a:p>
        </p:txBody>
      </p:sp>
      <p:sp>
        <p:nvSpPr>
          <p:cNvPr id="17" name="Shape 14"/>
          <p:cNvSpPr/>
          <p:nvPr/>
        </p:nvSpPr>
        <p:spPr>
          <a:xfrm>
            <a:off x="640080" y="3749040"/>
            <a:ext cx="5120640" cy="0"/>
          </a:xfrm>
          <a:prstGeom prst="line">
            <a:avLst/>
          </a:prstGeom>
          <a:noFill/>
          <a:ln w="12700">
            <a:solidFill>
              <a:srgbClr val="E2DCD0"/>
            </a:solidFill>
            <a:prstDash val="solid"/>
          </a:ln>
        </p:spPr>
      </p:sp>
      <p:sp>
        <p:nvSpPr>
          <p:cNvPr id="18" name="Shape 15"/>
          <p:cNvSpPr/>
          <p:nvPr/>
        </p:nvSpPr>
        <p:spPr>
          <a:xfrm>
            <a:off x="6400800" y="3749040"/>
            <a:ext cx="5120640" cy="0"/>
          </a:xfrm>
          <a:prstGeom prst="line">
            <a:avLst/>
          </a:prstGeom>
          <a:noFill/>
          <a:ln w="12700">
            <a:solidFill>
              <a:srgbClr val="E2DCD0"/>
            </a:solidFill>
            <a:prstDash val="solid"/>
          </a:ln>
        </p:spPr>
      </p:sp>
      <p:sp>
        <p:nvSpPr>
          <p:cNvPr id="19" name="Text 16"/>
          <p:cNvSpPr txBox="1"/>
          <p:nvPr/>
        </p:nvSpPr>
        <p:spPr>
          <a:xfrm>
            <a:off x="640080" y="391363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Garde-fou de Xalaat limité au français</a:t>
            </a:r>
            <a:endParaRPr lang="en-US" sz="1600" dirty="0"/>
          </a:p>
        </p:txBody>
      </p:sp>
      <p:sp>
        <p:nvSpPr>
          <p:cNvPr id="20" name="Text 17"/>
          <p:cNvSpPr txBox="1"/>
          <p:nvPr/>
        </p:nvSpPr>
        <p:spPr>
          <a:xfrm>
            <a:off x="6400800" y="391363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Wolof dans l'interface et dans Xalaat</a:t>
            </a:r>
            <a:endParaRPr lang="en-US" sz="1600" dirty="0"/>
          </a:p>
        </p:txBody>
      </p:sp>
      <p:sp>
        <p:nvSpPr>
          <p:cNvPr id="21" name="Shape 18"/>
          <p:cNvSpPr/>
          <p:nvPr/>
        </p:nvSpPr>
        <p:spPr>
          <a:xfrm>
            <a:off x="640080" y="4526280"/>
            <a:ext cx="5120640" cy="0"/>
          </a:xfrm>
          <a:prstGeom prst="line">
            <a:avLst/>
          </a:prstGeom>
          <a:noFill/>
          <a:ln w="12700">
            <a:solidFill>
              <a:srgbClr val="E2DCD0"/>
            </a:solidFill>
            <a:prstDash val="solid"/>
          </a:ln>
        </p:spPr>
      </p:sp>
      <p:sp>
        <p:nvSpPr>
          <p:cNvPr id="22" name="Shape 19"/>
          <p:cNvSpPr/>
          <p:nvPr/>
        </p:nvSpPr>
        <p:spPr>
          <a:xfrm>
            <a:off x="6400800" y="4526280"/>
            <a:ext cx="5120640" cy="0"/>
          </a:xfrm>
          <a:prstGeom prst="line">
            <a:avLst/>
          </a:prstGeom>
          <a:noFill/>
          <a:ln w="12700">
            <a:solidFill>
              <a:srgbClr val="E2DCD0"/>
            </a:solidFill>
            <a:prstDash val="solid"/>
          </a:ln>
        </p:spPr>
      </p:sp>
      <p:sp>
        <p:nvSpPr>
          <p:cNvPr id="23" name="Text 20"/>
          <p:cNvSpPr txBox="1"/>
          <p:nvPr/>
        </p:nvSpPr>
        <p:spPr>
          <a:xfrm>
            <a:off x="640080" y="469087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Tests mobiles limités à la logique des modèles</a:t>
            </a:r>
            <a:endParaRPr lang="en-US" sz="1600" dirty="0"/>
          </a:p>
        </p:txBody>
      </p:sp>
      <p:sp>
        <p:nvSpPr>
          <p:cNvPr id="24" name="Text 21"/>
          <p:cNvSpPr txBox="1"/>
          <p:nvPr/>
        </p:nvSpPr>
        <p:spPr>
          <a:xfrm>
            <a:off x="6400800" y="4690872"/>
            <a:ext cx="5120640" cy="502920"/>
          </a:xfrm>
          <a:prstGeom prst="rect">
            <a:avLst/>
          </a:prstGeom>
          <a:noFill/>
          <a:ln/>
        </p:spPr>
        <p:txBody>
          <a:bodyPr wrap="square" lIns="0" tIns="0" rIns="0" bIns="0" rtlCol="0" anchor="t"/>
          <a:lstStyle/>
          <a:p>
            <a:pPr indent="0" marL="0">
              <a:buNone/>
            </a:pPr>
            <a:r>
              <a:rPr lang="en-US" sz="1600" dirty="0">
                <a:solidFill>
                  <a:srgbClr val="17140F"/>
                </a:solidFill>
                <a:latin typeface="Calibri" pitchFamily="34" charset="0"/>
                <a:ea typeface="Calibri" pitchFamily="34" charset="-122"/>
                <a:cs typeface="Calibri" pitchFamily="34" charset="-120"/>
              </a:rPr>
              <a:t>Permanence d'écoute avec les psychologues partenaires</a:t>
            </a:r>
            <a:endParaRPr lang="en-US" sz="1600" dirty="0"/>
          </a:p>
        </p:txBody>
      </p:sp>
      <p:sp>
        <p:nvSpPr>
          <p:cNvPr id="25" name="Shape 22"/>
          <p:cNvSpPr/>
          <p:nvPr/>
        </p:nvSpPr>
        <p:spPr>
          <a:xfrm>
            <a:off x="640080" y="5303520"/>
            <a:ext cx="5120640" cy="0"/>
          </a:xfrm>
          <a:prstGeom prst="line">
            <a:avLst/>
          </a:prstGeom>
          <a:noFill/>
          <a:ln w="12700">
            <a:solidFill>
              <a:srgbClr val="E2DCD0"/>
            </a:solidFill>
            <a:prstDash val="solid"/>
          </a:ln>
        </p:spPr>
      </p:sp>
      <p:sp>
        <p:nvSpPr>
          <p:cNvPr id="26" name="Shape 23"/>
          <p:cNvSpPr/>
          <p:nvPr/>
        </p:nvSpPr>
        <p:spPr>
          <a:xfrm>
            <a:off x="6400800" y="5303520"/>
            <a:ext cx="5120640" cy="0"/>
          </a:xfrm>
          <a:prstGeom prst="line">
            <a:avLst/>
          </a:prstGeom>
          <a:noFill/>
          <a:ln w="12700">
            <a:solidFill>
              <a:srgbClr val="E2DCD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100" dirty="0">
                <a:solidFill>
                  <a:srgbClr val="6B6458"/>
                </a:solidFill>
                <a:latin typeface="Calibri" pitchFamily="34" charset="0"/>
                <a:ea typeface="Calibri" pitchFamily="34" charset="-122"/>
                <a:cs typeface="Calibri" pitchFamily="34" charset="-120"/>
              </a:rPr>
              <a:t>14</a:t>
            </a:r>
            <a:endParaRPr lang="en-US" sz="1100" dirty="0"/>
          </a:p>
        </p:txBody>
      </p:sp>
      <p:sp>
        <p:nvSpPr>
          <p:cNvPr id="3"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B6458"/>
                </a:solidFill>
                <a:latin typeface="Calibri" pitchFamily="34" charset="0"/>
                <a:ea typeface="Calibri" pitchFamily="34" charset="-122"/>
                <a:cs typeface="Calibri" pitchFamily="34" charset="-120"/>
              </a:rPr>
              <a:t>Ndeye Maguette KANE — Soutenance de Master 2 SIR</a:t>
            </a:r>
            <a:endParaRPr lang="en-US" sz="1000" dirty="0"/>
          </a:p>
        </p:txBody>
      </p:sp>
      <p:sp>
        <p:nvSpPr>
          <p:cNvPr id="4" name="Shape 2"/>
          <p:cNvSpPr/>
          <p:nvPr/>
        </p:nvSpPr>
        <p:spPr>
          <a:xfrm>
            <a:off x="640080" y="6291072"/>
            <a:ext cx="10911535" cy="0"/>
          </a:xfrm>
          <a:prstGeom prst="line">
            <a:avLst/>
          </a:prstGeom>
          <a:noFill/>
          <a:ln w="12700">
            <a:solidFill>
              <a:srgbClr val="E2DCD0"/>
            </a:solidFill>
            <a:prstDash val="solid"/>
          </a:ln>
        </p:spPr>
      </p:sp>
      <p:sp>
        <p:nvSpPr>
          <p:cNvPr id="6" name="Text 3"/>
          <p:cNvSpPr txBox="1"/>
          <p:nvPr/>
        </p:nvSpPr>
        <p:spPr>
          <a:xfrm>
            <a:off x="640080" y="457200"/>
            <a:ext cx="10911535" cy="822960"/>
          </a:xfrm>
          <a:prstGeom prst="rect">
            <a:avLst/>
          </a:prstGeom>
          <a:noFill/>
          <a:ln/>
        </p:spPr>
        <p:txBody>
          <a:bodyPr wrap="square" lIns="0" tIns="0" rIns="0" bIns="0" rtlCol="0" anchor="t"/>
          <a:lstStyle/>
          <a:p>
            <a:pPr indent="0" marL="0">
              <a:buNone/>
            </a:pPr>
            <a:r>
              <a:rPr lang="en-US" sz="3000" b="1" dirty="0">
                <a:solidFill>
                  <a:srgbClr val="0F5347"/>
                </a:solidFill>
                <a:latin typeface="Calibri" pitchFamily="34" charset="0"/>
                <a:ea typeface="Calibri" pitchFamily="34" charset="-122"/>
                <a:cs typeface="Calibri" pitchFamily="34" charset="-120"/>
              </a:rPr>
              <a:t>Conclusion</a:t>
            </a:r>
            <a:endParaRPr lang="en-US" sz="3000" dirty="0"/>
          </a:p>
        </p:txBody>
      </p:sp>
      <p:sp>
        <p:nvSpPr>
          <p:cNvPr id="7" name="Text 4"/>
          <p:cNvSpPr txBox="1"/>
          <p:nvPr/>
        </p:nvSpPr>
        <p:spPr>
          <a:xfrm>
            <a:off x="640080" y="1463040"/>
            <a:ext cx="10515600" cy="1645920"/>
          </a:xfrm>
          <a:prstGeom prst="rect">
            <a:avLst/>
          </a:prstGeom>
          <a:noFill/>
          <a:ln/>
        </p:spPr>
        <p:txBody>
          <a:bodyPr wrap="square" lIns="0" tIns="0" rIns="0" bIns="0" rtlCol="0" anchor="t"/>
          <a:lstStyle/>
          <a:p>
            <a:pPr indent="0" marL="0">
              <a:buNone/>
            </a:pPr>
            <a:r>
              <a:rPr lang="en-US" sz="2200" dirty="0">
                <a:solidFill>
                  <a:srgbClr val="17140F"/>
                </a:solidFill>
                <a:latin typeface="Calibri" pitchFamily="34" charset="0"/>
                <a:ea typeface="Calibri" pitchFamily="34" charset="-122"/>
                <a:cs typeface="Calibri" pitchFamily="34" charset="-120"/>
              </a:rPr>
              <a:t>PsyConnect réunit, dans une seule application pensée pour le Sénégal, la mise en relation avec des psychologues vérifiés, la réservation, le paiement, la consultation à distance et un compagnon IA encadré.</a:t>
            </a:r>
            <a:endParaRPr lang="en-US" sz="2200" dirty="0"/>
          </a:p>
        </p:txBody>
      </p:sp>
      <p:sp>
        <p:nvSpPr>
          <p:cNvPr id="8" name="Shape 5"/>
          <p:cNvSpPr/>
          <p:nvPr/>
        </p:nvSpPr>
        <p:spPr>
          <a:xfrm>
            <a:off x="640080" y="3566160"/>
            <a:ext cx="10911535" cy="0"/>
          </a:xfrm>
          <a:prstGeom prst="line">
            <a:avLst/>
          </a:prstGeom>
          <a:noFill/>
          <a:ln w="12700">
            <a:solidFill>
              <a:srgbClr val="E2DCD0"/>
            </a:solidFill>
            <a:prstDash val="solid"/>
          </a:ln>
        </p:spPr>
      </p:sp>
      <p:sp>
        <p:nvSpPr>
          <p:cNvPr id="9" name="Text 6"/>
          <p:cNvSpPr txBox="1"/>
          <p:nvPr/>
        </p:nvSpPr>
        <p:spPr>
          <a:xfrm>
            <a:off x="640080" y="4023360"/>
            <a:ext cx="10911535" cy="731520"/>
          </a:xfrm>
          <a:prstGeom prst="rect">
            <a:avLst/>
          </a:prstGeom>
          <a:noFill/>
          <a:ln/>
        </p:spPr>
        <p:txBody>
          <a:bodyPr wrap="square" lIns="0" tIns="0" rIns="0" bIns="0" rtlCol="0" anchor="ctr"/>
          <a:lstStyle/>
          <a:p>
            <a:pPr algn="ctr" indent="0" marL="0">
              <a:buNone/>
            </a:pPr>
            <a:r>
              <a:rPr lang="en-US" sz="3400" b="1" dirty="0">
                <a:solidFill>
                  <a:srgbClr val="0F5347"/>
                </a:solidFill>
                <a:latin typeface="Calibri" pitchFamily="34" charset="0"/>
                <a:ea typeface="Calibri" pitchFamily="34" charset="-122"/>
                <a:cs typeface="Calibri" pitchFamily="34" charset="-120"/>
              </a:rPr>
              <a:t>Merci de votre attention</a:t>
            </a:r>
            <a:endParaRPr lang="en-US" sz="3400" dirty="0"/>
          </a:p>
        </p:txBody>
      </p:sp>
      <p:sp>
        <p:nvSpPr>
          <p:cNvPr id="10" name="Text 7"/>
          <p:cNvSpPr txBox="1"/>
          <p:nvPr/>
        </p:nvSpPr>
        <p:spPr>
          <a:xfrm>
            <a:off x="640080" y="4800600"/>
            <a:ext cx="10911535" cy="365760"/>
          </a:xfrm>
          <a:prstGeom prst="rect">
            <a:avLst/>
          </a:prstGeom>
          <a:noFill/>
          <a:ln/>
        </p:spPr>
        <p:txBody>
          <a:bodyPr wrap="square" lIns="0" tIns="0" rIns="0" bIns="0" rtlCol="0" anchor="t"/>
          <a:lstStyle/>
          <a:p>
            <a:pPr algn="ctr" indent="0" marL="0">
              <a:buNone/>
            </a:pPr>
            <a:r>
              <a:rPr lang="en-US" sz="1600" dirty="0">
                <a:solidFill>
                  <a:srgbClr val="6B6458"/>
                </a:solidFill>
                <a:latin typeface="Calibri" pitchFamily="34" charset="0"/>
                <a:ea typeface="Calibri" pitchFamily="34" charset="-122"/>
                <a:cs typeface="Calibri" pitchFamily="34" charset="-120"/>
              </a:rPr>
              <a:t>Je suis prête à répondre à vos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PsyConnect — Soutenance</dc:title>
  <dc:subject>PptxGenJS Presentation</dc:subject>
  <dc:creator>Ndeye Maguette Kane</dc:creator>
  <cp:lastModifiedBy>Ndeye Maguette Kane</cp:lastModifiedBy>
  <cp:revision>1</cp:revision>
  <dcterms:created xsi:type="dcterms:W3CDTF">2026-09-24T14:56:45Z</dcterms:created>
  <dcterms:modified xsi:type="dcterms:W3CDTF">2026-09-24T14:56:45Z</dcterms:modified>
</cp:coreProperties>
</file>