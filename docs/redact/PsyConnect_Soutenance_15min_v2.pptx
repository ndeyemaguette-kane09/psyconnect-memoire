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bc6c047-b775-77b0-0572-eed2d66c18a9}">
          <p14:sldIdLst>
            <p14:sldId id="256"/>
            <p14:sldId id="257"/>
            <p14:sldId id="258"/>
            <p14:sldId id="259"/>
          </p14:sldIdLst>
        </p14:section>
        <p14:section name="Solutions existantes" id="{0756ad57-3f1f-f60e-eef0-fa95f9b1867c}">
          <p14:sldIdLst>
            <p14:sldId id="260"/>
          </p14:sldIdLst>
        </p14:section>
        <p14:section name="Conception" id="{ee3d5a09-366e-8ee3-24a8-0d6bd1fe651d}">
          <p14:sldIdLst>
            <p14:sldId id="261"/>
            <p14:sldId id="262"/>
          </p14:sldIdLst>
        </p14:section>
        <p14:section name="Réalisation" id="{a1c4daa7-025c-81d0-e7b1-e45501335669}">
          <p14:sldIdLst>
            <p14:sldId id="263"/>
            <p14:sldId id="264"/>
            <p14:sldId id="265"/>
          </p14:sldIdLst>
        </p14:section>
        <p14:section name="Xalaat et sécurité" id="{65063d80-9dd9-467a-8ea6-3d84c58d7ae4}">
          <p14:sldIdLst>
            <p14:sldId id="266"/>
            <p14:sldId id="267"/>
          </p14:sldIdLst>
        </p14:section>
        <p14:section name="Conclusion" id="{17372671-e0ec-af8b-6212-043b2486b2a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bonjour.
Je m'appelle Ndeye Maguette Kane. Je vais vous présenter mon mémoire de Master 2 en Systèmes d'Information Répartis : PsyConnect, une plateforme mobile pour l'accès aux soins de santé mentale au Sénégal, réalisée sous la direction de M. Bassirou Touré.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commencerai par le contexte et la problématique, puis les solutions existantes. Je présenterai ensuite la conception et la réalisation, avec une courte démonstration. Je m'arrêterai sur deux points techniques que je trouve importants, avant de terminer par les limites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Sénégal, le problème n'est pas le soin, c'est l'accès au soin.
Le plan stratégique du ministère de la Santé recense 38 psychiatres pour tout le pays. Les services sont concentrés à Dakar. Et ce même plan note qu'il n'existe pas de numéro vert dédié aux urgences psychiatriques.
À cela s'ajoute la stigmatisation. Consulter un psychologue reste une démarche difficile, qu'on hésite à faire, et parfois qu'on cache.
En face, presque tout le monde a un téléphone. C'est de ce décalage qu'est parti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ma question : comment faciliter l'accès à des psychologues vérifiés, outiller les praticiens, et offrir un suivi continu, sécurisé et confidentiel, dans le contexte sénégalais ?
Les difficultés ne sont pas les mêmes pour chacun. Le patient ne sait pas à qui s'adresser, prend rendez-vous par téléphone et appréhende la première séance. Le psychologue manque de visibilité et gère son agenda et ses paiements à la main. Et personne ne vérifie facilement qu'un praticien est bien qualifié.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étudié dix applications avant d'écrire une ligne de code. Elles se rangent en trois familles.
Les grandes plateformes, comme BetterHelp, sont complètes mais inaccessibles ici : abonnement en dollars, aucun paiement local. Les solutions africaines, comme Consultel, connaissent le terrain mais font de la médecine générale, pas de la santé mentale. Et les compagnons IA, comme Wysa, n'offrent aucune mise en relation avec un professionnel.
Aucune ne réunit ces dimensions pour le Sénégal. C'est la place de PsyConnect.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PsyConnect, c'est une seule application qui s'adapte à trois rôles.
Le patient trouve un psychologue vérifié, avec des recommandations adaptées à son besoin. Il réserve un créneau, paie depuis son solde et consulte en vidéo ou en audio. Il dispose aussi d'un journal, des questionnaires PHQ-9 et GAD-7, du compagnon Xalaat, et peut utiliser un pseudonyme.
Le psychologue n'est visible qu'après validation de son justificatif. Il gère ses disponibilités, son agenda, ses notes cliniques privées et ses revenus.
L'administrateur valide les praticiens, traite les signalements et diffuse des annonces.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a été modélisé en UML avant et pendant le développement : onze diagrammes au total. Trois diagrammes de cas d'utilisation, un par acteur ; deux diagrammes de classes ; quatre diagrammes de séquence pour les flux principaux ; et deux diagrammes d'activités pour la réservation et l'annulation.
Ces diagrammes ont été vérifiés par rapport au code : ils décrivent ce qui existe, pas ce qui était prévu.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PsyConnect repose sur une architecture microservices. L'application Flutter parle à une passerelle unique, qui trouve les services grâce à un annuaire, Eureka. Derrière, huit services : sept en Java avec Spring Boot, et un en Python, pour la recommandation. Chaque service qui stocke des données a sa propre base PostgreSQL.
Pourquoi ce choix ? Trois raisons concrètes.
D'abord, il m'a permis d'utiliser deux langages : Python pour la recommandation, Java pour le reste.
Ensuite, une panne reste locale. Si le compagnon IA ralentit ou tombe, les rendez-vous et les paiements continuent de fonctionner.
Enfin, je l'ai vérifié en cours de projet : j'ai extrait le paiement dans un service dédié sans toucher au reste du système.
Ce choix a un coût, et je l'assume : plus de services à lancer, et un débogage plus difficile, que j'ai compensé avec du traçage distribué, Zipkin.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premier point technique sur lequel je voulais insister.
Quand un service ne répond pas, le système ne réagit pas partout de la même façon. J'ai choisi de tomber en marche ou de tomber fermé selon l'enjeu.
Si le service de notifications est en panne, le rendez-vous est quand même créé : une notification perdue est tolérable.
Si le service qui vérifie l'identité est en panne, l'opération est refusée. Sans savoir qui fait la demande, laisser passer serait une faille.
Et si le remboursement échoue lors d'une annulation, l'annulation aboutit, mais l'échec est journalisé pour qu'un remboursement manuel soit fait.
Les cas des notifications et de l'identité sont couverts par des tests automatisés.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de voir l'application en fonctionnement, à travers le parcours d'un patient : il cherche un psychologue, réserve, le psychologue confirme, le patient paie, puis la consultation vidéo commence.
[Lancer la vidéo. Pendant qu'elle tourne, tu peux commenter brièvement chaque étape, ou la laisser parler d'elle-même.]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point, c'est Xalaat, notre compagnon IA. Xalaat signifie « pensée, réflexion » en wolof.
Son rôle est d'aider le patient à préparer sa première consultation : comprendre comment elle se déroule, mettre des mots sur ce qu'il ressent. Il ne pose jamais de diagnostic et ne remplace pas le psychologue.
Le modèle de langage tourne en local, avec Ollama : aucune conversation ne part chez un fournisseur extérieur, et rien n'est enregistré, ni sur le serveur ni sur le téléphone.
Mais mettre une IA face à quelqu'un qui va mal pose une vraie question : que se passe-t-il si la personne exprime des idées suicidaires ? Un modèle de langage est probabiliste. Il peut dériver si on insiste. Sur ce sujet, « ça marche la plupart du temps » n'est pas acceptable.
J'ai donc placé un filtre déterministe avant le modèle. Si le message contient une formulation de détresse, le modèle n'est pas appelé. La réponse est un message fixe, avec le SAMU et le numéro vert du ministère.
Ce filtre a ses limites. Il reconnaît des formulations en français, pas le wolof ni l'argot. C'est un filet de sécurité, pas un diagnostic. Il est couvert par un test automatisé, qui m'a d'ailleurs permis de trouver et de corriger trois défauts.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il s'agit de données de santé, la sécurité a été pensée à chaque niveau. Chaque service vérifie lui-même le jeton d'authentification. Le serveur vérifie qu'un patient n'accède qu'à ses propres données. Les mots de passe sont hachés. Le mode anonyme remplace le nom du patient par un pseudo côté psychologue. Et les notes cliniques ne sont visibles que par leur auteur.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tiens à être claire sur les limites.
Le paiement mobile est simulé : les API de Wave et d'Orange Money nécessitent un contrat commercial. Le déploiement est local, sans chiffrement des échanges. Le filtre de Xalaat ne couvre que le français. Et côté mobile, les tests automatisés se limitent à la logique des modèles.
Chacune de ces limites ouvre une perspective : intégrer les vrais opérateurs de paiement, passer en production, ajouter le wolof dans l'interface et dans Xalaat, et, à plus long terme, construire une permanence d'écoute avec les psychologues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PsyConnect réunit dans une seule application, pensée pour le Sénégal, la mise en relation avec des psychologues vérifiés, la réservation, le paiement, la consultation à distance et un compagnon IA encadré.
Ce projet m'a appris à construire un système distribué complet, et surtout à le remettre en question.
Je vous remercie de votre attention,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dirty="0">
                <a:solidFill>
                  <a:srgbClr val="6B645A"/>
                </a:solidFill>
              </a:rPr>
              <a:t>Ndeye Maguette KANE — Soutenance de Master 2 SIR</a:t>
            </a:r>
            <a:endParaRPr lang="en-US" sz="1000" dirty="0"/>
          </a:p>
        </p:txBody>
      </p:sp>
      <p:pic>
        <p:nvPicPr>
          <p:cNvPr id="3" name="Image 0" descr="preencoded.png">    </p:cNvPr>
          <p:cNvPicPr>
            <a:picLocks noChangeAspect="1"/>
          </p:cNvPicPr>
          <p:nvPr/>
        </p:nvPicPr>
        <p:blipFill>
          <a:blip r:embed="rId1"/>
          <a:stretch>
            <a:fillRect/>
          </a:stretch>
        </p:blipFill>
        <p:spPr>
          <a:xfrm>
            <a:off x="11076127" y="6345936"/>
            <a:ext cx="566928" cy="301752"/>
          </a:xfrm>
          <a:prstGeom prst="rect">
            <a:avLst/>
          </a:prstGeom>
        </p:spPr>
      </p:pic>
      <p:sp>
        <p:nvSpPr>
          <p:cNvPr id="4" name="Text 1"/>
          <p:cNvSpPr/>
          <p:nvPr>
            <p:ph idx="102"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rgbClr val="1E4D43"/>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solidFill>
          <a:srgbClr val="1E4D4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t"/>
          <a:lstStyle/>
          <a:p>
            <a:pPr indent="0" marL="0">
              <a:buNone/>
            </a:pPr>
            <a:r>
              <a:rPr lang="en-US" sz="1200" dirty="0">
                <a:solidFill>
                  <a:srgbClr val="DCE7E0"/>
                </a:solidFill>
              </a:rPr>
              <a:t>Université Cheikh Anta Diop de Dakar</a:t>
            </a:r>
            <a:endParaRPr lang="en-US" sz="1200" dirty="0"/>
          </a:p>
          <a:p>
            <a:pPr indent="0" marL="0">
              <a:buNone/>
            </a:pPr>
            <a:r>
              <a:rPr lang="en-US" sz="1200" dirty="0">
                <a:solidFill>
                  <a:srgbClr val="DCE7E0"/>
                </a:solidFill>
              </a:rPr>
              <a:t>Faculté des Sciences et Techniques · Département de Mathématiques et Informatique</a:t>
            </a:r>
            <a:endParaRPr lang="en-US" sz="1200" dirty="0"/>
          </a:p>
        </p:txBody>
      </p:sp>
      <p:sp>
        <p:nvSpPr>
          <p:cNvPr id="3" name="Shape 1"/>
          <p:cNvSpPr/>
          <p:nvPr/>
        </p:nvSpPr>
        <p:spPr>
          <a:xfrm>
            <a:off x="548640" y="1417320"/>
            <a:ext cx="1143000" cy="1143000"/>
          </a:xfrm>
          <a:prstGeom prst="ellipse">
            <a:avLst/>
          </a:prstGeom>
          <a:solidFill>
            <a:srgbClr val="FFFFFF">
              <a:alpha val="14000"/>
            </a:srgbClr>
          </a:solidFill>
          <a:ln w="15875">
            <a:solidFill>
              <a:srgbClr val="FFFFFF">
                <a:alpha val="35000"/>
              </a:srgbClr>
            </a:solidFill>
            <a:prstDash val="solid"/>
          </a:ln>
        </p:spPr>
      </p:sp>
      <p:pic>
        <p:nvPicPr>
          <p:cNvPr id="4" name="Image 0" descr="preencoded.png">    </p:cNvPr>
          <p:cNvPicPr>
            <a:picLocks noChangeAspect="1"/>
          </p:cNvPicPr>
          <p:nvPr/>
        </p:nvPicPr>
        <p:blipFill>
          <a:blip r:embed="rId1"/>
          <a:stretch>
            <a:fillRect/>
          </a:stretch>
        </p:blipFill>
        <p:spPr>
          <a:xfrm>
            <a:off x="731520" y="1746504"/>
            <a:ext cx="777240" cy="411480"/>
          </a:xfrm>
          <a:prstGeom prst="rect">
            <a:avLst/>
          </a:prstGeom>
        </p:spPr>
      </p:pic>
      <p:sp>
        <p:nvSpPr>
          <p:cNvPr id="5" name="Text 2"/>
          <p:cNvSpPr txBox="1"/>
          <p:nvPr/>
        </p:nvSpPr>
        <p:spPr>
          <a:xfrm>
            <a:off x="548640" y="2743200"/>
            <a:ext cx="6858000" cy="914400"/>
          </a:xfrm>
          <a:prstGeom prst="rect">
            <a:avLst/>
          </a:prstGeom>
          <a:noFill/>
          <a:ln/>
        </p:spPr>
        <p:txBody>
          <a:bodyPr wrap="square" lIns="0" tIns="0" rIns="0" bIns="0" rtlCol="0" anchor="ctr"/>
          <a:lstStyle/>
          <a:p>
            <a:pPr indent="0" marL="0">
              <a:buNone/>
            </a:pPr>
            <a:r>
              <a:rPr lang="en-US" sz="5400" b="1" dirty="0">
                <a:solidFill>
                  <a:srgbClr val="FFFFFF"/>
                </a:solidFill>
              </a:rPr>
              <a:t>PsyConnect</a:t>
            </a:r>
            <a:endParaRPr lang="en-US" sz="5400" dirty="0"/>
          </a:p>
        </p:txBody>
      </p:sp>
      <p:sp>
        <p:nvSpPr>
          <p:cNvPr id="6" name="Shape 3"/>
          <p:cNvSpPr/>
          <p:nvPr/>
        </p:nvSpPr>
        <p:spPr>
          <a:xfrm>
            <a:off x="548640" y="3703320"/>
            <a:ext cx="4937760" cy="329184"/>
          </a:xfrm>
          <a:prstGeom prst="roundRect">
            <a:avLst>
              <a:gd name="adj" fmla="val 50000"/>
            </a:avLst>
          </a:prstGeom>
          <a:solidFill>
            <a:srgbClr val="4F8C7B"/>
          </a:solidFill>
          <a:ln w="12700">
            <a:solidFill>
              <a:srgbClr val="4F8C7B"/>
            </a:solidFill>
            <a:prstDash val="solid"/>
          </a:ln>
        </p:spPr>
      </p:sp>
      <p:sp>
        <p:nvSpPr>
          <p:cNvPr id="7" name="Text 4"/>
          <p:cNvSpPr txBox="1"/>
          <p:nvPr/>
        </p:nvSpPr>
        <p:spPr>
          <a:xfrm>
            <a:off x="548640" y="3703320"/>
            <a:ext cx="4937760" cy="329184"/>
          </a:xfrm>
          <a:prstGeom prst="rect">
            <a:avLst/>
          </a:prstGeom>
          <a:noFill/>
          <a:ln/>
        </p:spPr>
        <p:txBody>
          <a:bodyPr wrap="square" lIns="0" tIns="0" rIns="0" bIns="0" rtlCol="0" anchor="ctr"/>
          <a:lstStyle/>
          <a:p>
            <a:pPr algn="ctr" indent="0" marL="0">
              <a:buNone/>
            </a:pPr>
            <a:r>
              <a:rPr lang="en-US" sz="1100" b="1" dirty="0">
                <a:solidFill>
                  <a:srgbClr val="FFFFFF"/>
                </a:solidFill>
              </a:rPr>
              <a:t>MÉMOIRE DE MASTER 2 · SYSTÈMES D'INFORMATION RÉPARTIS</a:t>
            </a:r>
            <a:endParaRPr lang="en-US" sz="1100" dirty="0"/>
          </a:p>
        </p:txBody>
      </p:sp>
      <p:sp>
        <p:nvSpPr>
          <p:cNvPr id="8" name="Text 5"/>
          <p:cNvSpPr txBox="1"/>
          <p:nvPr/>
        </p:nvSpPr>
        <p:spPr>
          <a:xfrm>
            <a:off x="548640" y="4206240"/>
            <a:ext cx="6583680" cy="868680"/>
          </a:xfrm>
          <a:prstGeom prst="rect">
            <a:avLst/>
          </a:prstGeom>
          <a:noFill/>
          <a:ln/>
        </p:spPr>
        <p:txBody>
          <a:bodyPr wrap="square" lIns="0" tIns="0" rIns="0" bIns="0" rtlCol="0" anchor="t"/>
          <a:lstStyle/>
          <a:p>
            <a:pPr indent="0" marL="0">
              <a:buNone/>
            </a:pPr>
            <a:r>
              <a:rPr lang="en-US" sz="1900" dirty="0">
                <a:solidFill>
                  <a:srgbClr val="FFFFFF"/>
                </a:solidFill>
              </a:rPr>
              <a:t>Conception et réalisation d'une plateforme mobile intelligente pour l'accès aux soins de santé mentale au Sénégal</a:t>
            </a:r>
            <a:endParaRPr lang="en-US" sz="1900" dirty="0"/>
          </a:p>
        </p:txBody>
      </p:sp>
      <p:sp>
        <p:nvSpPr>
          <p:cNvPr id="9" name="Text 6"/>
          <p:cNvSpPr txBox="1"/>
          <p:nvPr/>
        </p:nvSpPr>
        <p:spPr>
          <a:xfrm>
            <a:off x="548640" y="5440680"/>
            <a:ext cx="2926080" cy="548640"/>
          </a:xfrm>
          <a:prstGeom prst="rect">
            <a:avLst/>
          </a:prstGeom>
          <a:noFill/>
          <a:ln/>
        </p:spPr>
        <p:txBody>
          <a:bodyPr wrap="square" lIns="0" tIns="0" rIns="0" bIns="0" rtlCol="0" anchor="t"/>
          <a:lstStyle/>
          <a:p>
            <a:pPr indent="0" marL="0">
              <a:buNone/>
            </a:pPr>
            <a:r>
              <a:rPr lang="en-US" sz="1100" dirty="0">
                <a:solidFill>
                  <a:srgbClr val="DCE7E0"/>
                </a:solidFill>
              </a:rPr>
              <a:t>Présenté par</a:t>
            </a:r>
            <a:endParaRPr lang="en-US" sz="1400" dirty="0"/>
          </a:p>
          <a:p>
            <a:pPr indent="0" marL="0">
              <a:buNone/>
            </a:pPr>
            <a:r>
              <a:rPr lang="en-US" sz="1500" b="1" dirty="0">
                <a:solidFill>
                  <a:srgbClr val="FFFFFF"/>
                </a:solidFill>
              </a:rPr>
              <a:t>Ndeye Maguette KANE</a:t>
            </a:r>
            <a:endParaRPr lang="en-US" sz="1400" dirty="0"/>
          </a:p>
        </p:txBody>
      </p:sp>
      <p:sp>
        <p:nvSpPr>
          <p:cNvPr id="10" name="Text 7"/>
          <p:cNvSpPr txBox="1"/>
          <p:nvPr/>
        </p:nvSpPr>
        <p:spPr>
          <a:xfrm>
            <a:off x="3657600" y="5440680"/>
            <a:ext cx="4206240" cy="548640"/>
          </a:xfrm>
          <a:prstGeom prst="rect">
            <a:avLst/>
          </a:prstGeom>
          <a:noFill/>
          <a:ln/>
        </p:spPr>
        <p:txBody>
          <a:bodyPr wrap="square" lIns="0" tIns="0" rIns="0" bIns="0" rtlCol="0" anchor="t"/>
          <a:lstStyle/>
          <a:p>
            <a:pPr indent="0" marL="0">
              <a:buNone/>
            </a:pPr>
            <a:r>
              <a:rPr lang="en-US" sz="1100" dirty="0">
                <a:solidFill>
                  <a:srgbClr val="DCE7E0"/>
                </a:solidFill>
              </a:rPr>
              <a:t>Sous la direction de</a:t>
            </a:r>
            <a:endParaRPr lang="en-US" sz="1400" dirty="0"/>
          </a:p>
          <a:p>
            <a:pPr indent="0" marL="0">
              <a:buNone/>
            </a:pPr>
            <a:r>
              <a:rPr lang="en-US" sz="1500" b="1" dirty="0">
                <a:solidFill>
                  <a:srgbClr val="FFFFFF"/>
                </a:solidFill>
              </a:rPr>
              <a:t>M. Bassirou TOURÉ, Maître de conférences</a:t>
            </a:r>
            <a:endParaRPr lang="en-US" sz="1400" dirty="0"/>
          </a:p>
        </p:txBody>
      </p:sp>
      <p:sp>
        <p:nvSpPr>
          <p:cNvPr id="11" name="Text 8"/>
          <p:cNvSpPr txBox="1"/>
          <p:nvPr/>
        </p:nvSpPr>
        <p:spPr>
          <a:xfrm>
            <a:off x="548640" y="6263640"/>
            <a:ext cx="3657600" cy="274320"/>
          </a:xfrm>
          <a:prstGeom prst="rect">
            <a:avLst/>
          </a:prstGeom>
          <a:noFill/>
          <a:ln/>
        </p:spPr>
        <p:txBody>
          <a:bodyPr wrap="square" lIns="0" tIns="0" rIns="0" bIns="0" rtlCol="0" anchor="t"/>
          <a:lstStyle/>
          <a:p>
            <a:pPr indent="0" marL="0">
              <a:buNone/>
            </a:pPr>
            <a:r>
              <a:rPr lang="en-US" sz="1100" dirty="0">
                <a:solidFill>
                  <a:srgbClr val="DCE7E0"/>
                </a:solidFill>
              </a:rPr>
              <a:t>Année universitaire 2025–2026</a:t>
            </a:r>
            <a:endParaRPr lang="en-US" sz="1100" dirty="0"/>
          </a:p>
        </p:txBody>
      </p:sp>
      <p:pic>
        <p:nvPicPr>
          <p:cNvPr id="12" name="Image 1" descr="/tmp/claude-0/-home-claude/b65661ba-79a0-54f1-a3cb-20b33955440c/scratchpad/ppt/img/accueil_patient.png">    </p:cNvPr>
          <p:cNvPicPr>
            <a:picLocks noChangeAspect="1"/>
          </p:cNvPicPr>
          <p:nvPr/>
        </p:nvPicPr>
        <p:blipFill>
          <a:blip r:embed="rId2"/>
          <a:stretch>
            <a:fillRect/>
          </a:stretch>
        </p:blipFill>
        <p:spPr>
          <a:xfrm>
            <a:off x="8549640" y="777240"/>
            <a:ext cx="2530803" cy="5303520"/>
          </a:xfrm>
          <a:prstGeom prst="rect">
            <a:avLst/>
          </a:prstGeom>
        </p:spPr>
      </p:pic>
      <p:sp>
        <p:nvSpPr>
          <p:cNvPr id="13" name="Text 9"/>
          <p:cNvSpPr txBox="1"/>
          <p:nvPr/>
        </p:nvSpPr>
        <p:spPr>
          <a:xfrm>
            <a:off x="7680960" y="6217920"/>
            <a:ext cx="4023360" cy="320040"/>
          </a:xfrm>
          <a:prstGeom prst="rect">
            <a:avLst/>
          </a:prstGeom>
          <a:noFill/>
          <a:ln/>
        </p:spPr>
        <p:txBody>
          <a:bodyPr wrap="square" lIns="0" tIns="0" rIns="0" bIns="0" rtlCol="0" anchor="t"/>
          <a:lstStyle/>
          <a:p>
            <a:pPr algn="ctr" indent="0" marL="0">
              <a:buNone/>
            </a:pPr>
            <a:r>
              <a:rPr lang="en-US" sz="1200" i="1" dirty="0">
                <a:solidFill>
                  <a:srgbClr val="D2A04A"/>
                </a:solidFill>
              </a:rPr>
              <a:t>Votre santé mentale, entre de bonnes mains.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Plan de la présentation</a:t>
            </a:r>
            <a:endParaRPr lang="en-US" sz="3200" dirty="0"/>
          </a:p>
        </p:txBody>
      </p:sp>
      <p:sp>
        <p:nvSpPr>
          <p:cNvPr id="3" name="plan-1"/>
          <p:cNvSpPr/>
          <p:nvPr/>
        </p:nvSpPr>
        <p:spPr>
          <a:xfrm>
            <a:off x="548640" y="1463040"/>
            <a:ext cx="3515258" cy="1965960"/>
          </a:xfrm>
          <a:prstGeom prst="roundRect">
            <a:avLst>
              <a:gd name="adj" fmla="val 6512"/>
            </a:avLst>
          </a:prstGeom>
          <a:solidFill>
            <a:srgbClr val="FFFFFF"/>
          </a:solidFill>
          <a:ln w="12700">
            <a:solidFill>
              <a:srgbClr val="E6DFD3"/>
            </a:solidFill>
            <a:prstDash val="solid"/>
          </a:ln>
        </p:spPr>
      </p:sp>
      <p:sp>
        <p:nvSpPr>
          <p:cNvPr id="4" name="Shape 2"/>
          <p:cNvSpPr/>
          <p:nvPr/>
        </p:nvSpPr>
        <p:spPr>
          <a:xfrm>
            <a:off x="868680" y="1783080"/>
            <a:ext cx="566928" cy="566928"/>
          </a:xfrm>
          <a:prstGeom prst="ellipse">
            <a:avLst/>
          </a:prstGeom>
          <a:solidFill>
            <a:srgbClr val="DCE7E0"/>
          </a:solidFill>
          <a:ln w="12700">
            <a:solidFill>
              <a:srgbClr val="DCE7E0"/>
            </a:solidFill>
            <a:prstDash val="solid"/>
          </a:ln>
        </p:spPr>
      </p:sp>
      <p:sp>
        <p:nvSpPr>
          <p:cNvPr id="5" name="Text 3"/>
          <p:cNvSpPr txBox="1"/>
          <p:nvPr/>
        </p:nvSpPr>
        <p:spPr>
          <a:xfrm>
            <a:off x="868680"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1</a:t>
            </a:r>
            <a:endParaRPr lang="en-US" sz="1800" dirty="0"/>
          </a:p>
        </p:txBody>
      </p:sp>
      <p:sp>
        <p:nvSpPr>
          <p:cNvPr id="6" name="Text 4"/>
          <p:cNvSpPr txBox="1"/>
          <p:nvPr/>
        </p:nvSpPr>
        <p:spPr>
          <a:xfrm>
            <a:off x="868680"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Contexte et problématique</a:t>
            </a:r>
            <a:endParaRPr lang="en-US" sz="1800" dirty="0"/>
          </a:p>
        </p:txBody>
      </p:sp>
      <p:sp>
        <p:nvSpPr>
          <p:cNvPr id="7" name="Text 5"/>
          <p:cNvSpPr txBox="1"/>
          <p:nvPr/>
        </p:nvSpPr>
        <p:spPr>
          <a:xfrm>
            <a:off x="868680"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L'accès aux soins de santé mentale au Sénégal</a:t>
            </a:r>
            <a:endParaRPr lang="en-US" sz="1400" dirty="0"/>
          </a:p>
        </p:txBody>
      </p:sp>
      <p:sp>
        <p:nvSpPr>
          <p:cNvPr id="8" name="plan-2"/>
          <p:cNvSpPr/>
          <p:nvPr/>
        </p:nvSpPr>
        <p:spPr>
          <a:xfrm>
            <a:off x="4338218" y="1463040"/>
            <a:ext cx="3515258" cy="1965960"/>
          </a:xfrm>
          <a:prstGeom prst="roundRect">
            <a:avLst>
              <a:gd name="adj" fmla="val 6512"/>
            </a:avLst>
          </a:prstGeom>
          <a:solidFill>
            <a:srgbClr val="FFFFFF"/>
          </a:solidFill>
          <a:ln w="12700">
            <a:solidFill>
              <a:srgbClr val="E6DFD3"/>
            </a:solidFill>
            <a:prstDash val="solid"/>
          </a:ln>
        </p:spPr>
      </p:sp>
      <p:sp>
        <p:nvSpPr>
          <p:cNvPr id="9" name="Shape 7"/>
          <p:cNvSpPr/>
          <p:nvPr/>
        </p:nvSpPr>
        <p:spPr>
          <a:xfrm>
            <a:off x="4658258" y="1783080"/>
            <a:ext cx="566928" cy="566928"/>
          </a:xfrm>
          <a:prstGeom prst="ellipse">
            <a:avLst/>
          </a:prstGeom>
          <a:solidFill>
            <a:srgbClr val="DCE7E0"/>
          </a:solidFill>
          <a:ln w="12700">
            <a:solidFill>
              <a:srgbClr val="DCE7E0"/>
            </a:solidFill>
            <a:prstDash val="solid"/>
          </a:ln>
        </p:spPr>
      </p:sp>
      <p:sp>
        <p:nvSpPr>
          <p:cNvPr id="10" name="Text 8"/>
          <p:cNvSpPr txBox="1"/>
          <p:nvPr/>
        </p:nvSpPr>
        <p:spPr>
          <a:xfrm>
            <a:off x="4658258"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2</a:t>
            </a:r>
            <a:endParaRPr lang="en-US" sz="1800" dirty="0"/>
          </a:p>
        </p:txBody>
      </p:sp>
      <p:sp>
        <p:nvSpPr>
          <p:cNvPr id="11" name="Text 9"/>
          <p:cNvSpPr txBox="1"/>
          <p:nvPr/>
        </p:nvSpPr>
        <p:spPr>
          <a:xfrm>
            <a:off x="4658258"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Solutions existantes</a:t>
            </a:r>
            <a:endParaRPr lang="en-US" sz="1800" dirty="0"/>
          </a:p>
        </p:txBody>
      </p:sp>
      <p:sp>
        <p:nvSpPr>
          <p:cNvPr id="12" name="Text 10"/>
          <p:cNvSpPr txBox="1"/>
          <p:nvPr/>
        </p:nvSpPr>
        <p:spPr>
          <a:xfrm>
            <a:off x="4658258"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Dix applications étudiées</a:t>
            </a:r>
            <a:endParaRPr lang="en-US" sz="1400" dirty="0"/>
          </a:p>
        </p:txBody>
      </p:sp>
      <p:sp>
        <p:nvSpPr>
          <p:cNvPr id="13" name="plan-3"/>
          <p:cNvSpPr/>
          <p:nvPr/>
        </p:nvSpPr>
        <p:spPr>
          <a:xfrm>
            <a:off x="8127797" y="1463040"/>
            <a:ext cx="3515258" cy="1965960"/>
          </a:xfrm>
          <a:prstGeom prst="roundRect">
            <a:avLst>
              <a:gd name="adj" fmla="val 6512"/>
            </a:avLst>
          </a:prstGeom>
          <a:solidFill>
            <a:srgbClr val="FFFFFF"/>
          </a:solidFill>
          <a:ln w="12700">
            <a:solidFill>
              <a:srgbClr val="E6DFD3"/>
            </a:solidFill>
            <a:prstDash val="solid"/>
          </a:ln>
        </p:spPr>
      </p:sp>
      <p:sp>
        <p:nvSpPr>
          <p:cNvPr id="14" name="Shape 12"/>
          <p:cNvSpPr/>
          <p:nvPr/>
        </p:nvSpPr>
        <p:spPr>
          <a:xfrm>
            <a:off x="8447837" y="1783080"/>
            <a:ext cx="566928" cy="566928"/>
          </a:xfrm>
          <a:prstGeom prst="ellipse">
            <a:avLst/>
          </a:prstGeom>
          <a:solidFill>
            <a:srgbClr val="DCE7E0"/>
          </a:solidFill>
          <a:ln w="12700">
            <a:solidFill>
              <a:srgbClr val="DCE7E0"/>
            </a:solidFill>
            <a:prstDash val="solid"/>
          </a:ln>
        </p:spPr>
      </p:sp>
      <p:sp>
        <p:nvSpPr>
          <p:cNvPr id="15" name="Text 13"/>
          <p:cNvSpPr txBox="1"/>
          <p:nvPr/>
        </p:nvSpPr>
        <p:spPr>
          <a:xfrm>
            <a:off x="8447837"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3</a:t>
            </a:r>
            <a:endParaRPr lang="en-US" sz="1800" dirty="0"/>
          </a:p>
        </p:txBody>
      </p:sp>
      <p:sp>
        <p:nvSpPr>
          <p:cNvPr id="16" name="Text 14"/>
          <p:cNvSpPr txBox="1"/>
          <p:nvPr/>
        </p:nvSpPr>
        <p:spPr>
          <a:xfrm>
            <a:off x="8447837"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Conception</a:t>
            </a:r>
            <a:endParaRPr lang="en-US" sz="1800" dirty="0"/>
          </a:p>
        </p:txBody>
      </p:sp>
      <p:sp>
        <p:nvSpPr>
          <p:cNvPr id="17" name="Text 15"/>
          <p:cNvSpPr txBox="1"/>
          <p:nvPr/>
        </p:nvSpPr>
        <p:spPr>
          <a:xfrm>
            <a:off x="8447837"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Acteurs et modélisation UML</a:t>
            </a:r>
            <a:endParaRPr lang="en-US" sz="1400" dirty="0"/>
          </a:p>
        </p:txBody>
      </p:sp>
      <p:sp>
        <p:nvSpPr>
          <p:cNvPr id="18" name="plan-4"/>
          <p:cNvSpPr/>
          <p:nvPr/>
        </p:nvSpPr>
        <p:spPr>
          <a:xfrm>
            <a:off x="548640" y="3703320"/>
            <a:ext cx="3515258" cy="1965960"/>
          </a:xfrm>
          <a:prstGeom prst="roundRect">
            <a:avLst>
              <a:gd name="adj" fmla="val 6512"/>
            </a:avLst>
          </a:prstGeom>
          <a:solidFill>
            <a:srgbClr val="FFFFFF"/>
          </a:solidFill>
          <a:ln w="12700">
            <a:solidFill>
              <a:srgbClr val="E6DFD3"/>
            </a:solidFill>
            <a:prstDash val="solid"/>
          </a:ln>
        </p:spPr>
      </p:sp>
      <p:sp>
        <p:nvSpPr>
          <p:cNvPr id="19" name="Shape 17"/>
          <p:cNvSpPr/>
          <p:nvPr/>
        </p:nvSpPr>
        <p:spPr>
          <a:xfrm>
            <a:off x="868680" y="4023360"/>
            <a:ext cx="566928" cy="566928"/>
          </a:xfrm>
          <a:prstGeom prst="ellipse">
            <a:avLst/>
          </a:prstGeom>
          <a:solidFill>
            <a:srgbClr val="1E4D43"/>
          </a:solidFill>
          <a:ln w="12700">
            <a:solidFill>
              <a:srgbClr val="1E4D43"/>
            </a:solidFill>
            <a:prstDash val="solid"/>
          </a:ln>
        </p:spPr>
      </p:sp>
      <p:sp>
        <p:nvSpPr>
          <p:cNvPr id="20" name="Text 18"/>
          <p:cNvSpPr txBox="1"/>
          <p:nvPr/>
        </p:nvSpPr>
        <p:spPr>
          <a:xfrm>
            <a:off x="868680" y="40233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868680"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Réalisation</a:t>
            </a:r>
            <a:endParaRPr lang="en-US" sz="1800" dirty="0"/>
          </a:p>
        </p:txBody>
      </p:sp>
      <p:sp>
        <p:nvSpPr>
          <p:cNvPr id="22" name="Text 20"/>
          <p:cNvSpPr txBox="1"/>
          <p:nvPr/>
        </p:nvSpPr>
        <p:spPr>
          <a:xfrm>
            <a:off x="868680" y="5093208"/>
            <a:ext cx="2875178" cy="457200"/>
          </a:xfrm>
          <a:prstGeom prst="rect">
            <a:avLst/>
          </a:prstGeom>
          <a:noFill/>
          <a:ln/>
        </p:spPr>
        <p:txBody>
          <a:bodyPr wrap="square" lIns="0" tIns="0" rIns="0" bIns="0" rtlCol="0" anchor="t"/>
          <a:lstStyle/>
          <a:p>
            <a:pPr indent="0" marL="0">
              <a:buNone/>
            </a:pPr>
            <a:r>
              <a:rPr lang="en-US" sz="1400" dirty="0">
                <a:solidFill>
                  <a:srgbClr val="6B645A"/>
                </a:solidFill>
              </a:rPr>
              <a:t>Architecture, résilience et démonstration</a:t>
            </a:r>
            <a:endParaRPr lang="en-US" sz="1400" dirty="0"/>
          </a:p>
        </p:txBody>
      </p:sp>
      <p:sp>
        <p:nvSpPr>
          <p:cNvPr id="23" name="plan-5"/>
          <p:cNvSpPr/>
          <p:nvPr/>
        </p:nvSpPr>
        <p:spPr>
          <a:xfrm>
            <a:off x="4338218" y="3703320"/>
            <a:ext cx="3515258" cy="1965960"/>
          </a:xfrm>
          <a:prstGeom prst="roundRect">
            <a:avLst>
              <a:gd name="adj" fmla="val 6512"/>
            </a:avLst>
          </a:prstGeom>
          <a:solidFill>
            <a:srgbClr val="FFFFFF"/>
          </a:solidFill>
          <a:ln w="12700">
            <a:solidFill>
              <a:srgbClr val="E6DFD3"/>
            </a:solidFill>
            <a:prstDash val="solid"/>
          </a:ln>
        </p:spPr>
      </p:sp>
      <p:sp>
        <p:nvSpPr>
          <p:cNvPr id="24" name="Shape 22"/>
          <p:cNvSpPr/>
          <p:nvPr/>
        </p:nvSpPr>
        <p:spPr>
          <a:xfrm>
            <a:off x="4658258" y="4023360"/>
            <a:ext cx="566928" cy="566928"/>
          </a:xfrm>
          <a:prstGeom prst="ellipse">
            <a:avLst/>
          </a:prstGeom>
          <a:solidFill>
            <a:srgbClr val="DCE7E0"/>
          </a:solidFill>
          <a:ln w="12700">
            <a:solidFill>
              <a:srgbClr val="DCE7E0"/>
            </a:solidFill>
            <a:prstDash val="solid"/>
          </a:ln>
        </p:spPr>
      </p:sp>
      <p:sp>
        <p:nvSpPr>
          <p:cNvPr id="25" name="Text 23"/>
          <p:cNvSpPr txBox="1"/>
          <p:nvPr/>
        </p:nvSpPr>
        <p:spPr>
          <a:xfrm>
            <a:off x="4658258" y="402336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5</a:t>
            </a:r>
            <a:endParaRPr lang="en-US" sz="1800" dirty="0"/>
          </a:p>
        </p:txBody>
      </p:sp>
      <p:sp>
        <p:nvSpPr>
          <p:cNvPr id="26" name="Text 24"/>
          <p:cNvSpPr txBox="1"/>
          <p:nvPr/>
        </p:nvSpPr>
        <p:spPr>
          <a:xfrm>
            <a:off x="4658258"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Xalaat et sécurité</a:t>
            </a:r>
            <a:endParaRPr lang="en-US" sz="1800" dirty="0"/>
          </a:p>
        </p:txBody>
      </p:sp>
      <p:sp>
        <p:nvSpPr>
          <p:cNvPr id="27" name="Text 25"/>
          <p:cNvSpPr txBox="1"/>
          <p:nvPr/>
        </p:nvSpPr>
        <p:spPr>
          <a:xfrm>
            <a:off x="4658258" y="5093208"/>
            <a:ext cx="2875178" cy="457200"/>
          </a:xfrm>
          <a:prstGeom prst="rect">
            <a:avLst/>
          </a:prstGeom>
          <a:noFill/>
          <a:ln/>
        </p:spPr>
        <p:txBody>
          <a:bodyPr wrap="square" lIns="0" tIns="0" rIns="0" bIns="0" rtlCol="0" anchor="t"/>
          <a:lstStyle/>
          <a:p>
            <a:pPr indent="0" marL="0">
              <a:buNone/>
            </a:pPr>
            <a:r>
              <a:rPr lang="en-US" sz="1400" dirty="0">
                <a:solidFill>
                  <a:srgbClr val="6B645A"/>
                </a:solidFill>
              </a:rPr>
              <a:t>Le compagnon IA et son garde-fou</a:t>
            </a:r>
            <a:endParaRPr lang="en-US" sz="1400" dirty="0"/>
          </a:p>
        </p:txBody>
      </p:sp>
      <p:sp>
        <p:nvSpPr>
          <p:cNvPr id="28" name="plan-6"/>
          <p:cNvSpPr/>
          <p:nvPr/>
        </p:nvSpPr>
        <p:spPr>
          <a:xfrm>
            <a:off x="8127797" y="3703320"/>
            <a:ext cx="3515258" cy="1965960"/>
          </a:xfrm>
          <a:prstGeom prst="roundRect">
            <a:avLst>
              <a:gd name="adj" fmla="val 6512"/>
            </a:avLst>
          </a:prstGeom>
          <a:solidFill>
            <a:srgbClr val="FFFFFF"/>
          </a:solidFill>
          <a:ln w="12700">
            <a:solidFill>
              <a:srgbClr val="E6DFD3"/>
            </a:solidFill>
            <a:prstDash val="solid"/>
          </a:ln>
        </p:spPr>
      </p:sp>
      <p:sp>
        <p:nvSpPr>
          <p:cNvPr id="29" name="Shape 27"/>
          <p:cNvSpPr/>
          <p:nvPr/>
        </p:nvSpPr>
        <p:spPr>
          <a:xfrm>
            <a:off x="8447837" y="4023360"/>
            <a:ext cx="566928" cy="566928"/>
          </a:xfrm>
          <a:prstGeom prst="ellipse">
            <a:avLst/>
          </a:prstGeom>
          <a:solidFill>
            <a:srgbClr val="DCE7E0"/>
          </a:solidFill>
          <a:ln w="12700">
            <a:solidFill>
              <a:srgbClr val="DCE7E0"/>
            </a:solidFill>
            <a:prstDash val="solid"/>
          </a:ln>
        </p:spPr>
      </p:sp>
      <p:sp>
        <p:nvSpPr>
          <p:cNvPr id="30" name="Text 28"/>
          <p:cNvSpPr txBox="1"/>
          <p:nvPr/>
        </p:nvSpPr>
        <p:spPr>
          <a:xfrm>
            <a:off x="8447837" y="402336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6</a:t>
            </a:r>
            <a:endParaRPr lang="en-US" sz="1800" dirty="0"/>
          </a:p>
        </p:txBody>
      </p:sp>
      <p:sp>
        <p:nvSpPr>
          <p:cNvPr id="31" name="Text 29"/>
          <p:cNvSpPr txBox="1"/>
          <p:nvPr/>
        </p:nvSpPr>
        <p:spPr>
          <a:xfrm>
            <a:off x="8447837"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Limites et perspectives</a:t>
            </a:r>
            <a:endParaRPr lang="en-US" sz="18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Contexte</a:t>
            </a:r>
            <a:endParaRPr lang="en-US" sz="3200" dirty="0"/>
          </a:p>
        </p:txBody>
      </p:sp>
      <p:sp>
        <p:nvSpPr>
          <p:cNvPr id="3" name="stat-1"/>
          <p:cNvSpPr/>
          <p:nvPr/>
        </p:nvSpPr>
        <p:spPr>
          <a:xfrm>
            <a:off x="548640" y="1417320"/>
            <a:ext cx="3515258" cy="2788920"/>
          </a:xfrm>
          <a:prstGeom prst="roundRect">
            <a:avLst>
              <a:gd name="adj" fmla="val 4590"/>
            </a:avLst>
          </a:prstGeom>
          <a:solidFill>
            <a:srgbClr val="FFFFFF"/>
          </a:solidFill>
          <a:ln w="12700">
            <a:solidFill>
              <a:srgbClr val="E6DFD3"/>
            </a:solidFill>
            <a:prstDash val="solid"/>
          </a:ln>
        </p:spPr>
      </p:sp>
      <p:sp>
        <p:nvSpPr>
          <p:cNvPr id="4" name="Text 2"/>
          <p:cNvSpPr txBox="1"/>
          <p:nvPr/>
        </p:nvSpPr>
        <p:spPr>
          <a:xfrm>
            <a:off x="914400" y="1645920"/>
            <a:ext cx="2966618" cy="1005840"/>
          </a:xfrm>
          <a:prstGeom prst="rect">
            <a:avLst/>
          </a:prstGeom>
          <a:noFill/>
          <a:ln/>
        </p:spPr>
        <p:txBody>
          <a:bodyPr wrap="square" lIns="0" tIns="0" rIns="0" bIns="0" rtlCol="0" anchor="ctr"/>
          <a:lstStyle/>
          <a:p>
            <a:pPr indent="0" marL="0">
              <a:buNone/>
            </a:pPr>
            <a:r>
              <a:rPr lang="en-US" sz="4600" b="1" dirty="0">
                <a:solidFill>
                  <a:srgbClr val="1E4D43"/>
                </a:solidFill>
              </a:rPr>
              <a:t>38</a:t>
            </a:r>
            <a:endParaRPr lang="en-US" sz="4600" dirty="0"/>
          </a:p>
        </p:txBody>
      </p:sp>
      <p:sp>
        <p:nvSpPr>
          <p:cNvPr id="5" name="Text 3"/>
          <p:cNvSpPr txBox="1"/>
          <p:nvPr/>
        </p:nvSpPr>
        <p:spPr>
          <a:xfrm>
            <a:off x="914400"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psychiatres pour tout le pays (2019), concentrés à Dakar</a:t>
            </a:r>
            <a:endParaRPr lang="en-US" sz="1600" dirty="0"/>
          </a:p>
        </p:txBody>
      </p:sp>
      <p:sp>
        <p:nvSpPr>
          <p:cNvPr id="6" name="Text 4"/>
          <p:cNvSpPr txBox="1"/>
          <p:nvPr/>
        </p:nvSpPr>
        <p:spPr>
          <a:xfrm>
            <a:off x="914400"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MSAS, Plan stratégique santé mentale 2024–2028</a:t>
            </a:r>
            <a:endParaRPr lang="en-US" sz="1000" dirty="0"/>
          </a:p>
        </p:txBody>
      </p:sp>
      <p:sp>
        <p:nvSpPr>
          <p:cNvPr id="7" name="stat-2"/>
          <p:cNvSpPr/>
          <p:nvPr/>
        </p:nvSpPr>
        <p:spPr>
          <a:xfrm>
            <a:off x="4338218" y="1417320"/>
            <a:ext cx="3515258" cy="2788920"/>
          </a:xfrm>
          <a:prstGeom prst="roundRect">
            <a:avLst>
              <a:gd name="adj" fmla="val 4590"/>
            </a:avLst>
          </a:prstGeom>
          <a:solidFill>
            <a:srgbClr val="FFFFFF"/>
          </a:solidFill>
          <a:ln w="12700">
            <a:solidFill>
              <a:srgbClr val="E6DFD3"/>
            </a:solidFill>
            <a:prstDash val="solid"/>
          </a:ln>
        </p:spPr>
      </p:sp>
      <p:sp>
        <p:nvSpPr>
          <p:cNvPr id="8" name="Text 6"/>
          <p:cNvSpPr txBox="1"/>
          <p:nvPr/>
        </p:nvSpPr>
        <p:spPr>
          <a:xfrm>
            <a:off x="4703978" y="1645920"/>
            <a:ext cx="2966618" cy="1005840"/>
          </a:xfrm>
          <a:prstGeom prst="rect">
            <a:avLst/>
          </a:prstGeom>
          <a:noFill/>
          <a:ln/>
        </p:spPr>
        <p:txBody>
          <a:bodyPr wrap="square" lIns="0" tIns="0" rIns="0" bIns="0" rtlCol="0" anchor="ctr"/>
          <a:lstStyle/>
          <a:p>
            <a:pPr indent="0" marL="0">
              <a:buNone/>
            </a:pPr>
            <a:r>
              <a:rPr lang="en-US" sz="4600" b="1" dirty="0">
                <a:solidFill>
                  <a:srgbClr val="B5532F"/>
                </a:solidFill>
              </a:rPr>
              <a:t>0</a:t>
            </a:r>
            <a:endParaRPr lang="en-US" sz="4600" dirty="0"/>
          </a:p>
        </p:txBody>
      </p:sp>
      <p:sp>
        <p:nvSpPr>
          <p:cNvPr id="9" name="Text 7"/>
          <p:cNvSpPr txBox="1"/>
          <p:nvPr/>
        </p:nvSpPr>
        <p:spPr>
          <a:xfrm>
            <a:off x="4703978"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numéro vert dédié aux urgences psychiatriques</a:t>
            </a:r>
            <a:endParaRPr lang="en-US" sz="1600" dirty="0"/>
          </a:p>
        </p:txBody>
      </p:sp>
      <p:sp>
        <p:nvSpPr>
          <p:cNvPr id="10" name="Text 8"/>
          <p:cNvSpPr txBox="1"/>
          <p:nvPr/>
        </p:nvSpPr>
        <p:spPr>
          <a:xfrm>
            <a:off x="4703978"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MSAS, Plan stratégique santé mentale 2024–2028</a:t>
            </a:r>
            <a:endParaRPr lang="en-US" sz="1000" dirty="0"/>
          </a:p>
        </p:txBody>
      </p:sp>
      <p:sp>
        <p:nvSpPr>
          <p:cNvPr id="11" name="stat-3"/>
          <p:cNvSpPr/>
          <p:nvPr/>
        </p:nvSpPr>
        <p:spPr>
          <a:xfrm>
            <a:off x="8127797" y="1417320"/>
            <a:ext cx="3515258" cy="2788920"/>
          </a:xfrm>
          <a:prstGeom prst="roundRect">
            <a:avLst>
              <a:gd name="adj" fmla="val 4590"/>
            </a:avLst>
          </a:prstGeom>
          <a:solidFill>
            <a:srgbClr val="FFFFFF"/>
          </a:solidFill>
          <a:ln w="12700">
            <a:solidFill>
              <a:srgbClr val="E6DFD3"/>
            </a:solidFill>
            <a:prstDash val="solid"/>
          </a:ln>
        </p:spPr>
      </p:sp>
      <p:sp>
        <p:nvSpPr>
          <p:cNvPr id="12" name="Text 10"/>
          <p:cNvSpPr txBox="1"/>
          <p:nvPr/>
        </p:nvSpPr>
        <p:spPr>
          <a:xfrm>
            <a:off x="8493557" y="1645920"/>
            <a:ext cx="2966618" cy="1005840"/>
          </a:xfrm>
          <a:prstGeom prst="rect">
            <a:avLst/>
          </a:prstGeom>
          <a:noFill/>
          <a:ln/>
        </p:spPr>
        <p:txBody>
          <a:bodyPr wrap="square" lIns="0" tIns="0" rIns="0" bIns="0" rtlCol="0" anchor="ctr"/>
          <a:lstStyle/>
          <a:p>
            <a:pPr indent="0" marL="0">
              <a:buNone/>
            </a:pPr>
            <a:r>
              <a:rPr lang="en-US" sz="4600" b="1" dirty="0">
                <a:solidFill>
                  <a:srgbClr val="9A6B12"/>
                </a:solidFill>
              </a:rPr>
              <a:t>1 milliard</a:t>
            </a:r>
            <a:endParaRPr lang="en-US" sz="4600" dirty="0"/>
          </a:p>
        </p:txBody>
      </p:sp>
      <p:sp>
        <p:nvSpPr>
          <p:cNvPr id="13" name="Text 11"/>
          <p:cNvSpPr txBox="1"/>
          <p:nvPr/>
        </p:nvSpPr>
        <p:spPr>
          <a:xfrm>
            <a:off x="8493557"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de personnes, environ, vivent avec un trouble mental dans le monde</a:t>
            </a:r>
            <a:endParaRPr lang="en-US" sz="1600" dirty="0"/>
          </a:p>
        </p:txBody>
      </p:sp>
      <p:sp>
        <p:nvSpPr>
          <p:cNvPr id="14" name="Text 12"/>
          <p:cNvSpPr txBox="1"/>
          <p:nvPr/>
        </p:nvSpPr>
        <p:spPr>
          <a:xfrm>
            <a:off x="8493557"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OMS, Rapport mondial sur la santé mentale, 2022</a:t>
            </a:r>
            <a:endParaRPr lang="en-US" sz="1000" dirty="0"/>
          </a:p>
        </p:txBody>
      </p:sp>
      <p:sp>
        <p:nvSpPr>
          <p:cNvPr id="15" name="stigmatisation"/>
          <p:cNvSpPr/>
          <p:nvPr/>
        </p:nvSpPr>
        <p:spPr>
          <a:xfrm>
            <a:off x="548640" y="4480560"/>
            <a:ext cx="11094415" cy="1463040"/>
          </a:xfrm>
          <a:prstGeom prst="roundRect">
            <a:avLst>
              <a:gd name="adj" fmla="val 8750"/>
            </a:avLst>
          </a:prstGeom>
          <a:solidFill>
            <a:srgbClr val="EEF3EF"/>
          </a:solidFill>
          <a:ln w="12700">
            <a:solidFill>
              <a:srgbClr val="EEF3EF"/>
            </a:solidFill>
            <a:prstDash val="solid"/>
          </a:ln>
        </p:spPr>
      </p:sp>
      <p:sp>
        <p:nvSpPr>
          <p:cNvPr id="16" name="Shape 14"/>
          <p:cNvSpPr/>
          <p:nvPr/>
        </p:nvSpPr>
        <p:spPr>
          <a:xfrm>
            <a:off x="868680" y="4800600"/>
            <a:ext cx="822960" cy="822960"/>
          </a:xfrm>
          <a:prstGeom prst="ellipse">
            <a:avLst/>
          </a:prstGeom>
          <a:solidFill>
            <a:srgbClr val="1E4D43"/>
          </a:solidFill>
          <a:ln w="12700">
            <a:solidFill>
              <a:srgbClr val="1E4D43"/>
            </a:solidFill>
            <a:prstDash val="solid"/>
          </a:ln>
        </p:spPr>
      </p:sp>
      <p:pic>
        <p:nvPicPr>
          <p:cNvPr id="17" name="Image 0" descr="preencoded.png">    </p:cNvPr>
          <p:cNvPicPr>
            <a:picLocks noChangeAspect="1"/>
          </p:cNvPicPr>
          <p:nvPr/>
        </p:nvPicPr>
        <p:blipFill>
          <a:blip r:embed="rId1"/>
          <a:stretch>
            <a:fillRect/>
          </a:stretch>
        </p:blipFill>
        <p:spPr>
          <a:xfrm>
            <a:off x="1049731" y="4981651"/>
            <a:ext cx="460858" cy="460858"/>
          </a:xfrm>
          <a:prstGeom prst="rect">
            <a:avLst/>
          </a:prstGeom>
        </p:spPr>
      </p:pic>
      <p:sp>
        <p:nvSpPr>
          <p:cNvPr id="18" name="Text 15"/>
          <p:cNvSpPr txBox="1"/>
          <p:nvPr/>
        </p:nvSpPr>
        <p:spPr>
          <a:xfrm>
            <a:off x="1965960" y="4663440"/>
            <a:ext cx="9357055" cy="1097280"/>
          </a:xfrm>
          <a:prstGeom prst="rect">
            <a:avLst/>
          </a:prstGeom>
          <a:noFill/>
          <a:ln/>
        </p:spPr>
        <p:txBody>
          <a:bodyPr wrap="square" lIns="0" tIns="0" rIns="0" bIns="0" rtlCol="0" anchor="ctr"/>
          <a:lstStyle/>
          <a:p>
            <a:pPr indent="0" marL="0">
              <a:buNone/>
            </a:pPr>
            <a:r>
              <a:rPr lang="en-US" sz="1700" dirty="0">
                <a:solidFill>
                  <a:srgbClr val="22201C"/>
                </a:solidFill>
              </a:rPr>
              <a:t>À ces chiffres s'ajoute la stigmatisation : consulter un psychologue reste une démarche difficile, qu'on hésite à faire, et parfois qu'on cache. Pendant ce temps, presque tout le monde a un téléphone.</a:t>
            </a:r>
            <a:endParaRPr lang="en-US" sz="17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Problématique</a:t>
            </a:r>
            <a:endParaRPr lang="en-US" sz="3200" dirty="0"/>
          </a:p>
        </p:txBody>
      </p:sp>
      <p:sp>
        <p:nvSpPr>
          <p:cNvPr id="3" name="question"/>
          <p:cNvSpPr/>
          <p:nvPr/>
        </p:nvSpPr>
        <p:spPr>
          <a:xfrm>
            <a:off x="548640" y="1371600"/>
            <a:ext cx="11094415" cy="1325880"/>
          </a:xfrm>
          <a:prstGeom prst="roundRect">
            <a:avLst>
              <a:gd name="adj" fmla="val 9655"/>
            </a:avLst>
          </a:prstGeom>
          <a:solidFill>
            <a:srgbClr val="1E4D43"/>
          </a:solidFill>
          <a:ln w="12700">
            <a:solidFill>
              <a:srgbClr val="1E4D43"/>
            </a:solidFill>
            <a:prstDash val="solid"/>
          </a:ln>
        </p:spPr>
      </p:sp>
      <p:sp>
        <p:nvSpPr>
          <p:cNvPr id="4" name="Text 2"/>
          <p:cNvSpPr txBox="1"/>
          <p:nvPr/>
        </p:nvSpPr>
        <p:spPr>
          <a:xfrm>
            <a:off x="868680" y="1463040"/>
            <a:ext cx="731520" cy="1143000"/>
          </a:xfrm>
          <a:prstGeom prst="rect">
            <a:avLst/>
          </a:prstGeom>
          <a:noFill/>
          <a:ln/>
        </p:spPr>
        <p:txBody>
          <a:bodyPr wrap="square" lIns="0" tIns="0" rIns="0" bIns="0" rtlCol="0" anchor="ctr"/>
          <a:lstStyle/>
          <a:p>
            <a:pPr indent="0" marL="0">
              <a:buNone/>
            </a:pPr>
            <a:r>
              <a:rPr lang="en-US" sz="6400" b="1" dirty="0">
                <a:solidFill>
                  <a:srgbClr val="D2A04A"/>
                </a:solidFill>
              </a:rPr>
              <a:t>?</a:t>
            </a:r>
            <a:endParaRPr lang="en-US" sz="6400" dirty="0"/>
          </a:p>
        </p:txBody>
      </p:sp>
      <p:sp>
        <p:nvSpPr>
          <p:cNvPr id="5" name="Text 3"/>
          <p:cNvSpPr txBox="1"/>
          <p:nvPr/>
        </p:nvSpPr>
        <p:spPr>
          <a:xfrm>
            <a:off x="1691640" y="1463040"/>
            <a:ext cx="9631375" cy="1143000"/>
          </a:xfrm>
          <a:prstGeom prst="rect">
            <a:avLst/>
          </a:prstGeom>
          <a:noFill/>
          <a:ln/>
        </p:spPr>
        <p:txBody>
          <a:bodyPr wrap="square" lIns="0" tIns="0" rIns="0" bIns="0" rtlCol="0" anchor="ctr"/>
          <a:lstStyle/>
          <a:p>
            <a:pPr indent="0" marL="0">
              <a:buNone/>
            </a:pPr>
            <a:r>
              <a:rPr lang="en-US" sz="2000" b="1" dirty="0">
                <a:solidFill>
                  <a:srgbClr val="FFFFFF"/>
                </a:solidFill>
              </a:rPr>
              <a:t>Comment faciliter l'accès à des psychologues vérifiés, outiller les praticiens et offrir un suivi continu, sécurisé et confidentiel, dans le contexte sénégalais ?</a:t>
            </a:r>
            <a:endParaRPr lang="en-US" sz="2000" dirty="0"/>
          </a:p>
        </p:txBody>
      </p:sp>
      <p:sp>
        <p:nvSpPr>
          <p:cNvPr id="6" name="acteur-1"/>
          <p:cNvSpPr/>
          <p:nvPr/>
        </p:nvSpPr>
        <p:spPr>
          <a:xfrm>
            <a:off x="548640" y="2971800"/>
            <a:ext cx="3515258" cy="3063240"/>
          </a:xfrm>
          <a:prstGeom prst="roundRect">
            <a:avLst>
              <a:gd name="adj" fmla="val 4179"/>
            </a:avLst>
          </a:prstGeom>
          <a:solidFill>
            <a:srgbClr val="FFFFFF"/>
          </a:solidFill>
          <a:ln w="12700">
            <a:solidFill>
              <a:srgbClr val="E6DFD3"/>
            </a:solidFill>
            <a:prstDash val="solid"/>
          </a:ln>
        </p:spPr>
      </p:sp>
      <p:sp>
        <p:nvSpPr>
          <p:cNvPr id="7" name="Shape 5"/>
          <p:cNvSpPr/>
          <p:nvPr/>
        </p:nvSpPr>
        <p:spPr>
          <a:xfrm>
            <a:off x="868680" y="3246120"/>
            <a:ext cx="640080" cy="640080"/>
          </a:xfrm>
          <a:prstGeom prst="ellipse">
            <a:avLst/>
          </a:prstGeom>
          <a:solidFill>
            <a:srgbClr val="DCE7E0"/>
          </a:solidFill>
          <a:ln w="12700">
            <a:solidFill>
              <a:srgbClr val="DCE7E0"/>
            </a:solidFill>
            <a:prstDash val="solid"/>
          </a:ln>
        </p:spPr>
      </p:sp>
      <p:pic>
        <p:nvPicPr>
          <p:cNvPr id="8" name="Image 0" descr="preencoded.png">    </p:cNvPr>
          <p:cNvPicPr>
            <a:picLocks noChangeAspect="1"/>
          </p:cNvPicPr>
          <p:nvPr/>
        </p:nvPicPr>
        <p:blipFill>
          <a:blip r:embed="rId1"/>
          <a:stretch>
            <a:fillRect/>
          </a:stretch>
        </p:blipFill>
        <p:spPr>
          <a:xfrm>
            <a:off x="1009498" y="3386938"/>
            <a:ext cx="358445" cy="358445"/>
          </a:xfrm>
          <a:prstGeom prst="rect">
            <a:avLst/>
          </a:prstGeom>
        </p:spPr>
      </p:pic>
      <p:sp>
        <p:nvSpPr>
          <p:cNvPr id="9" name="Text 6"/>
          <p:cNvSpPr txBox="1"/>
          <p:nvPr/>
        </p:nvSpPr>
        <p:spPr>
          <a:xfrm>
            <a:off x="1645920"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Le patient</a:t>
            </a:r>
            <a:endParaRPr lang="en-US" sz="1900" dirty="0"/>
          </a:p>
        </p:txBody>
      </p:sp>
      <p:sp>
        <p:nvSpPr>
          <p:cNvPr id="10" name="Text 7"/>
          <p:cNvSpPr txBox="1"/>
          <p:nvPr/>
        </p:nvSpPr>
        <p:spPr>
          <a:xfrm>
            <a:off x="868680"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Ne sait pas à qui s'adresser</a:t>
            </a:r>
            <a:endParaRPr lang="en-US" sz="1500" dirty="0"/>
          </a:p>
          <a:p>
            <a:pPr marL="203200" indent="-203200">
              <a:spcAft>
                <a:spcPts val="800"/>
              </a:spcAft>
              <a:buSzPct val="100000"/>
              <a:buChar char="•"/>
            </a:pPr>
            <a:r>
              <a:rPr lang="en-US" sz="1500" dirty="0">
                <a:solidFill>
                  <a:srgbClr val="22201C"/>
                </a:solidFill>
              </a:rPr>
              <a:t>Prend rendez-vous par téléphone</a:t>
            </a:r>
            <a:endParaRPr lang="en-US" sz="1500" dirty="0"/>
          </a:p>
          <a:p>
            <a:pPr marL="203200" indent="-203200">
              <a:spcAft>
                <a:spcPts val="800"/>
              </a:spcAft>
              <a:buSzPct val="100000"/>
              <a:buChar char="•"/>
            </a:pPr>
            <a:r>
              <a:rPr lang="en-US" sz="1500" dirty="0">
                <a:solidFill>
                  <a:srgbClr val="22201C"/>
                </a:solidFill>
              </a:rPr>
              <a:t>Appréhende la première séance</a:t>
            </a:r>
            <a:endParaRPr lang="en-US" sz="1500" dirty="0"/>
          </a:p>
        </p:txBody>
      </p:sp>
      <p:sp>
        <p:nvSpPr>
          <p:cNvPr id="11" name="acteur-2"/>
          <p:cNvSpPr/>
          <p:nvPr/>
        </p:nvSpPr>
        <p:spPr>
          <a:xfrm>
            <a:off x="4338218" y="2971800"/>
            <a:ext cx="3515258" cy="3063240"/>
          </a:xfrm>
          <a:prstGeom prst="roundRect">
            <a:avLst>
              <a:gd name="adj" fmla="val 4179"/>
            </a:avLst>
          </a:prstGeom>
          <a:solidFill>
            <a:srgbClr val="FFFFFF"/>
          </a:solidFill>
          <a:ln w="12700">
            <a:solidFill>
              <a:srgbClr val="E6DFD3"/>
            </a:solidFill>
            <a:prstDash val="solid"/>
          </a:ln>
        </p:spPr>
      </p:sp>
      <p:sp>
        <p:nvSpPr>
          <p:cNvPr id="12" name="Shape 9"/>
          <p:cNvSpPr/>
          <p:nvPr/>
        </p:nvSpPr>
        <p:spPr>
          <a:xfrm>
            <a:off x="4658258" y="3246120"/>
            <a:ext cx="640080" cy="640080"/>
          </a:xfrm>
          <a:prstGeom prst="ellipse">
            <a:avLst/>
          </a:prstGeom>
          <a:solidFill>
            <a:srgbClr val="DCE7E0"/>
          </a:solidFill>
          <a:ln w="12700">
            <a:solidFill>
              <a:srgbClr val="DCE7E0"/>
            </a:solidFill>
            <a:prstDash val="solid"/>
          </a:ln>
        </p:spPr>
      </p:sp>
      <p:pic>
        <p:nvPicPr>
          <p:cNvPr id="13" name="Image 1" descr="preencoded.png">    </p:cNvPr>
          <p:cNvPicPr>
            <a:picLocks noChangeAspect="1"/>
          </p:cNvPicPr>
          <p:nvPr/>
        </p:nvPicPr>
        <p:blipFill>
          <a:blip r:embed="rId2"/>
          <a:stretch>
            <a:fillRect/>
          </a:stretch>
        </p:blipFill>
        <p:spPr>
          <a:xfrm>
            <a:off x="4799076" y="3386938"/>
            <a:ext cx="358445" cy="358445"/>
          </a:xfrm>
          <a:prstGeom prst="rect">
            <a:avLst/>
          </a:prstGeom>
        </p:spPr>
      </p:pic>
      <p:sp>
        <p:nvSpPr>
          <p:cNvPr id="14" name="Text 10"/>
          <p:cNvSpPr txBox="1"/>
          <p:nvPr/>
        </p:nvSpPr>
        <p:spPr>
          <a:xfrm>
            <a:off x="5435498"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Le psychologue</a:t>
            </a:r>
            <a:endParaRPr lang="en-US" sz="1900" dirty="0"/>
          </a:p>
        </p:txBody>
      </p:sp>
      <p:sp>
        <p:nvSpPr>
          <p:cNvPr id="15" name="Text 11"/>
          <p:cNvSpPr txBox="1"/>
          <p:nvPr/>
        </p:nvSpPr>
        <p:spPr>
          <a:xfrm>
            <a:off x="4658258"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Manque de visibilité</a:t>
            </a:r>
            <a:endParaRPr lang="en-US" sz="1500" dirty="0"/>
          </a:p>
          <a:p>
            <a:pPr marL="203200" indent="-203200">
              <a:spcAft>
                <a:spcPts val="800"/>
              </a:spcAft>
              <a:buSzPct val="100000"/>
              <a:buChar char="•"/>
            </a:pPr>
            <a:r>
              <a:rPr lang="en-US" sz="1500" dirty="0">
                <a:solidFill>
                  <a:srgbClr val="22201C"/>
                </a:solidFill>
              </a:rPr>
              <a:t>Gère agenda et paiements à la main</a:t>
            </a:r>
            <a:endParaRPr lang="en-US" sz="1500" dirty="0"/>
          </a:p>
          <a:p>
            <a:pPr marL="203200" indent="-203200">
              <a:spcAft>
                <a:spcPts val="800"/>
              </a:spcAft>
              <a:buSzPct val="100000"/>
              <a:buChar char="•"/>
            </a:pPr>
            <a:r>
              <a:rPr lang="en-US" sz="1500" dirty="0">
                <a:solidFill>
                  <a:srgbClr val="22201C"/>
                </a:solidFill>
              </a:rPr>
              <a:t>N'a pas d'outil de suivi</a:t>
            </a:r>
            <a:endParaRPr lang="en-US" sz="1500" dirty="0"/>
          </a:p>
        </p:txBody>
      </p:sp>
      <p:sp>
        <p:nvSpPr>
          <p:cNvPr id="16" name="acteur-3"/>
          <p:cNvSpPr/>
          <p:nvPr/>
        </p:nvSpPr>
        <p:spPr>
          <a:xfrm>
            <a:off x="8127797" y="2971800"/>
            <a:ext cx="3515258" cy="3063240"/>
          </a:xfrm>
          <a:prstGeom prst="roundRect">
            <a:avLst>
              <a:gd name="adj" fmla="val 4179"/>
            </a:avLst>
          </a:prstGeom>
          <a:solidFill>
            <a:srgbClr val="FFFFFF"/>
          </a:solidFill>
          <a:ln w="12700">
            <a:solidFill>
              <a:srgbClr val="E6DFD3"/>
            </a:solidFill>
            <a:prstDash val="solid"/>
          </a:ln>
        </p:spPr>
      </p:sp>
      <p:sp>
        <p:nvSpPr>
          <p:cNvPr id="17" name="Shape 13"/>
          <p:cNvSpPr/>
          <p:nvPr/>
        </p:nvSpPr>
        <p:spPr>
          <a:xfrm>
            <a:off x="8447837" y="3246120"/>
            <a:ext cx="640080" cy="640080"/>
          </a:xfrm>
          <a:prstGeom prst="ellipse">
            <a:avLst/>
          </a:prstGeom>
          <a:solidFill>
            <a:srgbClr val="DCE7E0"/>
          </a:solidFill>
          <a:ln w="12700">
            <a:solidFill>
              <a:srgbClr val="DCE7E0"/>
            </a:solidFill>
            <a:prstDash val="solid"/>
          </a:ln>
        </p:spPr>
      </p:sp>
      <p:pic>
        <p:nvPicPr>
          <p:cNvPr id="18" name="Image 2" descr="preencoded.png">    </p:cNvPr>
          <p:cNvPicPr>
            <a:picLocks noChangeAspect="1"/>
          </p:cNvPicPr>
          <p:nvPr/>
        </p:nvPicPr>
        <p:blipFill>
          <a:blip r:embed="rId3"/>
          <a:stretch>
            <a:fillRect/>
          </a:stretch>
        </p:blipFill>
        <p:spPr>
          <a:xfrm>
            <a:off x="8588654" y="3386938"/>
            <a:ext cx="358445" cy="358445"/>
          </a:xfrm>
          <a:prstGeom prst="rect">
            <a:avLst/>
          </a:prstGeom>
        </p:spPr>
      </p:pic>
      <p:sp>
        <p:nvSpPr>
          <p:cNvPr id="19" name="Text 14"/>
          <p:cNvSpPr txBox="1"/>
          <p:nvPr/>
        </p:nvSpPr>
        <p:spPr>
          <a:xfrm>
            <a:off x="9225077"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L'administration</a:t>
            </a:r>
            <a:endParaRPr lang="en-US" sz="1900" dirty="0"/>
          </a:p>
        </p:txBody>
      </p:sp>
      <p:sp>
        <p:nvSpPr>
          <p:cNvPr id="20" name="Text 15"/>
          <p:cNvSpPr txBox="1"/>
          <p:nvPr/>
        </p:nvSpPr>
        <p:spPr>
          <a:xfrm>
            <a:off x="8447837"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Vérifie difficilement les diplômes</a:t>
            </a:r>
            <a:endParaRPr lang="en-US" sz="1500" dirty="0"/>
          </a:p>
          <a:p>
            <a:pPr marL="203200" indent="-203200">
              <a:spcAft>
                <a:spcPts val="800"/>
              </a:spcAft>
              <a:buSzPct val="100000"/>
              <a:buChar char="•"/>
            </a:pPr>
            <a:r>
              <a:rPr lang="en-US" sz="1500" dirty="0">
                <a:solidFill>
                  <a:srgbClr val="22201C"/>
                </a:solidFill>
              </a:rPr>
              <a:t>Aucun circuit pour les plaintes</a:t>
            </a:r>
            <a:endParaRPr lang="en-US" sz="1500" dirty="0"/>
          </a:p>
          <a:p>
            <a:pPr marL="203200" indent="-203200">
              <a:spcAft>
                <a:spcPts val="800"/>
              </a:spcAft>
              <a:buSzPct val="100000"/>
              <a:buChar char="•"/>
            </a:pPr>
            <a:r>
              <a:rPr lang="en-US" sz="1500" dirty="0">
                <a:solidFill>
                  <a:srgbClr val="22201C"/>
                </a:solidFill>
              </a:rPr>
              <a:t>Aucune vue d'ensemble</a:t>
            </a:r>
            <a:endParaRPr lang="en-US" sz="15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Étude des solutions existantes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2331720"/>
                <a:gridCol w="1005840"/>
                <a:gridCol w="1005840"/>
                <a:gridCol w="868680"/>
                <a:gridCol w="868680"/>
                <a:gridCol w="1325880"/>
              </a:tblGrid>
              <a:tr h="566928">
                <a:tc>
                  <a:txBody>
                    <a:bodyPr/>
                    <a:lstStyle/>
                    <a:p>
                      <a:pPr algn="l" indent="0" marL="0">
                        <a:buNone/>
                      </a:pP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BetterHelp</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Consultel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Wysa</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Lyynk</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FFFFFF"/>
                          </a:solidFill>
                        </a:rPr>
                        <a:t>PsyConnect</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Mise en relation avec un psy</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A6B12"/>
                          </a:solidFill>
                        </a:rPr>
                        <a:t>Partiel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Consultation vidéo</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Compagnon IA</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Paiement adapté au Sénégal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Anonymat du patient</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A6B12"/>
                          </a:solidFill>
                        </a:rPr>
                        <a:t>Partiel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Pensé pour le Sénégal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bl>
          </a:graphicData>
        </a:graphic>
      </p:graphicFrame>
      <p:sp>
        <p:nvSpPr>
          <p:cNvPr id="4" name="Text 1"/>
          <p:cNvSpPr txBox="1"/>
          <p:nvPr/>
        </p:nvSpPr>
        <p:spPr>
          <a:xfrm>
            <a:off x="548640" y="5532120"/>
            <a:ext cx="7406640" cy="274320"/>
          </a:xfrm>
          <a:prstGeom prst="rect">
            <a:avLst/>
          </a:prstGeom>
          <a:noFill/>
          <a:ln/>
        </p:spPr>
        <p:txBody>
          <a:bodyPr wrap="square" lIns="0" tIns="0" rIns="0" bIns="0" rtlCol="0" anchor="t"/>
          <a:lstStyle/>
          <a:p>
            <a:pPr indent="0" marL="0">
              <a:buNone/>
            </a:pPr>
            <a:r>
              <a:rPr lang="en-US" sz="1100" dirty="0">
                <a:solidFill>
                  <a:srgbClr val="6B645A"/>
                </a:solidFill>
              </a:rPr>
              <a:t>* recharge Wave / Orange Money simulée. Extrait du tableau comparatif du chapitre 2.</a:t>
            </a:r>
            <a:endParaRPr lang="en-US" sz="1100" dirty="0"/>
          </a:p>
        </p:txBody>
      </p:sp>
      <p:sp>
        <p:nvSpPr>
          <p:cNvPr id="5" name="famille-1"/>
          <p:cNvSpPr/>
          <p:nvPr/>
        </p:nvSpPr>
        <p:spPr>
          <a:xfrm>
            <a:off x="8275320" y="1417320"/>
            <a:ext cx="3367735" cy="1188720"/>
          </a:xfrm>
          <a:prstGeom prst="roundRect">
            <a:avLst>
              <a:gd name="adj" fmla="val 10769"/>
            </a:avLst>
          </a:prstGeom>
          <a:solidFill>
            <a:srgbClr val="FFFFFF"/>
          </a:solidFill>
          <a:ln w="12700">
            <a:solidFill>
              <a:srgbClr val="E6DFD3"/>
            </a:solidFill>
            <a:prstDash val="solid"/>
          </a:ln>
        </p:spPr>
      </p:sp>
      <p:sp>
        <p:nvSpPr>
          <p:cNvPr id="6" name="Text 3"/>
          <p:cNvSpPr txBox="1"/>
          <p:nvPr/>
        </p:nvSpPr>
        <p:spPr>
          <a:xfrm>
            <a:off x="8503920" y="15819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Plateformes mondiales</a:t>
            </a:r>
            <a:endParaRPr lang="en-US" sz="1500" dirty="0"/>
          </a:p>
        </p:txBody>
      </p:sp>
      <p:sp>
        <p:nvSpPr>
          <p:cNvPr id="7" name="Text 4"/>
          <p:cNvSpPr txBox="1"/>
          <p:nvPr/>
        </p:nvSpPr>
        <p:spPr>
          <a:xfrm>
            <a:off x="8503920" y="1920240"/>
            <a:ext cx="2910535" cy="594360"/>
          </a:xfrm>
          <a:prstGeom prst="rect">
            <a:avLst/>
          </a:prstGeom>
          <a:noFill/>
          <a:ln/>
        </p:spPr>
        <p:txBody>
          <a:bodyPr wrap="square" lIns="0" tIns="0" rIns="0" bIns="0" rtlCol="0" anchor="t"/>
          <a:lstStyle/>
          <a:p>
            <a:pPr indent="0" marL="0">
              <a:buNone/>
            </a:pPr>
            <a:r>
              <a:rPr lang="en-US" sz="1350" dirty="0">
                <a:solidFill>
                  <a:srgbClr val="22201C"/>
                </a:solidFill>
              </a:rPr>
              <a:t>Complètes, mais abonnement en dollars et aucun paiement local.</a:t>
            </a:r>
            <a:endParaRPr lang="en-US" sz="1350" dirty="0"/>
          </a:p>
        </p:txBody>
      </p:sp>
      <p:sp>
        <p:nvSpPr>
          <p:cNvPr id="8" name="famille-2"/>
          <p:cNvSpPr/>
          <p:nvPr/>
        </p:nvSpPr>
        <p:spPr>
          <a:xfrm>
            <a:off x="8275320" y="2788920"/>
            <a:ext cx="3367735" cy="1188720"/>
          </a:xfrm>
          <a:prstGeom prst="roundRect">
            <a:avLst>
              <a:gd name="adj" fmla="val 10769"/>
            </a:avLst>
          </a:prstGeom>
          <a:solidFill>
            <a:srgbClr val="FFFFFF"/>
          </a:solidFill>
          <a:ln w="12700">
            <a:solidFill>
              <a:srgbClr val="E6DFD3"/>
            </a:solidFill>
            <a:prstDash val="solid"/>
          </a:ln>
        </p:spPr>
      </p:sp>
      <p:sp>
        <p:nvSpPr>
          <p:cNvPr id="9" name="Text 6"/>
          <p:cNvSpPr txBox="1"/>
          <p:nvPr/>
        </p:nvSpPr>
        <p:spPr>
          <a:xfrm>
            <a:off x="8503920" y="29535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Solutions africaines</a:t>
            </a:r>
            <a:endParaRPr lang="en-US" sz="1500" dirty="0"/>
          </a:p>
        </p:txBody>
      </p:sp>
      <p:sp>
        <p:nvSpPr>
          <p:cNvPr id="10" name="Text 7"/>
          <p:cNvSpPr txBox="1"/>
          <p:nvPr/>
        </p:nvSpPr>
        <p:spPr>
          <a:xfrm>
            <a:off x="8503920" y="3291840"/>
            <a:ext cx="2910535" cy="594360"/>
          </a:xfrm>
          <a:prstGeom prst="rect">
            <a:avLst/>
          </a:prstGeom>
          <a:noFill/>
          <a:ln/>
        </p:spPr>
        <p:txBody>
          <a:bodyPr wrap="square" lIns="0" tIns="0" rIns="0" bIns="0" rtlCol="0" anchor="t"/>
          <a:lstStyle/>
          <a:p>
            <a:pPr indent="0" marL="0">
              <a:buNone/>
            </a:pPr>
            <a:r>
              <a:rPr lang="en-US" sz="1350" dirty="0">
                <a:solidFill>
                  <a:srgbClr val="22201C"/>
                </a:solidFill>
              </a:rPr>
              <a:t>Proches du terrain, mais centrées sur la médecine générale.</a:t>
            </a:r>
            <a:endParaRPr lang="en-US" sz="1350" dirty="0"/>
          </a:p>
        </p:txBody>
      </p:sp>
      <p:sp>
        <p:nvSpPr>
          <p:cNvPr id="11" name="famille-3"/>
          <p:cNvSpPr/>
          <p:nvPr/>
        </p:nvSpPr>
        <p:spPr>
          <a:xfrm>
            <a:off x="8275320" y="4160520"/>
            <a:ext cx="3367735" cy="1188720"/>
          </a:xfrm>
          <a:prstGeom prst="roundRect">
            <a:avLst>
              <a:gd name="adj" fmla="val 10769"/>
            </a:avLst>
          </a:prstGeom>
          <a:solidFill>
            <a:srgbClr val="FFFFFF"/>
          </a:solidFill>
          <a:ln w="12700">
            <a:solidFill>
              <a:srgbClr val="E6DFD3"/>
            </a:solidFill>
            <a:prstDash val="solid"/>
          </a:ln>
        </p:spPr>
      </p:sp>
      <p:sp>
        <p:nvSpPr>
          <p:cNvPr id="12" name="Text 9"/>
          <p:cNvSpPr txBox="1"/>
          <p:nvPr/>
        </p:nvSpPr>
        <p:spPr>
          <a:xfrm>
            <a:off x="8503920" y="43251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Compagnons IA</a:t>
            </a:r>
            <a:endParaRPr lang="en-US" sz="1500" dirty="0"/>
          </a:p>
        </p:txBody>
      </p:sp>
      <p:sp>
        <p:nvSpPr>
          <p:cNvPr id="13" name="Text 10"/>
          <p:cNvSpPr txBox="1"/>
          <p:nvPr/>
        </p:nvSpPr>
        <p:spPr>
          <a:xfrm>
            <a:off x="8503920" y="4663440"/>
            <a:ext cx="2910535" cy="594360"/>
          </a:xfrm>
          <a:prstGeom prst="rect">
            <a:avLst/>
          </a:prstGeom>
          <a:noFill/>
          <a:ln/>
        </p:spPr>
        <p:txBody>
          <a:bodyPr wrap="square" lIns="0" tIns="0" rIns="0" bIns="0" rtlCol="0" anchor="t"/>
          <a:lstStyle/>
          <a:p>
            <a:pPr indent="0" marL="0">
              <a:buNone/>
            </a:pPr>
            <a:r>
              <a:rPr lang="en-US" sz="1350" dirty="0">
                <a:solidFill>
                  <a:srgbClr val="22201C"/>
                </a:solidFill>
              </a:rPr>
              <a:t>Aucune mise en relation avec un professionnel.</a:t>
            </a:r>
            <a:endParaRPr lang="en-US" sz="135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Solution proposée : trois profils d'utilisateurs</a:t>
            </a:r>
            <a:endParaRPr lang="en-US" sz="3200" dirty="0"/>
          </a:p>
        </p:txBody>
      </p:sp>
      <p:sp>
        <p:nvSpPr>
          <p:cNvPr id="3" name="Shape 1"/>
          <p:cNvSpPr/>
          <p:nvPr/>
        </p:nvSpPr>
        <p:spPr>
          <a:xfrm>
            <a:off x="548640" y="1417320"/>
            <a:ext cx="640080" cy="640080"/>
          </a:xfrm>
          <a:prstGeom prst="ellipse">
            <a:avLst/>
          </a:prstGeom>
          <a:solidFill>
            <a:srgbClr val="DCE7E0"/>
          </a:solidFill>
          <a:ln w="12700">
            <a:solidFill>
              <a:srgbClr val="DCE7E0"/>
            </a:solidFill>
            <a:prstDash val="solid"/>
          </a:ln>
        </p:spPr>
      </p:sp>
      <p:pic>
        <p:nvPicPr>
          <p:cNvPr id="4" name="Image 0" descr="preencoded.png">    </p:cNvPr>
          <p:cNvPicPr>
            <a:picLocks noChangeAspect="1"/>
          </p:cNvPicPr>
          <p:nvPr/>
        </p:nvPicPr>
        <p:blipFill>
          <a:blip r:embed="rId1"/>
          <a:stretch>
            <a:fillRect/>
          </a:stretch>
        </p:blipFill>
        <p:spPr>
          <a:xfrm>
            <a:off x="689458" y="1558138"/>
            <a:ext cx="358445" cy="358445"/>
          </a:xfrm>
          <a:prstGeom prst="rect">
            <a:avLst/>
          </a:prstGeom>
        </p:spPr>
      </p:pic>
      <p:sp>
        <p:nvSpPr>
          <p:cNvPr id="5" name="Text 2"/>
          <p:cNvSpPr txBox="1"/>
          <p:nvPr/>
        </p:nvSpPr>
        <p:spPr>
          <a:xfrm>
            <a:off x="1417320" y="141732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Patient</a:t>
            </a:r>
            <a:endParaRPr lang="en-US" sz="1900" dirty="0"/>
          </a:p>
        </p:txBody>
      </p:sp>
      <p:sp>
        <p:nvSpPr>
          <p:cNvPr id="6" name="Text 3"/>
          <p:cNvSpPr txBox="1"/>
          <p:nvPr/>
        </p:nvSpPr>
        <p:spPr>
          <a:xfrm>
            <a:off x="1417320" y="1828800"/>
            <a:ext cx="3977640" cy="1645920"/>
          </a:xfrm>
          <a:prstGeom prst="rect">
            <a:avLst/>
          </a:prstGeom>
          <a:noFill/>
          <a:ln/>
        </p:spPr>
        <p:txBody>
          <a:bodyPr wrap="square" lIns="0" tIns="0" rIns="0" bIns="0" rtlCol="0" anchor="t"/>
          <a:lstStyle/>
          <a:p>
            <a:pPr indent="0" marL="0">
              <a:buNone/>
            </a:pPr>
            <a:r>
              <a:rPr lang="en-US" sz="1450" dirty="0">
                <a:solidFill>
                  <a:srgbClr val="22201C"/>
                </a:solidFill>
              </a:rPr>
              <a:t>Trouve un psychologue vérifié grâce aux recommandations, réserve, paie depuis son solde, consulte en vidéo ou en audio. Journal, PHQ-9 / GAD-7, compagnon Xalaat, mode anonyme.</a:t>
            </a:r>
            <a:endParaRPr lang="en-US" sz="1450" dirty="0"/>
          </a:p>
        </p:txBody>
      </p:sp>
      <p:sp>
        <p:nvSpPr>
          <p:cNvPr id="7" name="Shape 4"/>
          <p:cNvSpPr/>
          <p:nvPr/>
        </p:nvSpPr>
        <p:spPr>
          <a:xfrm>
            <a:off x="548640" y="3200400"/>
            <a:ext cx="640080" cy="640080"/>
          </a:xfrm>
          <a:prstGeom prst="ellipse">
            <a:avLst/>
          </a:prstGeom>
          <a:solidFill>
            <a:srgbClr val="DCE7E0"/>
          </a:solidFill>
          <a:ln w="12700">
            <a:solidFill>
              <a:srgbClr val="DCE7E0"/>
            </a:solidFill>
            <a:prstDash val="solid"/>
          </a:ln>
        </p:spPr>
      </p:sp>
      <p:pic>
        <p:nvPicPr>
          <p:cNvPr id="8" name="Image 1" descr="preencoded.png">    </p:cNvPr>
          <p:cNvPicPr>
            <a:picLocks noChangeAspect="1"/>
          </p:cNvPicPr>
          <p:nvPr/>
        </p:nvPicPr>
        <p:blipFill>
          <a:blip r:embed="rId2"/>
          <a:stretch>
            <a:fillRect/>
          </a:stretch>
        </p:blipFill>
        <p:spPr>
          <a:xfrm>
            <a:off x="689458" y="3341218"/>
            <a:ext cx="358445" cy="358445"/>
          </a:xfrm>
          <a:prstGeom prst="rect">
            <a:avLst/>
          </a:prstGeom>
        </p:spPr>
      </p:pic>
      <p:sp>
        <p:nvSpPr>
          <p:cNvPr id="9" name="Text 5"/>
          <p:cNvSpPr txBox="1"/>
          <p:nvPr/>
        </p:nvSpPr>
        <p:spPr>
          <a:xfrm>
            <a:off x="1417320" y="320040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Psychologue</a:t>
            </a:r>
            <a:endParaRPr lang="en-US" sz="1900" dirty="0"/>
          </a:p>
        </p:txBody>
      </p:sp>
      <p:sp>
        <p:nvSpPr>
          <p:cNvPr id="10" name="Text 6"/>
          <p:cNvSpPr txBox="1"/>
          <p:nvPr/>
        </p:nvSpPr>
        <p:spPr>
          <a:xfrm>
            <a:off x="1417320" y="3611880"/>
            <a:ext cx="3977640" cy="1371600"/>
          </a:xfrm>
          <a:prstGeom prst="rect">
            <a:avLst/>
          </a:prstGeom>
          <a:noFill/>
          <a:ln/>
        </p:spPr>
        <p:txBody>
          <a:bodyPr wrap="square" lIns="0" tIns="0" rIns="0" bIns="0" rtlCol="0" anchor="t"/>
          <a:lstStyle/>
          <a:p>
            <a:pPr indent="0" marL="0">
              <a:buNone/>
            </a:pPr>
            <a:r>
              <a:rPr lang="en-US" sz="1450" dirty="0">
                <a:solidFill>
                  <a:srgbClr val="22201C"/>
                </a:solidFill>
              </a:rPr>
              <a:t>Visible seulement après validation de son justificatif. Disponibilités, agenda, notes cliniques privées, suivi des patients et revenus.</a:t>
            </a:r>
            <a:endParaRPr lang="en-US" sz="1450" dirty="0"/>
          </a:p>
        </p:txBody>
      </p:sp>
      <p:sp>
        <p:nvSpPr>
          <p:cNvPr id="11" name="Shape 7"/>
          <p:cNvSpPr/>
          <p:nvPr/>
        </p:nvSpPr>
        <p:spPr>
          <a:xfrm>
            <a:off x="548640" y="4800600"/>
            <a:ext cx="640080" cy="640080"/>
          </a:xfrm>
          <a:prstGeom prst="ellipse">
            <a:avLst/>
          </a:prstGeom>
          <a:solidFill>
            <a:srgbClr val="DCE7E0"/>
          </a:solidFill>
          <a:ln w="12700">
            <a:solidFill>
              <a:srgbClr val="DCE7E0"/>
            </a:solidFill>
            <a:prstDash val="solid"/>
          </a:ln>
        </p:spPr>
      </p:sp>
      <p:pic>
        <p:nvPicPr>
          <p:cNvPr id="12" name="Image 2" descr="preencoded.png">    </p:cNvPr>
          <p:cNvPicPr>
            <a:picLocks noChangeAspect="1"/>
          </p:cNvPicPr>
          <p:nvPr/>
        </p:nvPicPr>
        <p:blipFill>
          <a:blip r:embed="rId3"/>
          <a:stretch>
            <a:fillRect/>
          </a:stretch>
        </p:blipFill>
        <p:spPr>
          <a:xfrm>
            <a:off x="689458" y="4941418"/>
            <a:ext cx="358445" cy="358445"/>
          </a:xfrm>
          <a:prstGeom prst="rect">
            <a:avLst/>
          </a:prstGeom>
        </p:spPr>
      </p:pic>
      <p:sp>
        <p:nvSpPr>
          <p:cNvPr id="13" name="Text 8"/>
          <p:cNvSpPr txBox="1"/>
          <p:nvPr/>
        </p:nvSpPr>
        <p:spPr>
          <a:xfrm>
            <a:off x="1417320" y="480060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Administrateur</a:t>
            </a:r>
            <a:endParaRPr lang="en-US" sz="1900" dirty="0"/>
          </a:p>
        </p:txBody>
      </p:sp>
      <p:sp>
        <p:nvSpPr>
          <p:cNvPr id="14" name="Text 9"/>
          <p:cNvSpPr txBox="1"/>
          <p:nvPr/>
        </p:nvSpPr>
        <p:spPr>
          <a:xfrm>
            <a:off x="1417320" y="5212080"/>
            <a:ext cx="3977640" cy="822960"/>
          </a:xfrm>
          <a:prstGeom prst="rect">
            <a:avLst/>
          </a:prstGeom>
          <a:noFill/>
          <a:ln/>
        </p:spPr>
        <p:txBody>
          <a:bodyPr wrap="square" lIns="0" tIns="0" rIns="0" bIns="0" rtlCol="0" anchor="t"/>
          <a:lstStyle/>
          <a:p>
            <a:pPr indent="0" marL="0">
              <a:buNone/>
            </a:pPr>
            <a:r>
              <a:rPr lang="en-US" sz="1450" dirty="0">
                <a:solidFill>
                  <a:srgbClr val="22201C"/>
                </a:solidFill>
              </a:rPr>
              <a:t>Valide les psychologues, traite les signalements, diffuse des annonces.</a:t>
            </a:r>
            <a:endParaRPr lang="en-US" sz="1450" dirty="0"/>
          </a:p>
        </p:txBody>
      </p:sp>
      <p:pic>
        <p:nvPicPr>
          <p:cNvPr id="15" name="Image 3" descr="/tmp/claude-0/-home-claude/b65661ba-79a0-54f1-a3cb-20b33955440c/scratchpad/ppt/img/accueil_patient.png">    </p:cNvPr>
          <p:cNvPicPr>
            <a:picLocks noChangeAspect="1"/>
          </p:cNvPicPr>
          <p:nvPr/>
        </p:nvPicPr>
        <p:blipFill>
          <a:blip r:embed="rId4"/>
          <a:stretch>
            <a:fillRect/>
          </a:stretch>
        </p:blipFill>
        <p:spPr>
          <a:xfrm>
            <a:off x="5546414" y="1325880"/>
            <a:ext cx="1898102" cy="3977640"/>
          </a:xfrm>
          <a:prstGeom prst="rect">
            <a:avLst/>
          </a:prstGeom>
        </p:spPr>
      </p:pic>
      <p:sp>
        <p:nvSpPr>
          <p:cNvPr id="16" name="Text 10"/>
          <p:cNvSpPr txBox="1"/>
          <p:nvPr/>
        </p:nvSpPr>
        <p:spPr>
          <a:xfrm>
            <a:off x="5546414"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Patient</a:t>
            </a:r>
            <a:endParaRPr lang="en-US" sz="1200" dirty="0"/>
          </a:p>
        </p:txBody>
      </p:sp>
      <p:pic>
        <p:nvPicPr>
          <p:cNvPr id="17" name="Image 4" descr="/tmp/claude-0/-home-claude/b65661ba-79a0-54f1-a3cb-20b33955440c/scratchpad/ppt/img/accueil_psy.png">    </p:cNvPr>
          <p:cNvPicPr>
            <a:picLocks noChangeAspect="1"/>
          </p:cNvPicPr>
          <p:nvPr/>
        </p:nvPicPr>
        <p:blipFill>
          <a:blip r:embed="rId5"/>
          <a:stretch>
            <a:fillRect/>
          </a:stretch>
        </p:blipFill>
        <p:spPr>
          <a:xfrm>
            <a:off x="7645683" y="1325880"/>
            <a:ext cx="1898102" cy="3977640"/>
          </a:xfrm>
          <a:prstGeom prst="rect">
            <a:avLst/>
          </a:prstGeom>
        </p:spPr>
      </p:pic>
      <p:sp>
        <p:nvSpPr>
          <p:cNvPr id="18" name="Text 11"/>
          <p:cNvSpPr txBox="1"/>
          <p:nvPr/>
        </p:nvSpPr>
        <p:spPr>
          <a:xfrm>
            <a:off x="7645683"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Psychologue</a:t>
            </a:r>
            <a:endParaRPr lang="en-US" sz="1200" dirty="0"/>
          </a:p>
        </p:txBody>
      </p:sp>
      <p:pic>
        <p:nvPicPr>
          <p:cNvPr id="19" name="Image 5" descr="/tmp/claude-0/-home-claude/b65661ba-79a0-54f1-a3cb-20b33955440c/scratchpad/ppt/img/accueil_admin.png">    </p:cNvPr>
          <p:cNvPicPr>
            <a:picLocks noChangeAspect="1"/>
          </p:cNvPicPr>
          <p:nvPr/>
        </p:nvPicPr>
        <p:blipFill>
          <a:blip r:embed="rId6"/>
          <a:stretch>
            <a:fillRect/>
          </a:stretch>
        </p:blipFill>
        <p:spPr>
          <a:xfrm>
            <a:off x="9744953" y="1325880"/>
            <a:ext cx="1898102" cy="4031473"/>
          </a:xfrm>
          <a:prstGeom prst="rect">
            <a:avLst/>
          </a:prstGeom>
        </p:spPr>
      </p:pic>
      <p:sp>
        <p:nvSpPr>
          <p:cNvPr id="20" name="Text 12"/>
          <p:cNvSpPr txBox="1"/>
          <p:nvPr/>
        </p:nvSpPr>
        <p:spPr>
          <a:xfrm>
            <a:off x="9744953"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Administrateur</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Conception : modélisation UML</a:t>
            </a:r>
            <a:endParaRPr lang="en-US" sz="3200" dirty="0"/>
          </a:p>
        </p:txBody>
      </p:sp>
      <p:sp>
        <p:nvSpPr>
          <p:cNvPr id="3" name="Text 1"/>
          <p:cNvSpPr txBox="1"/>
          <p:nvPr/>
        </p:nvSpPr>
        <p:spPr>
          <a:xfrm>
            <a:off x="548640" y="1325880"/>
            <a:ext cx="2377440" cy="1143000"/>
          </a:xfrm>
          <a:prstGeom prst="rect">
            <a:avLst/>
          </a:prstGeom>
          <a:noFill/>
          <a:ln/>
        </p:spPr>
        <p:txBody>
          <a:bodyPr wrap="square" lIns="0" tIns="0" rIns="0" bIns="0" rtlCol="0" anchor="ctr"/>
          <a:lstStyle/>
          <a:p>
            <a:pPr indent="0" marL="0">
              <a:buNone/>
            </a:pPr>
            <a:r>
              <a:rPr lang="en-US" sz="8000" b="1" dirty="0">
                <a:solidFill>
                  <a:srgbClr val="1E4D43"/>
                </a:solidFill>
              </a:rPr>
              <a:t>11</a:t>
            </a:r>
            <a:endParaRPr lang="en-US" sz="8000" dirty="0"/>
          </a:p>
        </p:txBody>
      </p:sp>
      <p:sp>
        <p:nvSpPr>
          <p:cNvPr id="4" name="Text 2"/>
          <p:cNvSpPr txBox="1"/>
          <p:nvPr/>
        </p:nvSpPr>
        <p:spPr>
          <a:xfrm>
            <a:off x="548640" y="2468880"/>
            <a:ext cx="3108960" cy="365760"/>
          </a:xfrm>
          <a:prstGeom prst="rect">
            <a:avLst/>
          </a:prstGeom>
          <a:noFill/>
          <a:ln/>
        </p:spPr>
        <p:txBody>
          <a:bodyPr wrap="square" lIns="0" tIns="0" rIns="0" bIns="0" rtlCol="0" anchor="t"/>
          <a:lstStyle/>
          <a:p>
            <a:pPr indent="0" marL="0">
              <a:buNone/>
            </a:pPr>
            <a:r>
              <a:rPr lang="en-US" sz="1800" b="1" dirty="0">
                <a:solidFill>
                  <a:srgbClr val="22201C"/>
                </a:solidFill>
              </a:rPr>
              <a:t>diagrammes UML</a:t>
            </a:r>
            <a:endParaRPr lang="en-US" sz="1800" dirty="0"/>
          </a:p>
        </p:txBody>
      </p:sp>
      <p:sp>
        <p:nvSpPr>
          <p:cNvPr id="5" name="uml-1"/>
          <p:cNvSpPr/>
          <p:nvPr/>
        </p:nvSpPr>
        <p:spPr>
          <a:xfrm>
            <a:off x="548640" y="3063240"/>
            <a:ext cx="3291840" cy="566928"/>
          </a:xfrm>
          <a:prstGeom prst="roundRect">
            <a:avLst>
              <a:gd name="adj" fmla="val 22581"/>
            </a:avLst>
          </a:prstGeom>
          <a:solidFill>
            <a:srgbClr val="FFFFFF"/>
          </a:solidFill>
          <a:ln w="12700">
            <a:solidFill>
              <a:srgbClr val="E6DFD3"/>
            </a:solidFill>
            <a:prstDash val="solid"/>
          </a:ln>
        </p:spPr>
      </p:sp>
      <p:sp>
        <p:nvSpPr>
          <p:cNvPr id="6" name="Text 4"/>
          <p:cNvSpPr txBox="1"/>
          <p:nvPr/>
        </p:nvSpPr>
        <p:spPr>
          <a:xfrm>
            <a:off x="731520" y="3063240"/>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3</a:t>
            </a:r>
            <a:endParaRPr lang="en-US" sz="2200" dirty="0"/>
          </a:p>
        </p:txBody>
      </p:sp>
      <p:sp>
        <p:nvSpPr>
          <p:cNvPr id="7" name="Text 5"/>
          <p:cNvSpPr txBox="1"/>
          <p:nvPr/>
        </p:nvSpPr>
        <p:spPr>
          <a:xfrm>
            <a:off x="1234440" y="3063240"/>
            <a:ext cx="2514600" cy="566928"/>
          </a:xfrm>
          <a:prstGeom prst="rect">
            <a:avLst/>
          </a:prstGeom>
          <a:noFill/>
          <a:ln/>
        </p:spPr>
        <p:txBody>
          <a:bodyPr wrap="square" lIns="0" tIns="0" rIns="0" bIns="0" rtlCol="0" anchor="ctr"/>
          <a:lstStyle/>
          <a:p>
            <a:pPr indent="0" marL="0">
              <a:buNone/>
            </a:pPr>
            <a:r>
              <a:rPr lang="en-US" sz="1400" dirty="0">
                <a:solidFill>
                  <a:srgbClr val="22201C"/>
                </a:solidFill>
              </a:rPr>
              <a:t>cas d'utilisation, un par acteur</a:t>
            </a:r>
            <a:endParaRPr lang="en-US" sz="1400" dirty="0"/>
          </a:p>
        </p:txBody>
      </p:sp>
      <p:sp>
        <p:nvSpPr>
          <p:cNvPr id="8" name="uml-2"/>
          <p:cNvSpPr/>
          <p:nvPr/>
        </p:nvSpPr>
        <p:spPr>
          <a:xfrm>
            <a:off x="548640" y="3776472"/>
            <a:ext cx="3291840" cy="566928"/>
          </a:xfrm>
          <a:prstGeom prst="roundRect">
            <a:avLst>
              <a:gd name="adj" fmla="val 22581"/>
            </a:avLst>
          </a:prstGeom>
          <a:solidFill>
            <a:srgbClr val="FFFFFF"/>
          </a:solidFill>
          <a:ln w="12700">
            <a:solidFill>
              <a:srgbClr val="E6DFD3"/>
            </a:solidFill>
            <a:prstDash val="solid"/>
          </a:ln>
        </p:spPr>
      </p:sp>
      <p:sp>
        <p:nvSpPr>
          <p:cNvPr id="9" name="Text 7"/>
          <p:cNvSpPr txBox="1"/>
          <p:nvPr/>
        </p:nvSpPr>
        <p:spPr>
          <a:xfrm>
            <a:off x="731520" y="3776472"/>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2</a:t>
            </a:r>
            <a:endParaRPr lang="en-US" sz="2200" dirty="0"/>
          </a:p>
        </p:txBody>
      </p:sp>
      <p:sp>
        <p:nvSpPr>
          <p:cNvPr id="10" name="Text 8"/>
          <p:cNvSpPr txBox="1"/>
          <p:nvPr/>
        </p:nvSpPr>
        <p:spPr>
          <a:xfrm>
            <a:off x="1234440" y="3776472"/>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de classes</a:t>
            </a:r>
            <a:endParaRPr lang="en-US" sz="1400" dirty="0"/>
          </a:p>
        </p:txBody>
      </p:sp>
      <p:sp>
        <p:nvSpPr>
          <p:cNvPr id="11" name="uml-3"/>
          <p:cNvSpPr/>
          <p:nvPr/>
        </p:nvSpPr>
        <p:spPr>
          <a:xfrm>
            <a:off x="548640" y="4489704"/>
            <a:ext cx="3291840" cy="566928"/>
          </a:xfrm>
          <a:prstGeom prst="roundRect">
            <a:avLst>
              <a:gd name="adj" fmla="val 22581"/>
            </a:avLst>
          </a:prstGeom>
          <a:solidFill>
            <a:srgbClr val="FFFFFF"/>
          </a:solidFill>
          <a:ln w="12700">
            <a:solidFill>
              <a:srgbClr val="E6DFD3"/>
            </a:solidFill>
            <a:prstDash val="solid"/>
          </a:ln>
        </p:spPr>
      </p:sp>
      <p:sp>
        <p:nvSpPr>
          <p:cNvPr id="12" name="Text 10"/>
          <p:cNvSpPr txBox="1"/>
          <p:nvPr/>
        </p:nvSpPr>
        <p:spPr>
          <a:xfrm>
            <a:off x="731520" y="4489704"/>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4</a:t>
            </a:r>
            <a:endParaRPr lang="en-US" sz="2200" dirty="0"/>
          </a:p>
        </p:txBody>
      </p:sp>
      <p:sp>
        <p:nvSpPr>
          <p:cNvPr id="13" name="Text 11"/>
          <p:cNvSpPr txBox="1"/>
          <p:nvPr/>
        </p:nvSpPr>
        <p:spPr>
          <a:xfrm>
            <a:off x="1234440" y="4489704"/>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de séquence</a:t>
            </a:r>
            <a:endParaRPr lang="en-US" sz="1400" dirty="0"/>
          </a:p>
        </p:txBody>
      </p:sp>
      <p:sp>
        <p:nvSpPr>
          <p:cNvPr id="14" name="uml-4"/>
          <p:cNvSpPr/>
          <p:nvPr/>
        </p:nvSpPr>
        <p:spPr>
          <a:xfrm>
            <a:off x="548640" y="5202936"/>
            <a:ext cx="3291840" cy="566928"/>
          </a:xfrm>
          <a:prstGeom prst="roundRect">
            <a:avLst>
              <a:gd name="adj" fmla="val 22581"/>
            </a:avLst>
          </a:prstGeom>
          <a:solidFill>
            <a:srgbClr val="FFFFFF"/>
          </a:solidFill>
          <a:ln w="12700">
            <a:solidFill>
              <a:srgbClr val="E6DFD3"/>
            </a:solidFill>
            <a:prstDash val="solid"/>
          </a:ln>
        </p:spPr>
      </p:sp>
      <p:sp>
        <p:nvSpPr>
          <p:cNvPr id="15" name="Text 13"/>
          <p:cNvSpPr txBox="1"/>
          <p:nvPr/>
        </p:nvSpPr>
        <p:spPr>
          <a:xfrm>
            <a:off x="731520" y="5202936"/>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2</a:t>
            </a:r>
            <a:endParaRPr lang="en-US" sz="2200" dirty="0"/>
          </a:p>
        </p:txBody>
      </p:sp>
      <p:sp>
        <p:nvSpPr>
          <p:cNvPr id="16" name="Text 14"/>
          <p:cNvSpPr txBox="1"/>
          <p:nvPr/>
        </p:nvSpPr>
        <p:spPr>
          <a:xfrm>
            <a:off x="1234440" y="5202936"/>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d'activités</a:t>
            </a:r>
            <a:endParaRPr lang="en-US" sz="1400" dirty="0"/>
          </a:p>
        </p:txBody>
      </p:sp>
      <p:sp>
        <p:nvSpPr>
          <p:cNvPr id="17" name="diagramme"/>
          <p:cNvSpPr/>
          <p:nvPr/>
        </p:nvSpPr>
        <p:spPr>
          <a:xfrm>
            <a:off x="4160520" y="1325880"/>
            <a:ext cx="7482535" cy="4800600"/>
          </a:xfrm>
          <a:prstGeom prst="roundRect">
            <a:avLst>
              <a:gd name="adj" fmla="val 2667"/>
            </a:avLst>
          </a:prstGeom>
          <a:solidFill>
            <a:srgbClr val="FFFFFF"/>
          </a:solidFill>
          <a:ln w="12700">
            <a:solidFill>
              <a:srgbClr val="E6DFD3"/>
            </a:solidFill>
            <a:prstDash val="solid"/>
          </a:ln>
        </p:spPr>
      </p:sp>
      <p:pic>
        <p:nvPicPr>
          <p:cNvPr id="18" name="Image 0" descr="/tmp/claude-0/-home-claude/b65661ba-79a0-54f1-a3cb-20b33955440c/scratchpad/ppt/media/ppt/media/image-7-1.png">    </p:cNvPr>
          <p:cNvPicPr>
            <a:picLocks noChangeAspect="1"/>
          </p:cNvPicPr>
          <p:nvPr/>
        </p:nvPicPr>
        <p:blipFill>
          <a:blip r:embed="rId1"/>
          <a:stretch>
            <a:fillRect/>
          </a:stretch>
        </p:blipFill>
        <p:spPr>
          <a:xfrm>
            <a:off x="4389120" y="2144881"/>
            <a:ext cx="7025335" cy="2842559"/>
          </a:xfrm>
          <a:prstGeom prst="rect">
            <a:avLst/>
          </a:prstGeom>
        </p:spPr>
      </p:pic>
      <p:sp>
        <p:nvSpPr>
          <p:cNvPr id="19" name="Text 16"/>
          <p:cNvSpPr txBox="1"/>
          <p:nvPr/>
        </p:nvSpPr>
        <p:spPr>
          <a:xfrm>
            <a:off x="4389120" y="5669280"/>
            <a:ext cx="7025335" cy="274320"/>
          </a:xfrm>
          <a:prstGeom prst="rect">
            <a:avLst/>
          </a:prstGeom>
          <a:noFill/>
          <a:ln/>
        </p:spPr>
        <p:txBody>
          <a:bodyPr wrap="square" lIns="0" tIns="0" rIns="0" bIns="0" rtlCol="0" anchor="t"/>
          <a:lstStyle/>
          <a:p>
            <a:pPr algn="ctr" indent="0" marL="0">
              <a:buNone/>
            </a:pPr>
            <a:r>
              <a:rPr lang="en-US" sz="1200" dirty="0">
                <a:solidFill>
                  <a:srgbClr val="6B645A"/>
                </a:solidFill>
              </a:rPr>
              <a:t>Diagramme de cas d'utilisation du patient</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Architecture technique</a:t>
            </a:r>
            <a:endParaRPr lang="en-US" sz="3200" dirty="0"/>
          </a:p>
        </p:txBody>
      </p:sp>
      <p:sp>
        <p:nvSpPr>
          <p:cNvPr id="3" name="Shape 1"/>
          <p:cNvSpPr/>
          <p:nvPr/>
        </p:nvSpPr>
        <p:spPr>
          <a:xfrm>
            <a:off x="548640" y="2971800"/>
            <a:ext cx="1417320" cy="868680"/>
          </a:xfrm>
          <a:prstGeom prst="roundRect">
            <a:avLst>
              <a:gd name="adj" fmla="val 10526"/>
            </a:avLst>
          </a:prstGeom>
          <a:solidFill>
            <a:srgbClr val="1E4D43"/>
          </a:solidFill>
          <a:ln w="12700">
            <a:solidFill>
              <a:srgbClr val="1E4D43"/>
            </a:solidFill>
            <a:prstDash val="solid"/>
          </a:ln>
        </p:spPr>
      </p:sp>
      <p:sp>
        <p:nvSpPr>
          <p:cNvPr id="4" name="Text 2"/>
          <p:cNvSpPr txBox="1"/>
          <p:nvPr/>
        </p:nvSpPr>
        <p:spPr>
          <a:xfrm>
            <a:off x="640080" y="2971800"/>
            <a:ext cx="1234440" cy="868680"/>
          </a:xfrm>
          <a:prstGeom prst="rect">
            <a:avLst/>
          </a:prstGeom>
          <a:noFill/>
          <a:ln/>
        </p:spPr>
        <p:txBody>
          <a:bodyPr wrap="square" lIns="0" tIns="0" rIns="0" bIns="0" rtlCol="0" anchor="ctr"/>
          <a:lstStyle/>
          <a:p>
            <a:pPr algn="ctr" indent="0" marL="0">
              <a:buNone/>
            </a:pPr>
            <a:r>
              <a:rPr lang="en-US" sz="1300" b="1" dirty="0">
                <a:solidFill>
                  <a:srgbClr val="FFFFFF"/>
                </a:solidFill>
              </a:rPr>
              <a:t>Application</a:t>
            </a:r>
            <a:endParaRPr lang="en-US" sz="1400" dirty="0"/>
          </a:p>
          <a:p>
            <a:pPr algn="ctr" indent="0" marL="0">
              <a:buNone/>
            </a:pPr>
            <a:r>
              <a:rPr lang="en-US" sz="1100" dirty="0">
                <a:solidFill>
                  <a:srgbClr val="DCE7E0"/>
                </a:solidFill>
              </a:rPr>
              <a:t>Flutter</a:t>
            </a:r>
            <a:endParaRPr lang="en-US" sz="1400" dirty="0"/>
          </a:p>
        </p:txBody>
      </p:sp>
      <p:sp>
        <p:nvSpPr>
          <p:cNvPr id="5" name="Shape 3"/>
          <p:cNvSpPr/>
          <p:nvPr/>
        </p:nvSpPr>
        <p:spPr>
          <a:xfrm>
            <a:off x="1965960" y="3406140"/>
            <a:ext cx="274320" cy="0"/>
          </a:xfrm>
          <a:prstGeom prst="line">
            <a:avLst/>
          </a:prstGeom>
          <a:noFill/>
          <a:ln w="19050">
            <a:solidFill>
              <a:srgbClr val="4F8C7B"/>
            </a:solidFill>
            <a:prstDash val="solid"/>
            <a:tailEnd type="triangle"/>
          </a:ln>
        </p:spPr>
      </p:sp>
      <p:sp>
        <p:nvSpPr>
          <p:cNvPr id="6" name="Shape 4"/>
          <p:cNvSpPr/>
          <p:nvPr/>
        </p:nvSpPr>
        <p:spPr>
          <a:xfrm>
            <a:off x="2240280" y="2971800"/>
            <a:ext cx="1417320" cy="868680"/>
          </a:xfrm>
          <a:prstGeom prst="roundRect">
            <a:avLst>
              <a:gd name="adj" fmla="val 10526"/>
            </a:avLst>
          </a:prstGeom>
          <a:solidFill>
            <a:srgbClr val="1E4D43"/>
          </a:solidFill>
          <a:ln w="12700">
            <a:solidFill>
              <a:srgbClr val="1E4D43"/>
            </a:solidFill>
            <a:prstDash val="solid"/>
          </a:ln>
        </p:spPr>
      </p:sp>
      <p:sp>
        <p:nvSpPr>
          <p:cNvPr id="7" name="Text 5"/>
          <p:cNvSpPr txBox="1"/>
          <p:nvPr/>
        </p:nvSpPr>
        <p:spPr>
          <a:xfrm>
            <a:off x="2331720" y="2971800"/>
            <a:ext cx="1234440" cy="868680"/>
          </a:xfrm>
          <a:prstGeom prst="rect">
            <a:avLst/>
          </a:prstGeom>
          <a:noFill/>
          <a:ln/>
        </p:spPr>
        <p:txBody>
          <a:bodyPr wrap="square" lIns="0" tIns="0" rIns="0" bIns="0" rtlCol="0" anchor="ctr"/>
          <a:lstStyle/>
          <a:p>
            <a:pPr algn="ctr" indent="0" marL="0">
              <a:buNone/>
            </a:pPr>
            <a:r>
              <a:rPr lang="en-US" sz="1300" b="1" dirty="0">
                <a:solidFill>
                  <a:srgbClr val="FFFFFF"/>
                </a:solidFill>
              </a:rPr>
              <a:t>API Gateway</a:t>
            </a:r>
            <a:endParaRPr lang="en-US" sz="1400" dirty="0"/>
          </a:p>
          <a:p>
            <a:pPr algn="ctr" indent="0" marL="0">
              <a:buNone/>
            </a:pPr>
            <a:r>
              <a:rPr lang="en-US" sz="1100" dirty="0">
                <a:solidFill>
                  <a:srgbClr val="DCE7E0"/>
                </a:solidFill>
              </a:rPr>
              <a:t>Spring Cloud</a:t>
            </a:r>
            <a:endParaRPr lang="en-US" sz="1400" dirty="0"/>
          </a:p>
        </p:txBody>
      </p:sp>
      <p:sp>
        <p:nvSpPr>
          <p:cNvPr id="8" name="Shape 6"/>
          <p:cNvSpPr/>
          <p:nvPr/>
        </p:nvSpPr>
        <p:spPr>
          <a:xfrm>
            <a:off x="3657600" y="3406140"/>
            <a:ext cx="274320" cy="0"/>
          </a:xfrm>
          <a:prstGeom prst="line">
            <a:avLst/>
          </a:prstGeom>
          <a:noFill/>
          <a:ln w="19050">
            <a:solidFill>
              <a:srgbClr val="4F8C7B"/>
            </a:solidFill>
            <a:prstDash val="solid"/>
            <a:tailEnd type="triangle"/>
          </a:ln>
        </p:spPr>
      </p:sp>
      <p:sp>
        <p:nvSpPr>
          <p:cNvPr id="9" name="Shape 7"/>
          <p:cNvSpPr/>
          <p:nvPr/>
        </p:nvSpPr>
        <p:spPr>
          <a:xfrm>
            <a:off x="3931920" y="1371600"/>
            <a:ext cx="3931920" cy="4069080"/>
          </a:xfrm>
          <a:prstGeom prst="roundRect">
            <a:avLst>
              <a:gd name="adj" fmla="val 3256"/>
            </a:avLst>
          </a:prstGeom>
          <a:solidFill>
            <a:srgbClr val="FFFFFF"/>
          </a:solidFill>
          <a:ln w="12700">
            <a:solidFill>
              <a:srgbClr val="4F8C7B"/>
            </a:solidFill>
            <a:prstDash val="dash"/>
          </a:ln>
        </p:spPr>
      </p:sp>
      <p:sp>
        <p:nvSpPr>
          <p:cNvPr id="10" name="Shape 8"/>
          <p:cNvSpPr/>
          <p:nvPr/>
        </p:nvSpPr>
        <p:spPr>
          <a:xfrm>
            <a:off x="4069080" y="1508760"/>
            <a:ext cx="1783080" cy="841248"/>
          </a:xfrm>
          <a:prstGeom prst="roundRect">
            <a:avLst>
              <a:gd name="adj" fmla="val 10870"/>
            </a:avLst>
          </a:prstGeom>
          <a:solidFill>
            <a:srgbClr val="EEF3EF"/>
          </a:solidFill>
          <a:ln w="12700">
            <a:solidFill>
              <a:srgbClr val="EEF3EF"/>
            </a:solidFill>
            <a:prstDash val="solid"/>
          </a:ln>
        </p:spPr>
      </p:sp>
      <p:sp>
        <p:nvSpPr>
          <p:cNvPr id="11" name="Text 9"/>
          <p:cNvSpPr txBox="1"/>
          <p:nvPr/>
        </p:nvSpPr>
        <p:spPr>
          <a:xfrm>
            <a:off x="4160520" y="1508760"/>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auth-service</a:t>
            </a:r>
            <a:endParaRPr lang="en-US" sz="1400" dirty="0"/>
          </a:p>
          <a:p>
            <a:pPr algn="ctr" indent="0" marL="0">
              <a:buNone/>
            </a:pPr>
            <a:r>
              <a:rPr lang="en-US" sz="1100" dirty="0">
                <a:solidFill>
                  <a:srgbClr val="6B645A"/>
                </a:solidFill>
              </a:rPr>
              <a:t>Java</a:t>
            </a:r>
            <a:endParaRPr lang="en-US" sz="1400" dirty="0"/>
          </a:p>
        </p:txBody>
      </p:sp>
      <p:sp>
        <p:nvSpPr>
          <p:cNvPr id="12" name="Shape 10"/>
          <p:cNvSpPr/>
          <p:nvPr/>
        </p:nvSpPr>
        <p:spPr>
          <a:xfrm>
            <a:off x="5943600" y="1508760"/>
            <a:ext cx="1783080" cy="841248"/>
          </a:xfrm>
          <a:prstGeom prst="roundRect">
            <a:avLst>
              <a:gd name="adj" fmla="val 10870"/>
            </a:avLst>
          </a:prstGeom>
          <a:solidFill>
            <a:srgbClr val="EEF3EF"/>
          </a:solidFill>
          <a:ln w="12700">
            <a:solidFill>
              <a:srgbClr val="EEF3EF"/>
            </a:solidFill>
            <a:prstDash val="solid"/>
          </a:ln>
        </p:spPr>
      </p:sp>
      <p:sp>
        <p:nvSpPr>
          <p:cNvPr id="13" name="Text 11"/>
          <p:cNvSpPr txBox="1"/>
          <p:nvPr/>
        </p:nvSpPr>
        <p:spPr>
          <a:xfrm>
            <a:off x="6035040" y="1508760"/>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user-service</a:t>
            </a:r>
            <a:endParaRPr lang="en-US" sz="1400" dirty="0"/>
          </a:p>
          <a:p>
            <a:pPr algn="ctr" indent="0" marL="0">
              <a:buNone/>
            </a:pPr>
            <a:r>
              <a:rPr lang="en-US" sz="1100" dirty="0">
                <a:solidFill>
                  <a:srgbClr val="6B645A"/>
                </a:solidFill>
              </a:rPr>
              <a:t>Java</a:t>
            </a:r>
            <a:endParaRPr lang="en-US" sz="1400" dirty="0"/>
          </a:p>
        </p:txBody>
      </p:sp>
      <p:sp>
        <p:nvSpPr>
          <p:cNvPr id="14" name="Shape 12"/>
          <p:cNvSpPr/>
          <p:nvPr/>
        </p:nvSpPr>
        <p:spPr>
          <a:xfrm>
            <a:off x="4069080" y="2487168"/>
            <a:ext cx="1783080" cy="841248"/>
          </a:xfrm>
          <a:prstGeom prst="roundRect">
            <a:avLst>
              <a:gd name="adj" fmla="val 10870"/>
            </a:avLst>
          </a:prstGeom>
          <a:solidFill>
            <a:srgbClr val="EEF3EF"/>
          </a:solidFill>
          <a:ln w="12700">
            <a:solidFill>
              <a:srgbClr val="EEF3EF"/>
            </a:solidFill>
            <a:prstDash val="solid"/>
          </a:ln>
        </p:spPr>
      </p:sp>
      <p:sp>
        <p:nvSpPr>
          <p:cNvPr id="15" name="Text 13"/>
          <p:cNvSpPr txBox="1"/>
          <p:nvPr/>
        </p:nvSpPr>
        <p:spPr>
          <a:xfrm>
            <a:off x="4160520" y="2487168"/>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appointment-service</a:t>
            </a:r>
            <a:endParaRPr lang="en-US" sz="1400" dirty="0"/>
          </a:p>
          <a:p>
            <a:pPr algn="ctr" indent="0" marL="0">
              <a:buNone/>
            </a:pPr>
            <a:r>
              <a:rPr lang="en-US" sz="1100" dirty="0">
                <a:solidFill>
                  <a:srgbClr val="6B645A"/>
                </a:solidFill>
              </a:rPr>
              <a:t>Java</a:t>
            </a:r>
            <a:endParaRPr lang="en-US" sz="1400" dirty="0"/>
          </a:p>
        </p:txBody>
      </p:sp>
      <p:sp>
        <p:nvSpPr>
          <p:cNvPr id="16" name="Shape 14"/>
          <p:cNvSpPr/>
          <p:nvPr/>
        </p:nvSpPr>
        <p:spPr>
          <a:xfrm>
            <a:off x="5943600" y="2487168"/>
            <a:ext cx="1783080" cy="841248"/>
          </a:xfrm>
          <a:prstGeom prst="roundRect">
            <a:avLst>
              <a:gd name="adj" fmla="val 10870"/>
            </a:avLst>
          </a:prstGeom>
          <a:solidFill>
            <a:srgbClr val="EEF3EF"/>
          </a:solidFill>
          <a:ln w="12700">
            <a:solidFill>
              <a:srgbClr val="EEF3EF"/>
            </a:solidFill>
            <a:prstDash val="solid"/>
          </a:ln>
        </p:spPr>
      </p:sp>
      <p:sp>
        <p:nvSpPr>
          <p:cNvPr id="17" name="Text 15"/>
          <p:cNvSpPr txBox="1"/>
          <p:nvPr/>
        </p:nvSpPr>
        <p:spPr>
          <a:xfrm>
            <a:off x="6035040" y="2487168"/>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session-service</a:t>
            </a:r>
            <a:endParaRPr lang="en-US" sz="1400" dirty="0"/>
          </a:p>
          <a:p>
            <a:pPr algn="ctr" indent="0" marL="0">
              <a:buNone/>
            </a:pPr>
            <a:r>
              <a:rPr lang="en-US" sz="1100" dirty="0">
                <a:solidFill>
                  <a:srgbClr val="6B645A"/>
                </a:solidFill>
              </a:rPr>
              <a:t>Java · Jitsi</a:t>
            </a:r>
            <a:endParaRPr lang="en-US" sz="1400" dirty="0"/>
          </a:p>
        </p:txBody>
      </p:sp>
      <p:sp>
        <p:nvSpPr>
          <p:cNvPr id="18" name="Shape 16"/>
          <p:cNvSpPr/>
          <p:nvPr/>
        </p:nvSpPr>
        <p:spPr>
          <a:xfrm>
            <a:off x="4069080" y="3465576"/>
            <a:ext cx="1783080" cy="841248"/>
          </a:xfrm>
          <a:prstGeom prst="roundRect">
            <a:avLst>
              <a:gd name="adj" fmla="val 10870"/>
            </a:avLst>
          </a:prstGeom>
          <a:solidFill>
            <a:srgbClr val="EEF3EF"/>
          </a:solidFill>
          <a:ln w="12700">
            <a:solidFill>
              <a:srgbClr val="EEF3EF"/>
            </a:solidFill>
            <a:prstDash val="solid"/>
          </a:ln>
        </p:spPr>
      </p:sp>
      <p:sp>
        <p:nvSpPr>
          <p:cNvPr id="19" name="Text 17"/>
          <p:cNvSpPr txBox="1"/>
          <p:nvPr/>
        </p:nvSpPr>
        <p:spPr>
          <a:xfrm>
            <a:off x="4160520" y="3465576"/>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payment-service</a:t>
            </a:r>
            <a:endParaRPr lang="en-US" sz="1400" dirty="0"/>
          </a:p>
          <a:p>
            <a:pPr algn="ctr" indent="0" marL="0">
              <a:buNone/>
            </a:pPr>
            <a:r>
              <a:rPr lang="en-US" sz="1100" dirty="0">
                <a:solidFill>
                  <a:srgbClr val="6B645A"/>
                </a:solidFill>
              </a:rPr>
              <a:t>Java</a:t>
            </a:r>
            <a:endParaRPr lang="en-US" sz="1400" dirty="0"/>
          </a:p>
        </p:txBody>
      </p:sp>
      <p:sp>
        <p:nvSpPr>
          <p:cNvPr id="20" name="Shape 18"/>
          <p:cNvSpPr/>
          <p:nvPr/>
        </p:nvSpPr>
        <p:spPr>
          <a:xfrm>
            <a:off x="5943600" y="3465576"/>
            <a:ext cx="1783080" cy="841248"/>
          </a:xfrm>
          <a:prstGeom prst="roundRect">
            <a:avLst>
              <a:gd name="adj" fmla="val 10870"/>
            </a:avLst>
          </a:prstGeom>
          <a:solidFill>
            <a:srgbClr val="EEF3EF"/>
          </a:solidFill>
          <a:ln w="12700">
            <a:solidFill>
              <a:srgbClr val="EEF3EF"/>
            </a:solidFill>
            <a:prstDash val="solid"/>
          </a:ln>
        </p:spPr>
      </p:sp>
      <p:sp>
        <p:nvSpPr>
          <p:cNvPr id="21" name="Text 19"/>
          <p:cNvSpPr txBox="1"/>
          <p:nvPr/>
        </p:nvSpPr>
        <p:spPr>
          <a:xfrm>
            <a:off x="6035040" y="3465576"/>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notification-service</a:t>
            </a:r>
            <a:endParaRPr lang="en-US" sz="1400" dirty="0"/>
          </a:p>
          <a:p>
            <a:pPr algn="ctr" indent="0" marL="0">
              <a:buNone/>
            </a:pPr>
            <a:r>
              <a:rPr lang="en-US" sz="1100" dirty="0">
                <a:solidFill>
                  <a:srgbClr val="6B645A"/>
                </a:solidFill>
              </a:rPr>
              <a:t>Java</a:t>
            </a:r>
            <a:endParaRPr lang="en-US" sz="1400" dirty="0"/>
          </a:p>
        </p:txBody>
      </p:sp>
      <p:sp>
        <p:nvSpPr>
          <p:cNvPr id="22" name="Shape 20"/>
          <p:cNvSpPr/>
          <p:nvPr/>
        </p:nvSpPr>
        <p:spPr>
          <a:xfrm>
            <a:off x="4069080" y="4443984"/>
            <a:ext cx="1783080" cy="841248"/>
          </a:xfrm>
          <a:prstGeom prst="roundRect">
            <a:avLst>
              <a:gd name="adj" fmla="val 10870"/>
            </a:avLst>
          </a:prstGeom>
          <a:solidFill>
            <a:srgbClr val="F5EBD3"/>
          </a:solidFill>
          <a:ln w="12700">
            <a:solidFill>
              <a:srgbClr val="F5EBD3"/>
            </a:solidFill>
            <a:prstDash val="solid"/>
          </a:ln>
        </p:spPr>
      </p:sp>
      <p:sp>
        <p:nvSpPr>
          <p:cNvPr id="23" name="Text 21"/>
          <p:cNvSpPr txBox="1"/>
          <p:nvPr/>
        </p:nvSpPr>
        <p:spPr>
          <a:xfrm>
            <a:off x="4160520" y="4443984"/>
            <a:ext cx="1600200" cy="841248"/>
          </a:xfrm>
          <a:prstGeom prst="rect">
            <a:avLst/>
          </a:prstGeom>
          <a:noFill/>
          <a:ln/>
        </p:spPr>
        <p:txBody>
          <a:bodyPr wrap="square" lIns="0" tIns="0" rIns="0" bIns="0" rtlCol="0" anchor="ctr"/>
          <a:lstStyle/>
          <a:p>
            <a:pPr algn="ctr" indent="0" marL="0">
              <a:buNone/>
            </a:pPr>
            <a:r>
              <a:rPr lang="en-US" sz="1300" b="1" dirty="0">
                <a:solidFill>
                  <a:srgbClr val="22201C"/>
                </a:solidFill>
              </a:rPr>
              <a:t>ai-companion-service</a:t>
            </a:r>
            <a:endParaRPr lang="en-US" sz="1400" dirty="0"/>
          </a:p>
          <a:p>
            <a:pPr algn="ctr" indent="0" marL="0">
              <a:buNone/>
            </a:pPr>
            <a:r>
              <a:rPr lang="en-US" sz="1100" dirty="0">
                <a:solidFill>
                  <a:srgbClr val="9A6B12"/>
                </a:solidFill>
              </a:rPr>
              <a:t>Java · Ollama</a:t>
            </a:r>
            <a:endParaRPr lang="en-US" sz="1400" dirty="0"/>
          </a:p>
        </p:txBody>
      </p:sp>
      <p:sp>
        <p:nvSpPr>
          <p:cNvPr id="24" name="Shape 22"/>
          <p:cNvSpPr/>
          <p:nvPr/>
        </p:nvSpPr>
        <p:spPr>
          <a:xfrm>
            <a:off x="5943600" y="4443984"/>
            <a:ext cx="1783080" cy="841248"/>
          </a:xfrm>
          <a:prstGeom prst="roundRect">
            <a:avLst>
              <a:gd name="adj" fmla="val 10870"/>
            </a:avLst>
          </a:prstGeom>
          <a:solidFill>
            <a:srgbClr val="F5EBD3"/>
          </a:solidFill>
          <a:ln w="12700">
            <a:solidFill>
              <a:srgbClr val="F5EBD3"/>
            </a:solidFill>
            <a:prstDash val="solid"/>
          </a:ln>
        </p:spPr>
      </p:sp>
      <p:sp>
        <p:nvSpPr>
          <p:cNvPr id="25" name="Text 23"/>
          <p:cNvSpPr txBox="1"/>
          <p:nvPr/>
        </p:nvSpPr>
        <p:spPr>
          <a:xfrm>
            <a:off x="6035040" y="4443984"/>
            <a:ext cx="1600200" cy="841248"/>
          </a:xfrm>
          <a:prstGeom prst="rect">
            <a:avLst/>
          </a:prstGeom>
          <a:noFill/>
          <a:ln/>
        </p:spPr>
        <p:txBody>
          <a:bodyPr wrap="square" lIns="0" tIns="0" rIns="0" bIns="0" rtlCol="0" anchor="ctr"/>
          <a:lstStyle/>
          <a:p>
            <a:pPr algn="ctr" indent="0" marL="0">
              <a:buNone/>
            </a:pPr>
            <a:r>
              <a:rPr lang="en-US" sz="1300" b="1" dirty="0">
                <a:solidFill>
                  <a:srgbClr val="22201C"/>
                </a:solidFill>
              </a:rPr>
              <a:t>ml-service</a:t>
            </a:r>
            <a:endParaRPr lang="en-US" sz="1400" dirty="0"/>
          </a:p>
          <a:p>
            <a:pPr algn="ctr" indent="0" marL="0">
              <a:buNone/>
            </a:pPr>
            <a:r>
              <a:rPr lang="en-US" sz="1100" dirty="0">
                <a:solidFill>
                  <a:srgbClr val="9A6B12"/>
                </a:solidFill>
              </a:rPr>
              <a:t>Python · FastAPI</a:t>
            </a:r>
            <a:endParaRPr lang="en-US" sz="1400" dirty="0"/>
          </a:p>
        </p:txBody>
      </p:sp>
      <p:sp>
        <p:nvSpPr>
          <p:cNvPr id="26" name="Shape 24"/>
          <p:cNvSpPr/>
          <p:nvPr/>
        </p:nvSpPr>
        <p:spPr>
          <a:xfrm>
            <a:off x="3931920" y="5532120"/>
            <a:ext cx="1243584" cy="658368"/>
          </a:xfrm>
          <a:prstGeom prst="roundRect">
            <a:avLst>
              <a:gd name="adj" fmla="val 13889"/>
            </a:avLst>
          </a:prstGeom>
          <a:solidFill>
            <a:srgbClr val="FFFFFF"/>
          </a:solidFill>
          <a:ln w="12700">
            <a:solidFill>
              <a:srgbClr val="E6DFD3"/>
            </a:solidFill>
            <a:prstDash val="solid"/>
          </a:ln>
        </p:spPr>
      </p:sp>
      <p:sp>
        <p:nvSpPr>
          <p:cNvPr id="27" name="Text 25"/>
          <p:cNvSpPr txBox="1"/>
          <p:nvPr/>
        </p:nvSpPr>
        <p:spPr>
          <a:xfrm>
            <a:off x="4023360"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Eureka</a:t>
            </a:r>
            <a:endParaRPr lang="en-US" sz="1400" dirty="0"/>
          </a:p>
          <a:p>
            <a:pPr algn="ctr" indent="0" marL="0">
              <a:buNone/>
            </a:pPr>
            <a:r>
              <a:rPr lang="en-US" sz="1100" dirty="0">
                <a:solidFill>
                  <a:srgbClr val="6B645A"/>
                </a:solidFill>
              </a:rPr>
              <a:t>annuaire</a:t>
            </a:r>
            <a:endParaRPr lang="en-US" sz="1400" dirty="0"/>
          </a:p>
        </p:txBody>
      </p:sp>
      <p:sp>
        <p:nvSpPr>
          <p:cNvPr id="28" name="Shape 26"/>
          <p:cNvSpPr/>
          <p:nvPr/>
        </p:nvSpPr>
        <p:spPr>
          <a:xfrm>
            <a:off x="5276088" y="5532120"/>
            <a:ext cx="1243584" cy="658368"/>
          </a:xfrm>
          <a:prstGeom prst="roundRect">
            <a:avLst>
              <a:gd name="adj" fmla="val 13889"/>
            </a:avLst>
          </a:prstGeom>
          <a:solidFill>
            <a:srgbClr val="FFFFFF"/>
          </a:solidFill>
          <a:ln w="12700">
            <a:solidFill>
              <a:srgbClr val="E6DFD3"/>
            </a:solidFill>
            <a:prstDash val="solid"/>
          </a:ln>
        </p:spPr>
      </p:sp>
      <p:sp>
        <p:nvSpPr>
          <p:cNvPr id="29" name="Text 27"/>
          <p:cNvSpPr txBox="1"/>
          <p:nvPr/>
        </p:nvSpPr>
        <p:spPr>
          <a:xfrm>
            <a:off x="5367528"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Zipkin</a:t>
            </a:r>
            <a:endParaRPr lang="en-US" sz="1400" dirty="0"/>
          </a:p>
          <a:p>
            <a:pPr algn="ctr" indent="0" marL="0">
              <a:buNone/>
            </a:pPr>
            <a:r>
              <a:rPr lang="en-US" sz="1100" dirty="0">
                <a:solidFill>
                  <a:srgbClr val="6B645A"/>
                </a:solidFill>
              </a:rPr>
              <a:t>traçage</a:t>
            </a:r>
            <a:endParaRPr lang="en-US" sz="1400" dirty="0"/>
          </a:p>
        </p:txBody>
      </p:sp>
      <p:sp>
        <p:nvSpPr>
          <p:cNvPr id="30" name="Shape 28"/>
          <p:cNvSpPr/>
          <p:nvPr/>
        </p:nvSpPr>
        <p:spPr>
          <a:xfrm>
            <a:off x="6620256" y="5532120"/>
            <a:ext cx="1243584" cy="658368"/>
          </a:xfrm>
          <a:prstGeom prst="roundRect">
            <a:avLst>
              <a:gd name="adj" fmla="val 13889"/>
            </a:avLst>
          </a:prstGeom>
          <a:solidFill>
            <a:srgbClr val="FFFFFF"/>
          </a:solidFill>
          <a:ln w="12700">
            <a:solidFill>
              <a:srgbClr val="E6DFD3"/>
            </a:solidFill>
            <a:prstDash val="solid"/>
          </a:ln>
        </p:spPr>
      </p:sp>
      <p:sp>
        <p:nvSpPr>
          <p:cNvPr id="31" name="Text 29"/>
          <p:cNvSpPr txBox="1"/>
          <p:nvPr/>
        </p:nvSpPr>
        <p:spPr>
          <a:xfrm>
            <a:off x="6711696"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PostgreSQL</a:t>
            </a:r>
            <a:endParaRPr lang="en-US" sz="1400" dirty="0"/>
          </a:p>
          <a:p>
            <a:pPr algn="ctr" indent="0" marL="0">
              <a:buNone/>
            </a:pPr>
            <a:r>
              <a:rPr lang="en-US" sz="1100" dirty="0">
                <a:solidFill>
                  <a:srgbClr val="6B645A"/>
                </a:solidFill>
              </a:rPr>
              <a:t>6 bases</a:t>
            </a:r>
            <a:endParaRPr lang="en-US" sz="1400" dirty="0"/>
          </a:p>
        </p:txBody>
      </p:sp>
      <p:sp>
        <p:nvSpPr>
          <p:cNvPr id="32" name="Text 30"/>
          <p:cNvSpPr txBox="1"/>
          <p:nvPr/>
        </p:nvSpPr>
        <p:spPr>
          <a:xfrm>
            <a:off x="8183880" y="1371600"/>
            <a:ext cx="3459175" cy="365760"/>
          </a:xfrm>
          <a:prstGeom prst="rect">
            <a:avLst/>
          </a:prstGeom>
          <a:noFill/>
          <a:ln/>
        </p:spPr>
        <p:txBody>
          <a:bodyPr wrap="square" lIns="0" tIns="0" rIns="0" bIns="0" rtlCol="0" anchor="t"/>
          <a:lstStyle/>
          <a:p>
            <a:pPr indent="0" marL="0">
              <a:buNone/>
            </a:pPr>
            <a:r>
              <a:rPr lang="en-US" sz="1800" b="1" dirty="0">
                <a:solidFill>
                  <a:srgbClr val="1E4D43"/>
                </a:solidFill>
              </a:rPr>
              <a:t>Pourquoi ce choix</a:t>
            </a:r>
            <a:endParaRPr lang="en-US" sz="1800" dirty="0"/>
          </a:p>
        </p:txBody>
      </p:sp>
      <p:sp>
        <p:nvSpPr>
          <p:cNvPr id="33" name="pourquoi-1"/>
          <p:cNvSpPr/>
          <p:nvPr/>
        </p:nvSpPr>
        <p:spPr>
          <a:xfrm>
            <a:off x="8183880" y="1874520"/>
            <a:ext cx="3459175" cy="960120"/>
          </a:xfrm>
          <a:prstGeom prst="roundRect">
            <a:avLst>
              <a:gd name="adj" fmla="val 13333"/>
            </a:avLst>
          </a:prstGeom>
          <a:solidFill>
            <a:srgbClr val="FFFFFF"/>
          </a:solidFill>
          <a:ln w="12700">
            <a:solidFill>
              <a:srgbClr val="E6DFD3"/>
            </a:solidFill>
            <a:prstDash val="solid"/>
          </a:ln>
        </p:spPr>
      </p:sp>
      <p:sp>
        <p:nvSpPr>
          <p:cNvPr id="34" name="Text 32"/>
          <p:cNvSpPr txBox="1"/>
          <p:nvPr/>
        </p:nvSpPr>
        <p:spPr>
          <a:xfrm>
            <a:off x="8366760" y="1965960"/>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Deux langages</a:t>
            </a:r>
            <a:endParaRPr lang="en-US" sz="1400" dirty="0"/>
          </a:p>
          <a:p>
            <a:pPr indent="0" marL="0">
              <a:buNone/>
            </a:pPr>
            <a:r>
              <a:rPr lang="en-US" sz="1300" dirty="0">
                <a:solidFill>
                  <a:srgbClr val="6B645A"/>
                </a:solidFill>
              </a:rPr>
              <a:t>Python pour la recommandation, Java pour le reste.</a:t>
            </a:r>
            <a:endParaRPr lang="en-US" sz="1400" dirty="0"/>
          </a:p>
        </p:txBody>
      </p:sp>
      <p:sp>
        <p:nvSpPr>
          <p:cNvPr id="35" name="pourquoi-2"/>
          <p:cNvSpPr/>
          <p:nvPr/>
        </p:nvSpPr>
        <p:spPr>
          <a:xfrm>
            <a:off x="8183880" y="2953512"/>
            <a:ext cx="3459175" cy="960120"/>
          </a:xfrm>
          <a:prstGeom prst="roundRect">
            <a:avLst>
              <a:gd name="adj" fmla="val 13333"/>
            </a:avLst>
          </a:prstGeom>
          <a:solidFill>
            <a:srgbClr val="FFFFFF"/>
          </a:solidFill>
          <a:ln w="12700">
            <a:solidFill>
              <a:srgbClr val="E6DFD3"/>
            </a:solidFill>
            <a:prstDash val="solid"/>
          </a:ln>
        </p:spPr>
      </p:sp>
      <p:sp>
        <p:nvSpPr>
          <p:cNvPr id="36" name="Text 34"/>
          <p:cNvSpPr txBox="1"/>
          <p:nvPr/>
        </p:nvSpPr>
        <p:spPr>
          <a:xfrm>
            <a:off x="8366760" y="3044952"/>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Une panne reste locale</a:t>
            </a:r>
            <a:endParaRPr lang="en-US" sz="1400" dirty="0"/>
          </a:p>
          <a:p>
            <a:pPr indent="0" marL="0">
              <a:buNone/>
            </a:pPr>
            <a:r>
              <a:rPr lang="en-US" sz="1300" dirty="0">
                <a:solidFill>
                  <a:srgbClr val="6B645A"/>
                </a:solidFill>
              </a:rPr>
              <a:t>Si l'IA tombe, rendez-vous et paiements continuent.</a:t>
            </a:r>
            <a:endParaRPr lang="en-US" sz="1400" dirty="0"/>
          </a:p>
        </p:txBody>
      </p:sp>
      <p:sp>
        <p:nvSpPr>
          <p:cNvPr id="37" name="pourquoi-3"/>
          <p:cNvSpPr/>
          <p:nvPr/>
        </p:nvSpPr>
        <p:spPr>
          <a:xfrm>
            <a:off x="8183880" y="4032504"/>
            <a:ext cx="3459175" cy="960120"/>
          </a:xfrm>
          <a:prstGeom prst="roundRect">
            <a:avLst>
              <a:gd name="adj" fmla="val 13333"/>
            </a:avLst>
          </a:prstGeom>
          <a:solidFill>
            <a:srgbClr val="FFFFFF"/>
          </a:solidFill>
          <a:ln w="12700">
            <a:solidFill>
              <a:srgbClr val="E6DFD3"/>
            </a:solidFill>
            <a:prstDash val="solid"/>
          </a:ln>
        </p:spPr>
      </p:sp>
      <p:sp>
        <p:nvSpPr>
          <p:cNvPr id="38" name="Text 36"/>
          <p:cNvSpPr txBox="1"/>
          <p:nvPr/>
        </p:nvSpPr>
        <p:spPr>
          <a:xfrm>
            <a:off x="8366760" y="4123944"/>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Éprouvé en cours de projet</a:t>
            </a:r>
            <a:endParaRPr lang="en-US" sz="1400" dirty="0"/>
          </a:p>
          <a:p>
            <a:pPr indent="0" marL="0">
              <a:buNone/>
            </a:pPr>
            <a:r>
              <a:rPr lang="en-US" sz="1300" dirty="0">
                <a:solidFill>
                  <a:srgbClr val="6B645A"/>
                </a:solidFill>
              </a:rPr>
              <a:t>Le paiement extrait en service dédié sans toucher au reste.</a:t>
            </a:r>
            <a:endParaRPr lang="en-US" sz="1400" dirty="0"/>
          </a:p>
        </p:txBody>
      </p:sp>
      <p:sp>
        <p:nvSpPr>
          <p:cNvPr id="39" name="cout"/>
          <p:cNvSpPr/>
          <p:nvPr/>
        </p:nvSpPr>
        <p:spPr>
          <a:xfrm>
            <a:off x="8183880" y="5166360"/>
            <a:ext cx="3459175" cy="1024128"/>
          </a:xfrm>
          <a:prstGeom prst="roundRect">
            <a:avLst>
              <a:gd name="adj" fmla="val 12500"/>
            </a:avLst>
          </a:prstGeom>
          <a:solidFill>
            <a:srgbClr val="F5EBD3"/>
          </a:solidFill>
          <a:ln w="12700">
            <a:solidFill>
              <a:srgbClr val="F5EBD3"/>
            </a:solidFill>
            <a:prstDash val="solid"/>
          </a:ln>
        </p:spPr>
      </p:sp>
      <p:sp>
        <p:nvSpPr>
          <p:cNvPr id="40" name="Text 38"/>
          <p:cNvSpPr txBox="1"/>
          <p:nvPr/>
        </p:nvSpPr>
        <p:spPr>
          <a:xfrm>
            <a:off x="8366760" y="5212080"/>
            <a:ext cx="3093415" cy="932688"/>
          </a:xfrm>
          <a:prstGeom prst="rect">
            <a:avLst/>
          </a:prstGeom>
          <a:noFill/>
          <a:ln/>
        </p:spPr>
        <p:txBody>
          <a:bodyPr wrap="square" lIns="0" tIns="0" rIns="0" bIns="0" rtlCol="0" anchor="ctr"/>
          <a:lstStyle/>
          <a:p>
            <a:pPr indent="0" marL="0">
              <a:buNone/>
            </a:pPr>
            <a:r>
              <a:rPr lang="en-US" sz="1300" b="1" dirty="0">
                <a:solidFill>
                  <a:srgbClr val="9A6B12"/>
                </a:solidFill>
              </a:rPr>
              <a:t>Coût assumé : </a:t>
            </a:r>
            <a:pPr indent="0" marL="0">
              <a:buNone/>
            </a:pPr>
            <a:r>
              <a:rPr lang="en-US" sz="1300" dirty="0">
                <a:solidFill>
                  <a:srgbClr val="22201C"/>
                </a:solidFill>
              </a:rPr>
              <a:t>plus de services à lancer et à déboguer, compensé par le traçage distribué.</a:t>
            </a:r>
            <a:endParaRPr lang="en-US" sz="13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Résilience des échanges entre services</a:t>
            </a:r>
            <a:endParaRPr lang="en-US" sz="3200" dirty="0"/>
          </a:p>
        </p:txBody>
      </p:sp>
      <p:sp>
        <p:nvSpPr>
          <p:cNvPr id="3" name="Text 1"/>
          <p:cNvSpPr txBox="1"/>
          <p:nvPr/>
        </p:nvSpPr>
        <p:spPr>
          <a:xfrm>
            <a:off x="548640" y="1280160"/>
            <a:ext cx="11094415" cy="640080"/>
          </a:xfrm>
          <a:prstGeom prst="rect">
            <a:avLst/>
          </a:prstGeom>
          <a:noFill/>
          <a:ln/>
        </p:spPr>
        <p:txBody>
          <a:bodyPr wrap="square" lIns="0" tIns="0" rIns="0" bIns="0" rtlCol="0" anchor="t"/>
          <a:lstStyle/>
          <a:p>
            <a:pPr indent="0" marL="0">
              <a:buNone/>
            </a:pPr>
            <a:r>
              <a:rPr lang="en-US" sz="1600" dirty="0">
                <a:solidFill>
                  <a:srgbClr val="6B645A"/>
                </a:solidFill>
              </a:rPr>
              <a:t>Quand un service ne répond pas, appointment-service ne réagit pas partout de la même façon (Resilience4j : nouvelles tentatives et disjoncteur).</a:t>
            </a:r>
            <a:endParaRPr lang="en-US" sz="1600" dirty="0"/>
          </a:p>
        </p:txBody>
      </p:sp>
      <p:sp>
        <p:nvSpPr>
          <p:cNvPr id="4" name="cas-1"/>
          <p:cNvSpPr/>
          <p:nvPr/>
        </p:nvSpPr>
        <p:spPr>
          <a:xfrm>
            <a:off x="548640" y="2103120"/>
            <a:ext cx="3515258" cy="3429000"/>
          </a:xfrm>
          <a:prstGeom prst="roundRect">
            <a:avLst>
              <a:gd name="adj" fmla="val 3733"/>
            </a:avLst>
          </a:prstGeom>
          <a:solidFill>
            <a:srgbClr val="FFFFFF"/>
          </a:solidFill>
          <a:ln w="12700">
            <a:solidFill>
              <a:srgbClr val="E6DFD3"/>
            </a:solidFill>
            <a:prstDash val="solid"/>
          </a:ln>
        </p:spPr>
      </p:sp>
      <p:sp>
        <p:nvSpPr>
          <p:cNvPr id="5" name="Text 3"/>
          <p:cNvSpPr txBox="1"/>
          <p:nvPr/>
        </p:nvSpPr>
        <p:spPr>
          <a:xfrm>
            <a:off x="868680"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6" name="Text 4"/>
          <p:cNvSpPr txBox="1"/>
          <p:nvPr/>
        </p:nvSpPr>
        <p:spPr>
          <a:xfrm>
            <a:off x="868680"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Notifications</a:t>
            </a:r>
            <a:endParaRPr lang="en-US" sz="2000" dirty="0"/>
          </a:p>
        </p:txBody>
      </p:sp>
      <p:sp>
        <p:nvSpPr>
          <p:cNvPr id="7" name="Text 5"/>
          <p:cNvSpPr txBox="1"/>
          <p:nvPr/>
        </p:nvSpPr>
        <p:spPr>
          <a:xfrm>
            <a:off x="868680"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Le rendez-vous est quand même créé. L'incident est journalisé.</a:t>
            </a:r>
            <a:endParaRPr lang="en-US" sz="1700" dirty="0"/>
          </a:p>
        </p:txBody>
      </p:sp>
      <p:sp>
        <p:nvSpPr>
          <p:cNvPr id="8" name="Shape 6"/>
          <p:cNvSpPr/>
          <p:nvPr/>
        </p:nvSpPr>
        <p:spPr>
          <a:xfrm>
            <a:off x="868680" y="4800600"/>
            <a:ext cx="2875178" cy="457200"/>
          </a:xfrm>
          <a:prstGeom prst="roundRect">
            <a:avLst>
              <a:gd name="adj" fmla="val 50000"/>
            </a:avLst>
          </a:prstGeom>
          <a:solidFill>
            <a:srgbClr val="DCE7E0"/>
          </a:solidFill>
          <a:ln w="12700">
            <a:solidFill>
              <a:srgbClr val="DCE7E0"/>
            </a:solidFill>
            <a:prstDash val="solid"/>
          </a:ln>
        </p:spPr>
      </p:sp>
      <p:pic>
        <p:nvPicPr>
          <p:cNvPr id="9" name="Image 0" descr="preencoded.png">    </p:cNvPr>
          <p:cNvPicPr>
            <a:picLocks noChangeAspect="1"/>
          </p:cNvPicPr>
          <p:nvPr/>
        </p:nvPicPr>
        <p:blipFill>
          <a:blip r:embed="rId1"/>
          <a:stretch>
            <a:fillRect/>
          </a:stretch>
        </p:blipFill>
        <p:spPr>
          <a:xfrm>
            <a:off x="1005840" y="4882896"/>
            <a:ext cx="292608" cy="292608"/>
          </a:xfrm>
          <a:prstGeom prst="rect">
            <a:avLst/>
          </a:prstGeom>
        </p:spPr>
      </p:pic>
      <p:sp>
        <p:nvSpPr>
          <p:cNvPr id="10" name="Text 7"/>
          <p:cNvSpPr txBox="1"/>
          <p:nvPr/>
        </p:nvSpPr>
        <p:spPr>
          <a:xfrm>
            <a:off x="1417320" y="4800600"/>
            <a:ext cx="2235098" cy="457200"/>
          </a:xfrm>
          <a:prstGeom prst="rect">
            <a:avLst/>
          </a:prstGeom>
          <a:noFill/>
          <a:ln/>
        </p:spPr>
        <p:txBody>
          <a:bodyPr wrap="square" lIns="0" tIns="0" rIns="0" bIns="0" rtlCol="0" anchor="ctr"/>
          <a:lstStyle/>
          <a:p>
            <a:pPr indent="0" marL="0">
              <a:buNone/>
            </a:pPr>
            <a:r>
              <a:rPr lang="en-US" sz="1400" b="1" dirty="0">
                <a:solidFill>
                  <a:srgbClr val="1E4D43"/>
                </a:solidFill>
              </a:rPr>
              <a:t>Tomber en marche</a:t>
            </a:r>
            <a:endParaRPr lang="en-US" sz="1400" dirty="0"/>
          </a:p>
        </p:txBody>
      </p:sp>
      <p:sp>
        <p:nvSpPr>
          <p:cNvPr id="11" name="cas-2"/>
          <p:cNvSpPr/>
          <p:nvPr/>
        </p:nvSpPr>
        <p:spPr>
          <a:xfrm>
            <a:off x="4338218" y="2103120"/>
            <a:ext cx="3515258" cy="3429000"/>
          </a:xfrm>
          <a:prstGeom prst="roundRect">
            <a:avLst>
              <a:gd name="adj" fmla="val 3733"/>
            </a:avLst>
          </a:prstGeom>
          <a:solidFill>
            <a:srgbClr val="FFFFFF"/>
          </a:solidFill>
          <a:ln w="12700">
            <a:solidFill>
              <a:srgbClr val="E6DFD3"/>
            </a:solidFill>
            <a:prstDash val="solid"/>
          </a:ln>
        </p:spPr>
      </p:sp>
      <p:sp>
        <p:nvSpPr>
          <p:cNvPr id="12" name="Text 9"/>
          <p:cNvSpPr txBox="1"/>
          <p:nvPr/>
        </p:nvSpPr>
        <p:spPr>
          <a:xfrm>
            <a:off x="4658258"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13" name="Text 10"/>
          <p:cNvSpPr txBox="1"/>
          <p:nvPr/>
        </p:nvSpPr>
        <p:spPr>
          <a:xfrm>
            <a:off x="4658258"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Identité (user-service)</a:t>
            </a:r>
            <a:endParaRPr lang="en-US" sz="2000" dirty="0"/>
          </a:p>
        </p:txBody>
      </p:sp>
      <p:sp>
        <p:nvSpPr>
          <p:cNvPr id="14" name="Text 11"/>
          <p:cNvSpPr txBox="1"/>
          <p:nvPr/>
        </p:nvSpPr>
        <p:spPr>
          <a:xfrm>
            <a:off x="4658258"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L'opération est refusée (503). Sans identité vérifiée, laisser passer serait une faille.</a:t>
            </a:r>
            <a:endParaRPr lang="en-US" sz="1700" dirty="0"/>
          </a:p>
        </p:txBody>
      </p:sp>
      <p:sp>
        <p:nvSpPr>
          <p:cNvPr id="15" name="Shape 12"/>
          <p:cNvSpPr/>
          <p:nvPr/>
        </p:nvSpPr>
        <p:spPr>
          <a:xfrm>
            <a:off x="4658258" y="4800600"/>
            <a:ext cx="2875178" cy="457200"/>
          </a:xfrm>
          <a:prstGeom prst="roundRect">
            <a:avLst>
              <a:gd name="adj" fmla="val 50000"/>
            </a:avLst>
          </a:prstGeom>
          <a:solidFill>
            <a:srgbClr val="F6E4DB"/>
          </a:solidFill>
          <a:ln w="12700">
            <a:solidFill>
              <a:srgbClr val="F6E4DB"/>
            </a:solidFill>
            <a:prstDash val="solid"/>
          </a:ln>
        </p:spPr>
      </p:sp>
      <p:pic>
        <p:nvPicPr>
          <p:cNvPr id="16" name="Image 1" descr="preencoded.png">    </p:cNvPr>
          <p:cNvPicPr>
            <a:picLocks noChangeAspect="1"/>
          </p:cNvPicPr>
          <p:nvPr/>
        </p:nvPicPr>
        <p:blipFill>
          <a:blip r:embed="rId2"/>
          <a:stretch>
            <a:fillRect/>
          </a:stretch>
        </p:blipFill>
        <p:spPr>
          <a:xfrm>
            <a:off x="4795418" y="4882896"/>
            <a:ext cx="292608" cy="292608"/>
          </a:xfrm>
          <a:prstGeom prst="rect">
            <a:avLst/>
          </a:prstGeom>
        </p:spPr>
      </p:pic>
      <p:sp>
        <p:nvSpPr>
          <p:cNvPr id="17" name="Text 13"/>
          <p:cNvSpPr txBox="1"/>
          <p:nvPr/>
        </p:nvSpPr>
        <p:spPr>
          <a:xfrm>
            <a:off x="5206898" y="4800600"/>
            <a:ext cx="2235098" cy="457200"/>
          </a:xfrm>
          <a:prstGeom prst="rect">
            <a:avLst/>
          </a:prstGeom>
          <a:noFill/>
          <a:ln/>
        </p:spPr>
        <p:txBody>
          <a:bodyPr wrap="square" lIns="0" tIns="0" rIns="0" bIns="0" rtlCol="0" anchor="ctr"/>
          <a:lstStyle/>
          <a:p>
            <a:pPr indent="0" marL="0">
              <a:buNone/>
            </a:pPr>
            <a:r>
              <a:rPr lang="en-US" sz="1400" b="1" dirty="0">
                <a:solidFill>
                  <a:srgbClr val="B5532F"/>
                </a:solidFill>
              </a:rPr>
              <a:t>Tomber fermé</a:t>
            </a:r>
            <a:endParaRPr lang="en-US" sz="1400" dirty="0"/>
          </a:p>
        </p:txBody>
      </p:sp>
      <p:sp>
        <p:nvSpPr>
          <p:cNvPr id="18" name="cas-3"/>
          <p:cNvSpPr/>
          <p:nvPr/>
        </p:nvSpPr>
        <p:spPr>
          <a:xfrm>
            <a:off x="8127797" y="2103120"/>
            <a:ext cx="3515258" cy="3429000"/>
          </a:xfrm>
          <a:prstGeom prst="roundRect">
            <a:avLst>
              <a:gd name="adj" fmla="val 3733"/>
            </a:avLst>
          </a:prstGeom>
          <a:solidFill>
            <a:srgbClr val="FFFFFF"/>
          </a:solidFill>
          <a:ln w="12700">
            <a:solidFill>
              <a:srgbClr val="E6DFD3"/>
            </a:solidFill>
            <a:prstDash val="solid"/>
          </a:ln>
        </p:spPr>
      </p:sp>
      <p:sp>
        <p:nvSpPr>
          <p:cNvPr id="19" name="Text 15"/>
          <p:cNvSpPr txBox="1"/>
          <p:nvPr/>
        </p:nvSpPr>
        <p:spPr>
          <a:xfrm>
            <a:off x="8447837"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20" name="Text 16"/>
          <p:cNvSpPr txBox="1"/>
          <p:nvPr/>
        </p:nvSpPr>
        <p:spPr>
          <a:xfrm>
            <a:off x="8447837"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Remboursement</a:t>
            </a:r>
            <a:endParaRPr lang="en-US" sz="2000" dirty="0"/>
          </a:p>
        </p:txBody>
      </p:sp>
      <p:sp>
        <p:nvSpPr>
          <p:cNvPr id="21" name="Text 17"/>
          <p:cNvSpPr txBox="1"/>
          <p:nvPr/>
        </p:nvSpPr>
        <p:spPr>
          <a:xfrm>
            <a:off x="8447837"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L'annulation aboutit. L'échec est journalisé pour un remboursement manuel.</a:t>
            </a:r>
            <a:endParaRPr lang="en-US" sz="1700" dirty="0"/>
          </a:p>
        </p:txBody>
      </p:sp>
      <p:sp>
        <p:nvSpPr>
          <p:cNvPr id="22" name="Shape 18"/>
          <p:cNvSpPr/>
          <p:nvPr/>
        </p:nvSpPr>
        <p:spPr>
          <a:xfrm>
            <a:off x="8447837" y="4800600"/>
            <a:ext cx="2875178" cy="457200"/>
          </a:xfrm>
          <a:prstGeom prst="roundRect">
            <a:avLst>
              <a:gd name="adj" fmla="val 50000"/>
            </a:avLst>
          </a:prstGeom>
          <a:solidFill>
            <a:srgbClr val="F5EBD3"/>
          </a:solidFill>
          <a:ln w="12700">
            <a:solidFill>
              <a:srgbClr val="F5EBD3"/>
            </a:solidFill>
            <a:prstDash val="solid"/>
          </a:ln>
        </p:spPr>
      </p:sp>
      <p:pic>
        <p:nvPicPr>
          <p:cNvPr id="23" name="Image 2" descr="preencoded.png">    </p:cNvPr>
          <p:cNvPicPr>
            <a:picLocks noChangeAspect="1"/>
          </p:cNvPicPr>
          <p:nvPr/>
        </p:nvPicPr>
        <p:blipFill>
          <a:blip r:embed="rId3"/>
          <a:stretch>
            <a:fillRect/>
          </a:stretch>
        </p:blipFill>
        <p:spPr>
          <a:xfrm>
            <a:off x="8584997" y="4882896"/>
            <a:ext cx="292608" cy="292608"/>
          </a:xfrm>
          <a:prstGeom prst="rect">
            <a:avLst/>
          </a:prstGeom>
        </p:spPr>
      </p:pic>
      <p:sp>
        <p:nvSpPr>
          <p:cNvPr id="24" name="Text 19"/>
          <p:cNvSpPr txBox="1"/>
          <p:nvPr/>
        </p:nvSpPr>
        <p:spPr>
          <a:xfrm>
            <a:off x="8996477" y="4800600"/>
            <a:ext cx="2235098" cy="457200"/>
          </a:xfrm>
          <a:prstGeom prst="rect">
            <a:avLst/>
          </a:prstGeom>
          <a:noFill/>
          <a:ln/>
        </p:spPr>
        <p:txBody>
          <a:bodyPr wrap="square" lIns="0" tIns="0" rIns="0" bIns="0" rtlCol="0" anchor="ctr"/>
          <a:lstStyle/>
          <a:p>
            <a:pPr indent="0" marL="0">
              <a:buNone/>
            </a:pPr>
            <a:r>
              <a:rPr lang="en-US" sz="1400" b="1" dirty="0">
                <a:solidFill>
                  <a:srgbClr val="9A6B12"/>
                </a:solidFill>
              </a:rPr>
              <a:t>En marche, avec alerte</a:t>
            </a:r>
            <a:endParaRPr lang="en-US" sz="1400" dirty="0"/>
          </a:p>
        </p:txBody>
      </p:sp>
      <p:pic>
        <p:nvPicPr>
          <p:cNvPr id="25" name="Image 3" descr="preencoded.png">    </p:cNvPr>
          <p:cNvPicPr>
            <a:picLocks noChangeAspect="1"/>
          </p:cNvPicPr>
          <p:nvPr/>
        </p:nvPicPr>
        <p:blipFill>
          <a:blip r:embed="rId4"/>
          <a:stretch>
            <a:fillRect/>
          </a:stretch>
        </p:blipFill>
        <p:spPr>
          <a:xfrm>
            <a:off x="548640" y="5788152"/>
            <a:ext cx="256032" cy="256032"/>
          </a:xfrm>
          <a:prstGeom prst="rect">
            <a:avLst/>
          </a:prstGeom>
        </p:spPr>
      </p:pic>
      <p:sp>
        <p:nvSpPr>
          <p:cNvPr id="26" name="Text 20"/>
          <p:cNvSpPr txBox="1"/>
          <p:nvPr/>
        </p:nvSpPr>
        <p:spPr>
          <a:xfrm>
            <a:off x="914400" y="5760720"/>
            <a:ext cx="7315200" cy="310896"/>
          </a:xfrm>
          <a:prstGeom prst="rect">
            <a:avLst/>
          </a:prstGeom>
          <a:noFill/>
          <a:ln/>
        </p:spPr>
        <p:txBody>
          <a:bodyPr wrap="square" lIns="0" tIns="0" rIns="0" bIns="0" rtlCol="0" anchor="ctr"/>
          <a:lstStyle/>
          <a:p>
            <a:pPr indent="0" marL="0">
              <a:buNone/>
            </a:pPr>
            <a:r>
              <a:rPr lang="en-US" sz="1300" dirty="0">
                <a:solidFill>
                  <a:srgbClr val="6B645A"/>
                </a:solidFill>
              </a:rPr>
              <a:t>Cas notifications et identité couverts par des tests automatisés.</a:t>
            </a:r>
            <a:endParaRPr lang="en-US" sz="13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Démonstration</a:t>
            </a:r>
            <a:endParaRPr lang="en-US" sz="3200" dirty="0"/>
          </a:p>
        </p:txBody>
      </p:sp>
      <p:sp>
        <p:nvSpPr>
          <p:cNvPr id="3" name="etape-1"/>
          <p:cNvSpPr/>
          <p:nvPr/>
        </p:nvSpPr>
        <p:spPr>
          <a:xfrm>
            <a:off x="548640" y="1417320"/>
            <a:ext cx="3429000" cy="731520"/>
          </a:xfrm>
          <a:prstGeom prst="roundRect">
            <a:avLst>
              <a:gd name="adj" fmla="val 17500"/>
            </a:avLst>
          </a:prstGeom>
          <a:solidFill>
            <a:srgbClr val="FFFFFF"/>
          </a:solidFill>
          <a:ln w="12700">
            <a:solidFill>
              <a:srgbClr val="E6DFD3"/>
            </a:solidFill>
            <a:prstDash val="solid"/>
          </a:ln>
        </p:spPr>
      </p:sp>
      <p:sp>
        <p:nvSpPr>
          <p:cNvPr id="4" name="Shape 2"/>
          <p:cNvSpPr/>
          <p:nvPr/>
        </p:nvSpPr>
        <p:spPr>
          <a:xfrm>
            <a:off x="713232" y="1545336"/>
            <a:ext cx="475488" cy="475488"/>
          </a:xfrm>
          <a:prstGeom prst="ellipse">
            <a:avLst/>
          </a:prstGeom>
          <a:solidFill>
            <a:srgbClr val="1E4D43"/>
          </a:solidFill>
          <a:ln w="12700">
            <a:solidFill>
              <a:srgbClr val="1E4D43"/>
            </a:solidFill>
            <a:prstDash val="solid"/>
          </a:ln>
        </p:spPr>
      </p:sp>
      <p:sp>
        <p:nvSpPr>
          <p:cNvPr id="5" name="Text 3"/>
          <p:cNvSpPr txBox="1"/>
          <p:nvPr/>
        </p:nvSpPr>
        <p:spPr>
          <a:xfrm>
            <a:off x="713232" y="15453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353312" y="1417320"/>
            <a:ext cx="2514600" cy="731520"/>
          </a:xfrm>
          <a:prstGeom prst="rect">
            <a:avLst/>
          </a:prstGeom>
          <a:noFill/>
          <a:ln/>
        </p:spPr>
        <p:txBody>
          <a:bodyPr wrap="square" lIns="0" tIns="0" rIns="0" bIns="0" rtlCol="0" anchor="ctr"/>
          <a:lstStyle/>
          <a:p>
            <a:pPr indent="0" marL="0">
              <a:buNone/>
            </a:pPr>
            <a:r>
              <a:rPr lang="en-US" sz="1450" b="1" dirty="0">
                <a:solidFill>
                  <a:srgbClr val="22201C"/>
                </a:solidFill>
              </a:rPr>
              <a:t>Recherche et recommandation</a:t>
            </a:r>
            <a:endParaRPr lang="en-US" sz="1450" dirty="0"/>
          </a:p>
        </p:txBody>
      </p:sp>
      <p:sp>
        <p:nvSpPr>
          <p:cNvPr id="7" name="etape-2"/>
          <p:cNvSpPr/>
          <p:nvPr/>
        </p:nvSpPr>
        <p:spPr>
          <a:xfrm>
            <a:off x="548640" y="2313432"/>
            <a:ext cx="3429000" cy="731520"/>
          </a:xfrm>
          <a:prstGeom prst="roundRect">
            <a:avLst>
              <a:gd name="adj" fmla="val 17500"/>
            </a:avLst>
          </a:prstGeom>
          <a:solidFill>
            <a:srgbClr val="FFFFFF"/>
          </a:solidFill>
          <a:ln w="12700">
            <a:solidFill>
              <a:srgbClr val="E6DFD3"/>
            </a:solidFill>
            <a:prstDash val="solid"/>
          </a:ln>
        </p:spPr>
      </p:sp>
      <p:sp>
        <p:nvSpPr>
          <p:cNvPr id="8" name="Shape 6"/>
          <p:cNvSpPr/>
          <p:nvPr/>
        </p:nvSpPr>
        <p:spPr>
          <a:xfrm>
            <a:off x="713232" y="2441448"/>
            <a:ext cx="475488" cy="475488"/>
          </a:xfrm>
          <a:prstGeom prst="ellipse">
            <a:avLst/>
          </a:prstGeom>
          <a:solidFill>
            <a:srgbClr val="1E4D43"/>
          </a:solidFill>
          <a:ln w="12700">
            <a:solidFill>
              <a:srgbClr val="1E4D43"/>
            </a:solidFill>
            <a:prstDash val="solid"/>
          </a:ln>
        </p:spPr>
      </p:sp>
      <p:sp>
        <p:nvSpPr>
          <p:cNvPr id="9" name="Text 7"/>
          <p:cNvSpPr txBox="1"/>
          <p:nvPr/>
        </p:nvSpPr>
        <p:spPr>
          <a:xfrm>
            <a:off x="713232" y="24414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353312" y="2313432"/>
            <a:ext cx="2514600" cy="731520"/>
          </a:xfrm>
          <a:prstGeom prst="rect">
            <a:avLst/>
          </a:prstGeom>
          <a:noFill/>
          <a:ln/>
        </p:spPr>
        <p:txBody>
          <a:bodyPr wrap="square" lIns="0" tIns="0" rIns="0" bIns="0" rtlCol="0" anchor="ctr"/>
          <a:lstStyle/>
          <a:p>
            <a:pPr indent="0" marL="0">
              <a:buNone/>
            </a:pPr>
            <a:r>
              <a:rPr lang="en-US" sz="1450" b="1" dirty="0">
                <a:solidFill>
                  <a:srgbClr val="22201C"/>
                </a:solidFill>
              </a:rPr>
              <a:t>Réservation d'un créneau</a:t>
            </a:r>
            <a:endParaRPr lang="en-US" sz="1450" dirty="0"/>
          </a:p>
        </p:txBody>
      </p:sp>
      <p:sp>
        <p:nvSpPr>
          <p:cNvPr id="11" name="etape-3"/>
          <p:cNvSpPr/>
          <p:nvPr/>
        </p:nvSpPr>
        <p:spPr>
          <a:xfrm>
            <a:off x="548640" y="3209544"/>
            <a:ext cx="3429000" cy="731520"/>
          </a:xfrm>
          <a:prstGeom prst="roundRect">
            <a:avLst>
              <a:gd name="adj" fmla="val 17500"/>
            </a:avLst>
          </a:prstGeom>
          <a:solidFill>
            <a:srgbClr val="FFFFFF"/>
          </a:solidFill>
          <a:ln w="12700">
            <a:solidFill>
              <a:srgbClr val="E6DFD3"/>
            </a:solidFill>
            <a:prstDash val="solid"/>
          </a:ln>
        </p:spPr>
      </p:sp>
      <p:sp>
        <p:nvSpPr>
          <p:cNvPr id="12" name="Shape 10"/>
          <p:cNvSpPr/>
          <p:nvPr/>
        </p:nvSpPr>
        <p:spPr>
          <a:xfrm>
            <a:off x="713232" y="3337560"/>
            <a:ext cx="475488" cy="475488"/>
          </a:xfrm>
          <a:prstGeom prst="ellipse">
            <a:avLst/>
          </a:prstGeom>
          <a:solidFill>
            <a:srgbClr val="1E4D43"/>
          </a:solidFill>
          <a:ln w="12700">
            <a:solidFill>
              <a:srgbClr val="1E4D43"/>
            </a:solidFill>
            <a:prstDash val="solid"/>
          </a:ln>
        </p:spPr>
      </p:sp>
      <p:sp>
        <p:nvSpPr>
          <p:cNvPr id="13" name="Text 11"/>
          <p:cNvSpPr txBox="1"/>
          <p:nvPr/>
        </p:nvSpPr>
        <p:spPr>
          <a:xfrm>
            <a:off x="713232" y="33375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2"/>
          <p:cNvSpPr txBox="1"/>
          <p:nvPr/>
        </p:nvSpPr>
        <p:spPr>
          <a:xfrm>
            <a:off x="1353312" y="3209544"/>
            <a:ext cx="2514600" cy="731520"/>
          </a:xfrm>
          <a:prstGeom prst="rect">
            <a:avLst/>
          </a:prstGeom>
          <a:noFill/>
          <a:ln/>
        </p:spPr>
        <p:txBody>
          <a:bodyPr wrap="square" lIns="0" tIns="0" rIns="0" bIns="0" rtlCol="0" anchor="ctr"/>
          <a:lstStyle/>
          <a:p>
            <a:pPr indent="0" marL="0">
              <a:buNone/>
            </a:pPr>
            <a:r>
              <a:rPr lang="en-US" sz="1450" b="1" dirty="0">
                <a:solidFill>
                  <a:srgbClr val="22201C"/>
                </a:solidFill>
              </a:rPr>
              <a:t>Confirmation par le psychologue</a:t>
            </a:r>
            <a:endParaRPr lang="en-US" sz="1450" dirty="0"/>
          </a:p>
        </p:txBody>
      </p:sp>
      <p:sp>
        <p:nvSpPr>
          <p:cNvPr id="15" name="etape-4"/>
          <p:cNvSpPr/>
          <p:nvPr/>
        </p:nvSpPr>
        <p:spPr>
          <a:xfrm>
            <a:off x="548640" y="4105656"/>
            <a:ext cx="3429000" cy="731520"/>
          </a:xfrm>
          <a:prstGeom prst="roundRect">
            <a:avLst>
              <a:gd name="adj" fmla="val 17500"/>
            </a:avLst>
          </a:prstGeom>
          <a:solidFill>
            <a:srgbClr val="FFFFFF"/>
          </a:solidFill>
          <a:ln w="12700">
            <a:solidFill>
              <a:srgbClr val="E6DFD3"/>
            </a:solidFill>
            <a:prstDash val="solid"/>
          </a:ln>
        </p:spPr>
      </p:sp>
      <p:sp>
        <p:nvSpPr>
          <p:cNvPr id="16" name="Shape 14"/>
          <p:cNvSpPr/>
          <p:nvPr/>
        </p:nvSpPr>
        <p:spPr>
          <a:xfrm>
            <a:off x="713232" y="4233672"/>
            <a:ext cx="475488" cy="475488"/>
          </a:xfrm>
          <a:prstGeom prst="ellipse">
            <a:avLst/>
          </a:prstGeom>
          <a:solidFill>
            <a:srgbClr val="1E4D43"/>
          </a:solidFill>
          <a:ln w="12700">
            <a:solidFill>
              <a:srgbClr val="1E4D43"/>
            </a:solidFill>
            <a:prstDash val="solid"/>
          </a:ln>
        </p:spPr>
      </p:sp>
      <p:sp>
        <p:nvSpPr>
          <p:cNvPr id="17" name="Text 15"/>
          <p:cNvSpPr txBox="1"/>
          <p:nvPr/>
        </p:nvSpPr>
        <p:spPr>
          <a:xfrm>
            <a:off x="713232" y="42336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353312" y="4105656"/>
            <a:ext cx="2514600" cy="731520"/>
          </a:xfrm>
          <a:prstGeom prst="rect">
            <a:avLst/>
          </a:prstGeom>
          <a:noFill/>
          <a:ln/>
        </p:spPr>
        <p:txBody>
          <a:bodyPr wrap="square" lIns="0" tIns="0" rIns="0" bIns="0" rtlCol="0" anchor="ctr"/>
          <a:lstStyle/>
          <a:p>
            <a:pPr indent="0" marL="0">
              <a:buNone/>
            </a:pPr>
            <a:r>
              <a:rPr lang="en-US" sz="1450" b="1" dirty="0">
                <a:solidFill>
                  <a:srgbClr val="22201C"/>
                </a:solidFill>
              </a:rPr>
              <a:t>Paiement depuis le solde</a:t>
            </a:r>
            <a:endParaRPr lang="en-US" sz="1450" dirty="0"/>
          </a:p>
        </p:txBody>
      </p:sp>
      <p:sp>
        <p:nvSpPr>
          <p:cNvPr id="19" name="etape-5"/>
          <p:cNvSpPr/>
          <p:nvPr/>
        </p:nvSpPr>
        <p:spPr>
          <a:xfrm>
            <a:off x="548640" y="5001768"/>
            <a:ext cx="3429000" cy="731520"/>
          </a:xfrm>
          <a:prstGeom prst="roundRect">
            <a:avLst>
              <a:gd name="adj" fmla="val 17500"/>
            </a:avLst>
          </a:prstGeom>
          <a:solidFill>
            <a:srgbClr val="FFFFFF"/>
          </a:solidFill>
          <a:ln w="12700">
            <a:solidFill>
              <a:srgbClr val="E6DFD3"/>
            </a:solidFill>
            <a:prstDash val="solid"/>
          </a:ln>
        </p:spPr>
      </p:sp>
      <p:sp>
        <p:nvSpPr>
          <p:cNvPr id="20" name="Shape 18"/>
          <p:cNvSpPr/>
          <p:nvPr/>
        </p:nvSpPr>
        <p:spPr>
          <a:xfrm>
            <a:off x="713232" y="5129784"/>
            <a:ext cx="475488" cy="475488"/>
          </a:xfrm>
          <a:prstGeom prst="ellipse">
            <a:avLst/>
          </a:prstGeom>
          <a:solidFill>
            <a:srgbClr val="1E4D43"/>
          </a:solidFill>
          <a:ln w="12700">
            <a:solidFill>
              <a:srgbClr val="1E4D43"/>
            </a:solidFill>
            <a:prstDash val="solid"/>
          </a:ln>
        </p:spPr>
      </p:sp>
      <p:sp>
        <p:nvSpPr>
          <p:cNvPr id="21" name="Text 19"/>
          <p:cNvSpPr txBox="1"/>
          <p:nvPr/>
        </p:nvSpPr>
        <p:spPr>
          <a:xfrm>
            <a:off x="713232" y="51297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2" name="Text 20"/>
          <p:cNvSpPr txBox="1"/>
          <p:nvPr/>
        </p:nvSpPr>
        <p:spPr>
          <a:xfrm>
            <a:off x="1353312" y="5001768"/>
            <a:ext cx="2514600" cy="731520"/>
          </a:xfrm>
          <a:prstGeom prst="rect">
            <a:avLst/>
          </a:prstGeom>
          <a:noFill/>
          <a:ln/>
        </p:spPr>
        <p:txBody>
          <a:bodyPr wrap="square" lIns="0" tIns="0" rIns="0" bIns="0" rtlCol="0" anchor="ctr"/>
          <a:lstStyle/>
          <a:p>
            <a:pPr indent="0" marL="0">
              <a:buNone/>
            </a:pPr>
            <a:r>
              <a:rPr lang="en-US" sz="1450" b="1" dirty="0">
                <a:solidFill>
                  <a:srgbClr val="22201C"/>
                </a:solidFill>
              </a:rPr>
              <a:t>Consultation vidéo</a:t>
            </a:r>
            <a:endParaRPr lang="en-US" sz="1450" dirty="0"/>
          </a:p>
        </p:txBody>
      </p:sp>
      <p:sp>
        <p:nvSpPr>
          <p:cNvPr id="23" name="cadre-video"/>
          <p:cNvSpPr/>
          <p:nvPr/>
        </p:nvSpPr>
        <p:spPr>
          <a:xfrm>
            <a:off x="4343400" y="1417320"/>
            <a:ext cx="7299655" cy="4106056"/>
          </a:xfrm>
          <a:prstGeom prst="roundRect">
            <a:avLst>
              <a:gd name="adj" fmla="val 3563"/>
            </a:avLst>
          </a:prstGeom>
          <a:solidFill>
            <a:srgbClr val="1E4D43"/>
          </a:solidFill>
          <a:ln w="12700">
            <a:solidFill>
              <a:srgbClr val="1E4D43"/>
            </a:solidFill>
            <a:prstDash val="solid"/>
          </a:ln>
        </p:spPr>
      </p:sp>
      <p:sp>
        <p:nvSpPr>
          <p:cNvPr id="24" name="Shape 22"/>
          <p:cNvSpPr/>
          <p:nvPr/>
        </p:nvSpPr>
        <p:spPr>
          <a:xfrm>
            <a:off x="7490308" y="2693108"/>
            <a:ext cx="1005840" cy="1005840"/>
          </a:xfrm>
          <a:prstGeom prst="ellipse">
            <a:avLst/>
          </a:prstGeom>
          <a:solidFill>
            <a:srgbClr val="FFFFFF">
              <a:alpha val="20000"/>
            </a:srgbClr>
          </a:solidFill>
          <a:ln w="15875">
            <a:solidFill>
              <a:srgbClr val="FFFFFF">
                <a:alpha val="50000"/>
              </a:srgbClr>
            </a:solidFill>
            <a:prstDash val="solid"/>
          </a:ln>
        </p:spPr>
      </p:sp>
      <p:pic>
        <p:nvPicPr>
          <p:cNvPr id="25" name="Image 0" descr="preencoded.png">    </p:cNvPr>
          <p:cNvPicPr>
            <a:picLocks noChangeAspect="1"/>
          </p:cNvPicPr>
          <p:nvPr/>
        </p:nvPicPr>
        <p:blipFill>
          <a:blip r:embed="rId1"/>
          <a:stretch>
            <a:fillRect/>
          </a:stretch>
        </p:blipFill>
        <p:spPr>
          <a:xfrm>
            <a:off x="7746340" y="2949140"/>
            <a:ext cx="512064" cy="512064"/>
          </a:xfrm>
          <a:prstGeom prst="rect">
            <a:avLst/>
          </a:prstGeom>
        </p:spPr>
      </p:pic>
      <p:sp>
        <p:nvSpPr>
          <p:cNvPr id="26" name="Text 23"/>
          <p:cNvSpPr txBox="1"/>
          <p:nvPr/>
        </p:nvSpPr>
        <p:spPr>
          <a:xfrm>
            <a:off x="4343400" y="3836108"/>
            <a:ext cx="7299655" cy="411480"/>
          </a:xfrm>
          <a:prstGeom prst="rect">
            <a:avLst/>
          </a:prstGeom>
          <a:noFill/>
          <a:ln/>
        </p:spPr>
        <p:txBody>
          <a:bodyPr wrap="square" lIns="0" tIns="0" rIns="0" bIns="0" rtlCol="0" anchor="t"/>
          <a:lstStyle/>
          <a:p>
            <a:pPr algn="ctr" indent="0" marL="0">
              <a:buNone/>
            </a:pPr>
            <a:r>
              <a:rPr lang="en-US" sz="2000" b="1" dirty="0">
                <a:solidFill>
                  <a:srgbClr val="FFFFFF"/>
                </a:solidFill>
              </a:rPr>
              <a:t>Vidéo de démonstration</a:t>
            </a:r>
            <a:endParaRPr lang="en-US" sz="2000" dirty="0"/>
          </a:p>
        </p:txBody>
      </p:sp>
      <p:sp>
        <p:nvSpPr>
          <p:cNvPr id="27" name="Text 24"/>
          <p:cNvSpPr txBox="1"/>
          <p:nvPr/>
        </p:nvSpPr>
        <p:spPr>
          <a:xfrm>
            <a:off x="4343400" y="4247588"/>
            <a:ext cx="7299655" cy="320040"/>
          </a:xfrm>
          <a:prstGeom prst="rect">
            <a:avLst/>
          </a:prstGeom>
          <a:noFill/>
          <a:ln/>
        </p:spPr>
        <p:txBody>
          <a:bodyPr wrap="square" lIns="0" tIns="0" rIns="0" bIns="0" rtlCol="0" anchor="t"/>
          <a:lstStyle/>
          <a:p>
            <a:pPr algn="ctr" indent="0" marL="0">
              <a:buNone/>
            </a:pPr>
            <a:r>
              <a:rPr lang="en-US" sz="1300" dirty="0">
                <a:solidFill>
                  <a:srgbClr val="DCE7E0"/>
                </a:solidFill>
              </a:rPr>
              <a:t>Insertion › Vidéo, puis la placer dans ce cadre</a:t>
            </a:r>
            <a:endParaRPr lang="en-US" sz="13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Compagnon IA Xalaat</a:t>
            </a:r>
            <a:endParaRPr lang="en-US" sz="3200" dirty="0"/>
          </a:p>
        </p:txBody>
      </p:sp>
      <p:sp>
        <p:nvSpPr>
          <p:cNvPr id="3" name="Shape 1"/>
          <p:cNvSpPr/>
          <p:nvPr/>
        </p:nvSpPr>
        <p:spPr>
          <a:xfrm>
            <a:off x="548640" y="1737360"/>
            <a:ext cx="1417320" cy="731520"/>
          </a:xfrm>
          <a:prstGeom prst="roundRect">
            <a:avLst>
              <a:gd name="adj" fmla="val 12500"/>
            </a:avLst>
          </a:prstGeom>
          <a:solidFill>
            <a:srgbClr val="FFFFFF"/>
          </a:solidFill>
          <a:ln w="12700">
            <a:solidFill>
              <a:srgbClr val="E6DFD3"/>
            </a:solidFill>
            <a:prstDash val="solid"/>
          </a:ln>
        </p:spPr>
      </p:sp>
      <p:sp>
        <p:nvSpPr>
          <p:cNvPr id="4" name="Text 2"/>
          <p:cNvSpPr txBox="1"/>
          <p:nvPr/>
        </p:nvSpPr>
        <p:spPr>
          <a:xfrm>
            <a:off x="621792" y="1737360"/>
            <a:ext cx="1271016" cy="731520"/>
          </a:xfrm>
          <a:prstGeom prst="rect">
            <a:avLst/>
          </a:prstGeom>
          <a:noFill/>
          <a:ln/>
        </p:spPr>
        <p:txBody>
          <a:bodyPr wrap="square" lIns="0" tIns="0" rIns="0" bIns="0" rtlCol="0" anchor="ctr"/>
          <a:lstStyle/>
          <a:p>
            <a:pPr algn="ctr" indent="0" marL="0">
              <a:buNone/>
            </a:pPr>
            <a:r>
              <a:rPr lang="en-US" sz="1250" b="1" dirty="0">
                <a:solidFill>
                  <a:srgbClr val="22201C"/>
                </a:solidFill>
              </a:rPr>
              <a:t>Message du patient</a:t>
            </a:r>
            <a:endParaRPr lang="en-US" sz="1250" dirty="0"/>
          </a:p>
        </p:txBody>
      </p:sp>
      <p:sp>
        <p:nvSpPr>
          <p:cNvPr id="5" name="Shape 3"/>
          <p:cNvSpPr/>
          <p:nvPr/>
        </p:nvSpPr>
        <p:spPr>
          <a:xfrm>
            <a:off x="1965960" y="2103120"/>
            <a:ext cx="320040" cy="0"/>
          </a:xfrm>
          <a:prstGeom prst="line">
            <a:avLst/>
          </a:prstGeom>
          <a:noFill/>
          <a:ln w="19050">
            <a:solidFill>
              <a:srgbClr val="4F8C7B"/>
            </a:solidFill>
            <a:prstDash val="solid"/>
            <a:tailEnd type="triangle"/>
          </a:ln>
        </p:spPr>
      </p:sp>
      <p:sp>
        <p:nvSpPr>
          <p:cNvPr id="6" name="Shape 4"/>
          <p:cNvSpPr/>
          <p:nvPr/>
        </p:nvSpPr>
        <p:spPr>
          <a:xfrm>
            <a:off x="2286000" y="1737360"/>
            <a:ext cx="1691640" cy="731520"/>
          </a:xfrm>
          <a:prstGeom prst="roundRect">
            <a:avLst>
              <a:gd name="adj" fmla="val 12500"/>
            </a:avLst>
          </a:prstGeom>
          <a:solidFill>
            <a:srgbClr val="1E4D43"/>
          </a:solidFill>
          <a:ln w="12700">
            <a:solidFill>
              <a:srgbClr val="1E4D43"/>
            </a:solidFill>
            <a:prstDash val="solid"/>
          </a:ln>
        </p:spPr>
      </p:sp>
      <p:sp>
        <p:nvSpPr>
          <p:cNvPr id="7" name="Text 5"/>
          <p:cNvSpPr txBox="1"/>
          <p:nvPr/>
        </p:nvSpPr>
        <p:spPr>
          <a:xfrm>
            <a:off x="2359152" y="1737360"/>
            <a:ext cx="1545336" cy="731520"/>
          </a:xfrm>
          <a:prstGeom prst="rect">
            <a:avLst/>
          </a:prstGeom>
          <a:noFill/>
          <a:ln/>
        </p:spPr>
        <p:txBody>
          <a:bodyPr wrap="square" lIns="0" tIns="0" rIns="0" bIns="0" rtlCol="0" anchor="ctr"/>
          <a:lstStyle/>
          <a:p>
            <a:pPr algn="ctr" indent="0" marL="0">
              <a:buNone/>
            </a:pPr>
            <a:r>
              <a:rPr lang="en-US" sz="1250" b="1" dirty="0">
                <a:solidFill>
                  <a:srgbClr val="FFFFFF"/>
                </a:solidFill>
              </a:rPr>
              <a:t>Filtre déterministe avant le modèle</a:t>
            </a:r>
            <a:endParaRPr lang="en-US" sz="1250" dirty="0"/>
          </a:p>
        </p:txBody>
      </p:sp>
      <p:sp>
        <p:nvSpPr>
          <p:cNvPr id="8" name="Shape 6"/>
          <p:cNvSpPr/>
          <p:nvPr/>
        </p:nvSpPr>
        <p:spPr>
          <a:xfrm>
            <a:off x="3977640" y="1920240"/>
            <a:ext cx="640080" cy="-320040"/>
          </a:xfrm>
          <a:prstGeom prst="line">
            <a:avLst/>
          </a:prstGeom>
          <a:noFill/>
          <a:ln w="19050">
            <a:solidFill>
              <a:srgbClr val="4F8C7B"/>
            </a:solidFill>
            <a:prstDash val="solid"/>
            <a:tailEnd type="triangle"/>
          </a:ln>
        </p:spPr>
      </p:sp>
      <p:sp>
        <p:nvSpPr>
          <p:cNvPr id="9" name="Shape 7"/>
          <p:cNvSpPr/>
          <p:nvPr/>
        </p:nvSpPr>
        <p:spPr>
          <a:xfrm>
            <a:off x="3977640" y="2286000"/>
            <a:ext cx="640080" cy="320040"/>
          </a:xfrm>
          <a:prstGeom prst="line">
            <a:avLst/>
          </a:prstGeom>
          <a:noFill/>
          <a:ln w="19050">
            <a:solidFill>
              <a:srgbClr val="4F8C7B"/>
            </a:solidFill>
            <a:prstDash val="solid"/>
            <a:tailEnd type="triangle"/>
          </a:ln>
        </p:spPr>
      </p:sp>
      <p:sp>
        <p:nvSpPr>
          <p:cNvPr id="10" name="Shape 8"/>
          <p:cNvSpPr/>
          <p:nvPr/>
        </p:nvSpPr>
        <p:spPr>
          <a:xfrm>
            <a:off x="4617720" y="1325880"/>
            <a:ext cx="1600200" cy="566928"/>
          </a:xfrm>
          <a:prstGeom prst="roundRect">
            <a:avLst>
              <a:gd name="adj" fmla="val 16129"/>
            </a:avLst>
          </a:prstGeom>
          <a:solidFill>
            <a:srgbClr val="F6E4DB"/>
          </a:solidFill>
          <a:ln w="12700">
            <a:solidFill>
              <a:srgbClr val="F6E4DB"/>
            </a:solidFill>
            <a:prstDash val="solid"/>
          </a:ln>
        </p:spPr>
      </p:sp>
      <p:sp>
        <p:nvSpPr>
          <p:cNvPr id="11" name="Text 9"/>
          <p:cNvSpPr txBox="1"/>
          <p:nvPr/>
        </p:nvSpPr>
        <p:spPr>
          <a:xfrm>
            <a:off x="4690872" y="1325880"/>
            <a:ext cx="1453896" cy="566928"/>
          </a:xfrm>
          <a:prstGeom prst="rect">
            <a:avLst/>
          </a:prstGeom>
          <a:noFill/>
          <a:ln/>
        </p:spPr>
        <p:txBody>
          <a:bodyPr wrap="square" lIns="0" tIns="0" rIns="0" bIns="0" rtlCol="0" anchor="ctr"/>
          <a:lstStyle/>
          <a:p>
            <a:pPr algn="ctr" indent="0" marL="0">
              <a:buNone/>
            </a:pPr>
            <a:r>
              <a:rPr lang="en-US" sz="1250" b="1" dirty="0">
                <a:solidFill>
                  <a:srgbClr val="B5532F"/>
                </a:solidFill>
              </a:rPr>
              <a:t>Message fixe + numéros</a:t>
            </a:r>
            <a:endParaRPr lang="en-US" sz="1250" dirty="0"/>
          </a:p>
        </p:txBody>
      </p:sp>
      <p:sp>
        <p:nvSpPr>
          <p:cNvPr id="12" name="Shape 10"/>
          <p:cNvSpPr/>
          <p:nvPr/>
        </p:nvSpPr>
        <p:spPr>
          <a:xfrm>
            <a:off x="4617720" y="2331720"/>
            <a:ext cx="1600200" cy="566928"/>
          </a:xfrm>
          <a:prstGeom prst="roundRect">
            <a:avLst>
              <a:gd name="adj" fmla="val 16129"/>
            </a:avLst>
          </a:prstGeom>
          <a:solidFill>
            <a:srgbClr val="DCE7E0"/>
          </a:solidFill>
          <a:ln w="12700">
            <a:solidFill>
              <a:srgbClr val="DCE7E0"/>
            </a:solidFill>
            <a:prstDash val="solid"/>
          </a:ln>
        </p:spPr>
      </p:sp>
      <p:sp>
        <p:nvSpPr>
          <p:cNvPr id="13" name="Text 11"/>
          <p:cNvSpPr txBox="1"/>
          <p:nvPr/>
        </p:nvSpPr>
        <p:spPr>
          <a:xfrm>
            <a:off x="4690872" y="2331720"/>
            <a:ext cx="1453896" cy="566928"/>
          </a:xfrm>
          <a:prstGeom prst="rect">
            <a:avLst/>
          </a:prstGeom>
          <a:noFill/>
          <a:ln/>
        </p:spPr>
        <p:txBody>
          <a:bodyPr wrap="square" lIns="0" tIns="0" rIns="0" bIns="0" rtlCol="0" anchor="ctr"/>
          <a:lstStyle/>
          <a:p>
            <a:pPr algn="ctr" indent="0" marL="0">
              <a:buNone/>
            </a:pPr>
            <a:r>
              <a:rPr lang="en-US" sz="1250" b="1" dirty="0">
                <a:solidFill>
                  <a:srgbClr val="1E4D43"/>
                </a:solidFill>
              </a:rPr>
              <a:t>Modèle local qwen2.5:3b</a:t>
            </a:r>
            <a:endParaRPr lang="en-US" sz="1250" dirty="0"/>
          </a:p>
        </p:txBody>
      </p:sp>
      <p:sp>
        <p:nvSpPr>
          <p:cNvPr id="14" name="Text 12"/>
          <p:cNvSpPr txBox="1"/>
          <p:nvPr/>
        </p:nvSpPr>
        <p:spPr>
          <a:xfrm>
            <a:off x="3886200" y="1298448"/>
            <a:ext cx="822960" cy="256032"/>
          </a:xfrm>
          <a:prstGeom prst="rect">
            <a:avLst/>
          </a:prstGeom>
          <a:noFill/>
          <a:ln/>
        </p:spPr>
        <p:txBody>
          <a:bodyPr wrap="square" lIns="0" tIns="0" rIns="0" bIns="0" rtlCol="0" anchor="t"/>
          <a:lstStyle/>
          <a:p>
            <a:pPr indent="0" marL="0">
              <a:buNone/>
            </a:pPr>
            <a:r>
              <a:rPr lang="en-US" sz="1050" i="1" dirty="0">
                <a:solidFill>
                  <a:srgbClr val="B5532F"/>
                </a:solidFill>
              </a:rPr>
              <a:t>détresse</a:t>
            </a:r>
            <a:endParaRPr lang="en-US" sz="1050" dirty="0"/>
          </a:p>
        </p:txBody>
      </p:sp>
      <p:sp>
        <p:nvSpPr>
          <p:cNvPr id="15" name="Text 13"/>
          <p:cNvSpPr txBox="1"/>
          <p:nvPr/>
        </p:nvSpPr>
        <p:spPr>
          <a:xfrm>
            <a:off x="3931920" y="2670048"/>
            <a:ext cx="731520" cy="256032"/>
          </a:xfrm>
          <a:prstGeom prst="rect">
            <a:avLst/>
          </a:prstGeom>
          <a:noFill/>
          <a:ln/>
        </p:spPr>
        <p:txBody>
          <a:bodyPr wrap="square" lIns="0" tIns="0" rIns="0" bIns="0" rtlCol="0" anchor="t"/>
          <a:lstStyle/>
          <a:p>
            <a:pPr indent="0" marL="0">
              <a:buNone/>
            </a:pPr>
            <a:r>
              <a:rPr lang="en-US" sz="1050" i="1" dirty="0">
                <a:solidFill>
                  <a:srgbClr val="6B645A"/>
                </a:solidFill>
              </a:rPr>
              <a:t>sinon</a:t>
            </a:r>
            <a:endParaRPr lang="en-US" sz="1050" dirty="0"/>
          </a:p>
        </p:txBody>
      </p:sp>
      <p:sp>
        <p:nvSpPr>
          <p:cNvPr id="16" name="xalaat-1"/>
          <p:cNvSpPr/>
          <p:nvPr/>
        </p:nvSpPr>
        <p:spPr>
          <a:xfrm>
            <a:off x="548640" y="3154680"/>
            <a:ext cx="5669280" cy="676656"/>
          </a:xfrm>
          <a:prstGeom prst="roundRect">
            <a:avLst>
              <a:gd name="adj" fmla="val 18919"/>
            </a:avLst>
          </a:prstGeom>
          <a:solidFill>
            <a:srgbClr val="FFFFFF"/>
          </a:solidFill>
          <a:ln w="12700">
            <a:solidFill>
              <a:srgbClr val="E6DFD3"/>
            </a:solidFill>
            <a:prstDash val="solid"/>
          </a:ln>
        </p:spPr>
      </p:sp>
      <p:sp>
        <p:nvSpPr>
          <p:cNvPr id="17" name="Text 15"/>
          <p:cNvSpPr txBox="1"/>
          <p:nvPr/>
        </p:nvSpPr>
        <p:spPr>
          <a:xfrm>
            <a:off x="731520" y="3154680"/>
            <a:ext cx="1417320" cy="676656"/>
          </a:xfrm>
          <a:prstGeom prst="rect">
            <a:avLst/>
          </a:prstGeom>
          <a:noFill/>
          <a:ln/>
        </p:spPr>
        <p:txBody>
          <a:bodyPr wrap="square" lIns="0" tIns="0" rIns="0" bIns="0" rtlCol="0" anchor="ctr"/>
          <a:lstStyle/>
          <a:p>
            <a:pPr indent="0" marL="0">
              <a:buNone/>
            </a:pPr>
            <a:r>
              <a:rPr lang="en-US" sz="1350" b="1" dirty="0">
                <a:solidFill>
                  <a:srgbClr val="1E4D43"/>
                </a:solidFill>
              </a:rPr>
              <a:t>Rôle</a:t>
            </a:r>
            <a:endParaRPr lang="en-US" sz="1350" dirty="0"/>
          </a:p>
        </p:txBody>
      </p:sp>
      <p:sp>
        <p:nvSpPr>
          <p:cNvPr id="18" name="Text 16"/>
          <p:cNvSpPr txBox="1"/>
          <p:nvPr/>
        </p:nvSpPr>
        <p:spPr>
          <a:xfrm>
            <a:off x="2194560" y="3154680"/>
            <a:ext cx="3931920" cy="676656"/>
          </a:xfrm>
          <a:prstGeom prst="rect">
            <a:avLst/>
          </a:prstGeom>
          <a:noFill/>
          <a:ln/>
        </p:spPr>
        <p:txBody>
          <a:bodyPr wrap="square" lIns="0" tIns="0" rIns="0" bIns="0" rtlCol="0" anchor="ctr"/>
          <a:lstStyle/>
          <a:p>
            <a:pPr indent="0" marL="0">
              <a:buNone/>
            </a:pPr>
            <a:r>
              <a:rPr lang="en-US" sz="1250" dirty="0">
                <a:solidFill>
                  <a:srgbClr val="22201C"/>
                </a:solidFill>
              </a:rPr>
              <a:t>Aider à préparer la première séance. Jamais de diagnostic, jamais à la place du psychologue.</a:t>
            </a:r>
            <a:endParaRPr lang="en-US" sz="1250" dirty="0"/>
          </a:p>
        </p:txBody>
      </p:sp>
      <p:sp>
        <p:nvSpPr>
          <p:cNvPr id="19" name="xalaat-2"/>
          <p:cNvSpPr/>
          <p:nvPr/>
        </p:nvSpPr>
        <p:spPr>
          <a:xfrm>
            <a:off x="548640" y="3922776"/>
            <a:ext cx="5669280" cy="676656"/>
          </a:xfrm>
          <a:prstGeom prst="roundRect">
            <a:avLst>
              <a:gd name="adj" fmla="val 18919"/>
            </a:avLst>
          </a:prstGeom>
          <a:solidFill>
            <a:srgbClr val="FFFFFF"/>
          </a:solidFill>
          <a:ln w="12700">
            <a:solidFill>
              <a:srgbClr val="E6DFD3"/>
            </a:solidFill>
            <a:prstDash val="solid"/>
          </a:ln>
        </p:spPr>
      </p:sp>
      <p:sp>
        <p:nvSpPr>
          <p:cNvPr id="20" name="Text 18"/>
          <p:cNvSpPr txBox="1"/>
          <p:nvPr/>
        </p:nvSpPr>
        <p:spPr>
          <a:xfrm>
            <a:off x="731520" y="3922776"/>
            <a:ext cx="1417320" cy="676656"/>
          </a:xfrm>
          <a:prstGeom prst="rect">
            <a:avLst/>
          </a:prstGeom>
          <a:noFill/>
          <a:ln/>
        </p:spPr>
        <p:txBody>
          <a:bodyPr wrap="square" lIns="0" tIns="0" rIns="0" bIns="0" rtlCol="0" anchor="ctr"/>
          <a:lstStyle/>
          <a:p>
            <a:pPr indent="0" marL="0">
              <a:buNone/>
            </a:pPr>
            <a:r>
              <a:rPr lang="en-US" sz="1350" b="1" dirty="0">
                <a:solidFill>
                  <a:srgbClr val="1E4D43"/>
                </a:solidFill>
              </a:rPr>
              <a:t>Confidentialité</a:t>
            </a:r>
            <a:endParaRPr lang="en-US" sz="1350" dirty="0"/>
          </a:p>
        </p:txBody>
      </p:sp>
      <p:sp>
        <p:nvSpPr>
          <p:cNvPr id="21" name="Text 19"/>
          <p:cNvSpPr txBox="1"/>
          <p:nvPr/>
        </p:nvSpPr>
        <p:spPr>
          <a:xfrm>
            <a:off x="2194560" y="3922776"/>
            <a:ext cx="3931920" cy="676656"/>
          </a:xfrm>
          <a:prstGeom prst="rect">
            <a:avLst/>
          </a:prstGeom>
          <a:noFill/>
          <a:ln/>
        </p:spPr>
        <p:txBody>
          <a:bodyPr wrap="square" lIns="0" tIns="0" rIns="0" bIns="0" rtlCol="0" anchor="ctr"/>
          <a:lstStyle/>
          <a:p>
            <a:pPr indent="0" marL="0">
              <a:buNone/>
            </a:pPr>
            <a:r>
              <a:rPr lang="en-US" sz="1250" dirty="0">
                <a:solidFill>
                  <a:srgbClr val="22201C"/>
                </a:solidFill>
              </a:rPr>
              <a:t>Modèle exécuté en local avec Ollama. Rien n'est stocké : ni base, ni journal, ni téléphone.</a:t>
            </a:r>
            <a:endParaRPr lang="en-US" sz="1250" dirty="0"/>
          </a:p>
        </p:txBody>
      </p:sp>
      <p:sp>
        <p:nvSpPr>
          <p:cNvPr id="22" name="xalaat-3"/>
          <p:cNvSpPr/>
          <p:nvPr/>
        </p:nvSpPr>
        <p:spPr>
          <a:xfrm>
            <a:off x="548640" y="4690872"/>
            <a:ext cx="5669280" cy="676656"/>
          </a:xfrm>
          <a:prstGeom prst="roundRect">
            <a:avLst>
              <a:gd name="adj" fmla="val 18919"/>
            </a:avLst>
          </a:prstGeom>
          <a:solidFill>
            <a:srgbClr val="FFFFFF"/>
          </a:solidFill>
          <a:ln w="12700">
            <a:solidFill>
              <a:srgbClr val="E6DFD3"/>
            </a:solidFill>
            <a:prstDash val="solid"/>
          </a:ln>
        </p:spPr>
      </p:sp>
      <p:sp>
        <p:nvSpPr>
          <p:cNvPr id="23" name="Text 21"/>
          <p:cNvSpPr txBox="1"/>
          <p:nvPr/>
        </p:nvSpPr>
        <p:spPr>
          <a:xfrm>
            <a:off x="731520" y="4690872"/>
            <a:ext cx="1417320" cy="676656"/>
          </a:xfrm>
          <a:prstGeom prst="rect">
            <a:avLst/>
          </a:prstGeom>
          <a:noFill/>
          <a:ln/>
        </p:spPr>
        <p:txBody>
          <a:bodyPr wrap="square" lIns="0" tIns="0" rIns="0" bIns="0" rtlCol="0" anchor="ctr"/>
          <a:lstStyle/>
          <a:p>
            <a:pPr indent="0" marL="0">
              <a:buNone/>
            </a:pPr>
            <a:r>
              <a:rPr lang="en-US" sz="1350" b="1" dirty="0">
                <a:solidFill>
                  <a:srgbClr val="B5532F"/>
                </a:solidFill>
              </a:rPr>
              <a:t>Garde-fou</a:t>
            </a:r>
            <a:endParaRPr lang="en-US" sz="1350" dirty="0"/>
          </a:p>
        </p:txBody>
      </p:sp>
      <p:sp>
        <p:nvSpPr>
          <p:cNvPr id="24" name="Text 22"/>
          <p:cNvSpPr txBox="1"/>
          <p:nvPr/>
        </p:nvSpPr>
        <p:spPr>
          <a:xfrm>
            <a:off x="2194560" y="4690872"/>
            <a:ext cx="3931920" cy="676656"/>
          </a:xfrm>
          <a:prstGeom prst="rect">
            <a:avLst/>
          </a:prstGeom>
          <a:noFill/>
          <a:ln/>
        </p:spPr>
        <p:txBody>
          <a:bodyPr wrap="square" lIns="0" tIns="0" rIns="0" bIns="0" rtlCol="0" anchor="ctr"/>
          <a:lstStyle/>
          <a:p>
            <a:pPr indent="0" marL="0">
              <a:buNone/>
            </a:pPr>
            <a:r>
              <a:rPr lang="en-US" sz="1250" dirty="0">
                <a:solidFill>
                  <a:srgbClr val="22201C"/>
                </a:solidFill>
              </a:rPr>
              <a:t>En cas de détresse, le modèle n'est pas appelé : SAMU 1515, numéro vert du ministère 800 00 50 50, 17, 18.</a:t>
            </a:r>
            <a:endParaRPr lang="en-US" sz="1250" dirty="0"/>
          </a:p>
        </p:txBody>
      </p:sp>
      <p:sp>
        <p:nvSpPr>
          <p:cNvPr id="25" name="xalaat-4"/>
          <p:cNvSpPr/>
          <p:nvPr/>
        </p:nvSpPr>
        <p:spPr>
          <a:xfrm>
            <a:off x="548640" y="5458968"/>
            <a:ext cx="5669280" cy="676656"/>
          </a:xfrm>
          <a:prstGeom prst="roundRect">
            <a:avLst>
              <a:gd name="adj" fmla="val 18919"/>
            </a:avLst>
          </a:prstGeom>
          <a:solidFill>
            <a:srgbClr val="FFFFFF"/>
          </a:solidFill>
          <a:ln w="12700">
            <a:solidFill>
              <a:srgbClr val="E6DFD3"/>
            </a:solidFill>
            <a:prstDash val="solid"/>
          </a:ln>
        </p:spPr>
      </p:sp>
      <p:sp>
        <p:nvSpPr>
          <p:cNvPr id="26" name="Text 24"/>
          <p:cNvSpPr txBox="1"/>
          <p:nvPr/>
        </p:nvSpPr>
        <p:spPr>
          <a:xfrm>
            <a:off x="731520" y="5458968"/>
            <a:ext cx="1417320" cy="676656"/>
          </a:xfrm>
          <a:prstGeom prst="rect">
            <a:avLst/>
          </a:prstGeom>
          <a:noFill/>
          <a:ln/>
        </p:spPr>
        <p:txBody>
          <a:bodyPr wrap="square" lIns="0" tIns="0" rIns="0" bIns="0" rtlCol="0" anchor="ctr"/>
          <a:lstStyle/>
          <a:p>
            <a:pPr indent="0" marL="0">
              <a:buNone/>
            </a:pPr>
            <a:r>
              <a:rPr lang="en-US" sz="1350" b="1" dirty="0">
                <a:solidFill>
                  <a:srgbClr val="9A6B12"/>
                </a:solidFill>
              </a:rPr>
              <a:t>Limite assumée</a:t>
            </a:r>
            <a:endParaRPr lang="en-US" sz="1350" dirty="0"/>
          </a:p>
        </p:txBody>
      </p:sp>
      <p:sp>
        <p:nvSpPr>
          <p:cNvPr id="27" name="Text 25"/>
          <p:cNvSpPr txBox="1"/>
          <p:nvPr/>
        </p:nvSpPr>
        <p:spPr>
          <a:xfrm>
            <a:off x="2194560" y="5458968"/>
            <a:ext cx="3931920" cy="676656"/>
          </a:xfrm>
          <a:prstGeom prst="rect">
            <a:avLst/>
          </a:prstGeom>
          <a:noFill/>
          <a:ln/>
        </p:spPr>
        <p:txBody>
          <a:bodyPr wrap="square" lIns="0" tIns="0" rIns="0" bIns="0" rtlCol="0" anchor="ctr"/>
          <a:lstStyle/>
          <a:p>
            <a:pPr indent="0" marL="0">
              <a:buNone/>
            </a:pPr>
            <a:r>
              <a:rPr lang="en-US" sz="1250" dirty="0">
                <a:solidFill>
                  <a:srgbClr val="22201C"/>
                </a:solidFill>
              </a:rPr>
              <a:t>Formulations en français seulement. Filtre couvert par un test automatisé.</a:t>
            </a:r>
            <a:endParaRPr lang="en-US" sz="1250" dirty="0"/>
          </a:p>
        </p:txBody>
      </p:sp>
      <p:pic>
        <p:nvPicPr>
          <p:cNvPr id="28" name="Image 0" descr="/tmp/claude-0/-home-claude/b65661ba-79a0-54f1-a3cb-20b33955440c/scratchpad/ppt/img/xalaat.png">    </p:cNvPr>
          <p:cNvPicPr>
            <a:picLocks noChangeAspect="1"/>
          </p:cNvPicPr>
          <p:nvPr/>
        </p:nvPicPr>
        <p:blipFill>
          <a:blip r:embed="rId1"/>
          <a:stretch>
            <a:fillRect/>
          </a:stretch>
        </p:blipFill>
        <p:spPr>
          <a:xfrm>
            <a:off x="6720840" y="1280160"/>
            <a:ext cx="2159909" cy="4526280"/>
          </a:xfrm>
          <a:prstGeom prst="rect">
            <a:avLst/>
          </a:prstGeom>
        </p:spPr>
      </p:pic>
      <p:sp>
        <p:nvSpPr>
          <p:cNvPr id="29" name="Text 26"/>
          <p:cNvSpPr txBox="1"/>
          <p:nvPr/>
        </p:nvSpPr>
        <p:spPr>
          <a:xfrm>
            <a:off x="6720840" y="5897880"/>
            <a:ext cx="2159909" cy="274320"/>
          </a:xfrm>
          <a:prstGeom prst="rect">
            <a:avLst/>
          </a:prstGeom>
          <a:noFill/>
          <a:ln/>
        </p:spPr>
        <p:txBody>
          <a:bodyPr wrap="square" lIns="0" tIns="0" rIns="0" bIns="0" rtlCol="0" anchor="t"/>
          <a:lstStyle/>
          <a:p>
            <a:pPr algn="ctr" indent="0" marL="0">
              <a:buNone/>
            </a:pPr>
            <a:r>
              <a:rPr lang="en-US" sz="1200" b="1" dirty="0">
                <a:solidFill>
                  <a:srgbClr val="6B645A"/>
                </a:solidFill>
              </a:rPr>
              <a:t>Échange normal</a:t>
            </a:r>
            <a:endParaRPr lang="en-US" sz="1200" dirty="0"/>
          </a:p>
        </p:txBody>
      </p:sp>
      <p:pic>
        <p:nvPicPr>
          <p:cNvPr id="30" name="Image 1" descr="/tmp/claude-0/-home-claude/b65661ba-79a0-54f1-a3cb-20b33955440c/scratchpad/ppt/img/gardefou.png">    </p:cNvPr>
          <p:cNvPicPr>
            <a:picLocks noChangeAspect="1"/>
          </p:cNvPicPr>
          <p:nvPr/>
        </p:nvPicPr>
        <p:blipFill>
          <a:blip r:embed="rId2"/>
          <a:stretch>
            <a:fillRect/>
          </a:stretch>
        </p:blipFill>
        <p:spPr>
          <a:xfrm>
            <a:off x="9200789" y="1280160"/>
            <a:ext cx="2159909" cy="4526280"/>
          </a:xfrm>
          <a:prstGeom prst="rect">
            <a:avLst/>
          </a:prstGeom>
        </p:spPr>
      </p:pic>
      <p:sp>
        <p:nvSpPr>
          <p:cNvPr id="31" name="Text 27"/>
          <p:cNvSpPr txBox="1"/>
          <p:nvPr/>
        </p:nvSpPr>
        <p:spPr>
          <a:xfrm>
            <a:off x="9200789" y="5897880"/>
            <a:ext cx="2159909" cy="274320"/>
          </a:xfrm>
          <a:prstGeom prst="rect">
            <a:avLst/>
          </a:prstGeom>
          <a:noFill/>
          <a:ln/>
        </p:spPr>
        <p:txBody>
          <a:bodyPr wrap="square" lIns="0" tIns="0" rIns="0" bIns="0" rtlCol="0" anchor="t"/>
          <a:lstStyle/>
          <a:p>
            <a:pPr algn="ctr" indent="0" marL="0">
              <a:buNone/>
            </a:pPr>
            <a:r>
              <a:rPr lang="en-US" sz="1200" b="1" dirty="0">
                <a:solidFill>
                  <a:srgbClr val="B5532F"/>
                </a:solidFill>
              </a:rPr>
              <a:t>Garde-fou déclenché</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Sécurité et confidentialité</a:t>
            </a:r>
            <a:endParaRPr lang="en-US" sz="3200" dirty="0"/>
          </a:p>
        </p:txBody>
      </p:sp>
      <p:sp>
        <p:nvSpPr>
          <p:cNvPr id="3" name="securite-1"/>
          <p:cNvSpPr/>
          <p:nvPr/>
        </p:nvSpPr>
        <p:spPr>
          <a:xfrm>
            <a:off x="548640" y="1371600"/>
            <a:ext cx="3515258" cy="2148840"/>
          </a:xfrm>
          <a:prstGeom prst="roundRect">
            <a:avLst>
              <a:gd name="adj" fmla="val 5957"/>
            </a:avLst>
          </a:prstGeom>
          <a:solidFill>
            <a:srgbClr val="FFFFFF"/>
          </a:solidFill>
          <a:ln w="12700">
            <a:solidFill>
              <a:srgbClr val="E6DFD3"/>
            </a:solidFill>
            <a:prstDash val="solid"/>
          </a:ln>
        </p:spPr>
      </p:sp>
      <p:sp>
        <p:nvSpPr>
          <p:cNvPr id="4" name="Shape 2"/>
          <p:cNvSpPr/>
          <p:nvPr/>
        </p:nvSpPr>
        <p:spPr>
          <a:xfrm>
            <a:off x="868680" y="1645920"/>
            <a:ext cx="640080" cy="640080"/>
          </a:xfrm>
          <a:prstGeom prst="ellipse">
            <a:avLst/>
          </a:prstGeom>
          <a:solidFill>
            <a:srgbClr val="DCE7E0"/>
          </a:solidFill>
          <a:ln w="12700">
            <a:solidFill>
              <a:srgbClr val="DCE7E0"/>
            </a:solidFill>
            <a:prstDash val="solid"/>
          </a:ln>
        </p:spPr>
      </p:sp>
      <p:pic>
        <p:nvPicPr>
          <p:cNvPr id="5" name="Image 0" descr="preencoded.png">    </p:cNvPr>
          <p:cNvPicPr>
            <a:picLocks noChangeAspect="1"/>
          </p:cNvPicPr>
          <p:nvPr/>
        </p:nvPicPr>
        <p:blipFill>
          <a:blip r:embed="rId1"/>
          <a:stretch>
            <a:fillRect/>
          </a:stretch>
        </p:blipFill>
        <p:spPr>
          <a:xfrm>
            <a:off x="1009498" y="1786738"/>
            <a:ext cx="358445" cy="358445"/>
          </a:xfrm>
          <a:prstGeom prst="rect">
            <a:avLst/>
          </a:prstGeom>
        </p:spPr>
      </p:pic>
      <p:sp>
        <p:nvSpPr>
          <p:cNvPr id="6" name="Text 3"/>
          <p:cNvSpPr txBox="1"/>
          <p:nvPr/>
        </p:nvSpPr>
        <p:spPr>
          <a:xfrm>
            <a:off x="868680"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Authentification</a:t>
            </a:r>
            <a:endParaRPr lang="en-US" sz="1800" dirty="0"/>
          </a:p>
        </p:txBody>
      </p:sp>
      <p:sp>
        <p:nvSpPr>
          <p:cNvPr id="7" name="Text 4"/>
          <p:cNvSpPr txBox="1"/>
          <p:nvPr/>
        </p:nvSpPr>
        <p:spPr>
          <a:xfrm>
            <a:off x="868680"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Chaque service vérifie lui-même le jeton JWT ; la passerelle ne fait que router.</a:t>
            </a:r>
            <a:endParaRPr lang="en-US" sz="1400" dirty="0"/>
          </a:p>
        </p:txBody>
      </p:sp>
      <p:sp>
        <p:nvSpPr>
          <p:cNvPr id="8" name="securite-2"/>
          <p:cNvSpPr/>
          <p:nvPr/>
        </p:nvSpPr>
        <p:spPr>
          <a:xfrm>
            <a:off x="4338218" y="1371600"/>
            <a:ext cx="3515258" cy="2148840"/>
          </a:xfrm>
          <a:prstGeom prst="roundRect">
            <a:avLst>
              <a:gd name="adj" fmla="val 5957"/>
            </a:avLst>
          </a:prstGeom>
          <a:solidFill>
            <a:srgbClr val="FFFFFF"/>
          </a:solidFill>
          <a:ln w="12700">
            <a:solidFill>
              <a:srgbClr val="E6DFD3"/>
            </a:solidFill>
            <a:prstDash val="solid"/>
          </a:ln>
        </p:spPr>
      </p:sp>
      <p:sp>
        <p:nvSpPr>
          <p:cNvPr id="9" name="Shape 6"/>
          <p:cNvSpPr/>
          <p:nvPr/>
        </p:nvSpPr>
        <p:spPr>
          <a:xfrm>
            <a:off x="4658258" y="1645920"/>
            <a:ext cx="640080" cy="640080"/>
          </a:xfrm>
          <a:prstGeom prst="ellipse">
            <a:avLst/>
          </a:prstGeom>
          <a:solidFill>
            <a:srgbClr val="DCE7E0"/>
          </a:solidFill>
          <a:ln w="12700">
            <a:solidFill>
              <a:srgbClr val="DCE7E0"/>
            </a:solidFill>
            <a:prstDash val="solid"/>
          </a:ln>
        </p:spPr>
      </p:sp>
      <p:pic>
        <p:nvPicPr>
          <p:cNvPr id="10" name="Image 1" descr="preencoded.png">    </p:cNvPr>
          <p:cNvPicPr>
            <a:picLocks noChangeAspect="1"/>
          </p:cNvPicPr>
          <p:nvPr/>
        </p:nvPicPr>
        <p:blipFill>
          <a:blip r:embed="rId2"/>
          <a:stretch>
            <a:fillRect/>
          </a:stretch>
        </p:blipFill>
        <p:spPr>
          <a:xfrm>
            <a:off x="4799076" y="1786738"/>
            <a:ext cx="358445" cy="358445"/>
          </a:xfrm>
          <a:prstGeom prst="rect">
            <a:avLst/>
          </a:prstGeom>
        </p:spPr>
      </p:pic>
      <p:sp>
        <p:nvSpPr>
          <p:cNvPr id="11" name="Text 7"/>
          <p:cNvSpPr txBox="1"/>
          <p:nvPr/>
        </p:nvSpPr>
        <p:spPr>
          <a:xfrm>
            <a:off x="4658258"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Propriété</a:t>
            </a:r>
            <a:endParaRPr lang="en-US" sz="1800" dirty="0"/>
          </a:p>
        </p:txBody>
      </p:sp>
      <p:sp>
        <p:nvSpPr>
          <p:cNvPr id="12" name="Text 8"/>
          <p:cNvSpPr txBox="1"/>
          <p:nvPr/>
        </p:nvSpPr>
        <p:spPr>
          <a:xfrm>
            <a:off x="4658258"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Le client déclare, le serveur vérifie : un patient n'accède qu'à ses propres données.</a:t>
            </a:r>
            <a:endParaRPr lang="en-US" sz="1400" dirty="0"/>
          </a:p>
        </p:txBody>
      </p:sp>
      <p:sp>
        <p:nvSpPr>
          <p:cNvPr id="13" name="securite-3"/>
          <p:cNvSpPr/>
          <p:nvPr/>
        </p:nvSpPr>
        <p:spPr>
          <a:xfrm>
            <a:off x="8127797" y="1371600"/>
            <a:ext cx="3515258" cy="2148840"/>
          </a:xfrm>
          <a:prstGeom prst="roundRect">
            <a:avLst>
              <a:gd name="adj" fmla="val 5957"/>
            </a:avLst>
          </a:prstGeom>
          <a:solidFill>
            <a:srgbClr val="FFFFFF"/>
          </a:solidFill>
          <a:ln w="12700">
            <a:solidFill>
              <a:srgbClr val="E6DFD3"/>
            </a:solidFill>
            <a:prstDash val="solid"/>
          </a:ln>
        </p:spPr>
      </p:sp>
      <p:sp>
        <p:nvSpPr>
          <p:cNvPr id="14" name="Shape 10"/>
          <p:cNvSpPr/>
          <p:nvPr/>
        </p:nvSpPr>
        <p:spPr>
          <a:xfrm>
            <a:off x="8447837" y="1645920"/>
            <a:ext cx="640080" cy="640080"/>
          </a:xfrm>
          <a:prstGeom prst="ellipse">
            <a:avLst/>
          </a:prstGeom>
          <a:solidFill>
            <a:srgbClr val="DCE7E0"/>
          </a:solidFill>
          <a:ln w="12700">
            <a:solidFill>
              <a:srgbClr val="DCE7E0"/>
            </a:solidFill>
            <a:prstDash val="solid"/>
          </a:ln>
        </p:spPr>
      </p:sp>
      <p:pic>
        <p:nvPicPr>
          <p:cNvPr id="15" name="Image 2" descr="preencoded.png">    </p:cNvPr>
          <p:cNvPicPr>
            <a:picLocks noChangeAspect="1"/>
          </p:cNvPicPr>
          <p:nvPr/>
        </p:nvPicPr>
        <p:blipFill>
          <a:blip r:embed="rId3"/>
          <a:stretch>
            <a:fillRect/>
          </a:stretch>
        </p:blipFill>
        <p:spPr>
          <a:xfrm>
            <a:off x="8588654" y="1786738"/>
            <a:ext cx="358445" cy="358445"/>
          </a:xfrm>
          <a:prstGeom prst="rect">
            <a:avLst/>
          </a:prstGeom>
        </p:spPr>
      </p:pic>
      <p:sp>
        <p:nvSpPr>
          <p:cNvPr id="16" name="Text 11"/>
          <p:cNvSpPr txBox="1"/>
          <p:nvPr/>
        </p:nvSpPr>
        <p:spPr>
          <a:xfrm>
            <a:off x="8447837"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Secrets</a:t>
            </a:r>
            <a:endParaRPr lang="en-US" sz="1800" dirty="0"/>
          </a:p>
        </p:txBody>
      </p:sp>
      <p:sp>
        <p:nvSpPr>
          <p:cNvPr id="17" name="Text 12"/>
          <p:cNvSpPr txBox="1"/>
          <p:nvPr/>
        </p:nvSpPr>
        <p:spPr>
          <a:xfrm>
            <a:off x="8447837"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Mots de passe et codes de réinitialisation hachés.</a:t>
            </a:r>
            <a:endParaRPr lang="en-US" sz="1400" dirty="0"/>
          </a:p>
        </p:txBody>
      </p:sp>
      <p:sp>
        <p:nvSpPr>
          <p:cNvPr id="18" name="securite-4"/>
          <p:cNvSpPr/>
          <p:nvPr/>
        </p:nvSpPr>
        <p:spPr>
          <a:xfrm>
            <a:off x="2443429" y="3794760"/>
            <a:ext cx="3515258" cy="2148840"/>
          </a:xfrm>
          <a:prstGeom prst="roundRect">
            <a:avLst>
              <a:gd name="adj" fmla="val 5957"/>
            </a:avLst>
          </a:prstGeom>
          <a:solidFill>
            <a:srgbClr val="FFFFFF"/>
          </a:solidFill>
          <a:ln w="12700">
            <a:solidFill>
              <a:srgbClr val="E6DFD3"/>
            </a:solidFill>
            <a:prstDash val="solid"/>
          </a:ln>
        </p:spPr>
      </p:sp>
      <p:sp>
        <p:nvSpPr>
          <p:cNvPr id="19" name="Shape 14"/>
          <p:cNvSpPr/>
          <p:nvPr/>
        </p:nvSpPr>
        <p:spPr>
          <a:xfrm>
            <a:off x="2763469" y="4069080"/>
            <a:ext cx="640080" cy="640080"/>
          </a:xfrm>
          <a:prstGeom prst="ellipse">
            <a:avLst/>
          </a:prstGeom>
          <a:solidFill>
            <a:srgbClr val="DCE7E0"/>
          </a:solidFill>
          <a:ln w="12700">
            <a:solidFill>
              <a:srgbClr val="DCE7E0"/>
            </a:solidFill>
            <a:prstDash val="solid"/>
          </a:ln>
        </p:spPr>
      </p:sp>
      <p:pic>
        <p:nvPicPr>
          <p:cNvPr id="20" name="Image 3" descr="preencoded.png">    </p:cNvPr>
          <p:cNvPicPr>
            <a:picLocks noChangeAspect="1"/>
          </p:cNvPicPr>
          <p:nvPr/>
        </p:nvPicPr>
        <p:blipFill>
          <a:blip r:embed="rId4"/>
          <a:stretch>
            <a:fillRect/>
          </a:stretch>
        </p:blipFill>
        <p:spPr>
          <a:xfrm>
            <a:off x="2904287" y="4209898"/>
            <a:ext cx="358445" cy="358445"/>
          </a:xfrm>
          <a:prstGeom prst="rect">
            <a:avLst/>
          </a:prstGeom>
        </p:spPr>
      </p:pic>
      <p:sp>
        <p:nvSpPr>
          <p:cNvPr id="21" name="Text 15"/>
          <p:cNvSpPr txBox="1"/>
          <p:nvPr/>
        </p:nvSpPr>
        <p:spPr>
          <a:xfrm>
            <a:off x="2763469" y="480060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Anonymat</a:t>
            </a:r>
            <a:endParaRPr lang="en-US" sz="1800" dirty="0"/>
          </a:p>
        </p:txBody>
      </p:sp>
      <p:sp>
        <p:nvSpPr>
          <p:cNvPr id="22" name="Text 16"/>
          <p:cNvSpPr txBox="1"/>
          <p:nvPr/>
        </p:nvSpPr>
        <p:spPr>
          <a:xfrm>
            <a:off x="2763469" y="5166360"/>
            <a:ext cx="2875178" cy="685800"/>
          </a:xfrm>
          <a:prstGeom prst="rect">
            <a:avLst/>
          </a:prstGeom>
          <a:noFill/>
          <a:ln/>
        </p:spPr>
        <p:txBody>
          <a:bodyPr wrap="square" lIns="0" tIns="0" rIns="0" bIns="0" rtlCol="0" anchor="t"/>
          <a:lstStyle/>
          <a:p>
            <a:pPr indent="0" marL="0">
              <a:buNone/>
            </a:pPr>
            <a:r>
              <a:rPr lang="en-US" sz="1400" dirty="0">
                <a:solidFill>
                  <a:srgbClr val="6B645A"/>
                </a:solidFill>
              </a:rPr>
              <a:t>Pseudonymisation côté serveur : le psychologue voit un pseudo à la place du nom.</a:t>
            </a:r>
            <a:endParaRPr lang="en-US" sz="1400" dirty="0"/>
          </a:p>
        </p:txBody>
      </p:sp>
      <p:sp>
        <p:nvSpPr>
          <p:cNvPr id="23" name="securite-5"/>
          <p:cNvSpPr/>
          <p:nvPr/>
        </p:nvSpPr>
        <p:spPr>
          <a:xfrm>
            <a:off x="6233008" y="3794760"/>
            <a:ext cx="3515258" cy="2148840"/>
          </a:xfrm>
          <a:prstGeom prst="roundRect">
            <a:avLst>
              <a:gd name="adj" fmla="val 5957"/>
            </a:avLst>
          </a:prstGeom>
          <a:solidFill>
            <a:srgbClr val="FFFFFF"/>
          </a:solidFill>
          <a:ln w="12700">
            <a:solidFill>
              <a:srgbClr val="E6DFD3"/>
            </a:solidFill>
            <a:prstDash val="solid"/>
          </a:ln>
        </p:spPr>
      </p:sp>
      <p:sp>
        <p:nvSpPr>
          <p:cNvPr id="24" name="Shape 18"/>
          <p:cNvSpPr/>
          <p:nvPr/>
        </p:nvSpPr>
        <p:spPr>
          <a:xfrm>
            <a:off x="6553048" y="4069080"/>
            <a:ext cx="640080" cy="640080"/>
          </a:xfrm>
          <a:prstGeom prst="ellipse">
            <a:avLst/>
          </a:prstGeom>
          <a:solidFill>
            <a:srgbClr val="DCE7E0"/>
          </a:solidFill>
          <a:ln w="12700">
            <a:solidFill>
              <a:srgbClr val="DCE7E0"/>
            </a:solidFill>
            <a:prstDash val="solid"/>
          </a:ln>
        </p:spPr>
      </p:sp>
      <p:pic>
        <p:nvPicPr>
          <p:cNvPr id="25" name="Image 4" descr="preencoded.png">    </p:cNvPr>
          <p:cNvPicPr>
            <a:picLocks noChangeAspect="1"/>
          </p:cNvPicPr>
          <p:nvPr/>
        </p:nvPicPr>
        <p:blipFill>
          <a:blip r:embed="rId5"/>
          <a:stretch>
            <a:fillRect/>
          </a:stretch>
        </p:blipFill>
        <p:spPr>
          <a:xfrm>
            <a:off x="6693865" y="4209898"/>
            <a:ext cx="358445" cy="358445"/>
          </a:xfrm>
          <a:prstGeom prst="rect">
            <a:avLst/>
          </a:prstGeom>
        </p:spPr>
      </p:pic>
      <p:sp>
        <p:nvSpPr>
          <p:cNvPr id="26" name="Text 19"/>
          <p:cNvSpPr txBox="1"/>
          <p:nvPr/>
        </p:nvSpPr>
        <p:spPr>
          <a:xfrm>
            <a:off x="6553048" y="480060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Données cliniques</a:t>
            </a:r>
            <a:endParaRPr lang="en-US" sz="1800" dirty="0"/>
          </a:p>
        </p:txBody>
      </p:sp>
      <p:sp>
        <p:nvSpPr>
          <p:cNvPr id="27" name="Text 20"/>
          <p:cNvSpPr txBox="1"/>
          <p:nvPr/>
        </p:nvSpPr>
        <p:spPr>
          <a:xfrm>
            <a:off x="6553048" y="5166360"/>
            <a:ext cx="2875178" cy="685800"/>
          </a:xfrm>
          <a:prstGeom prst="rect">
            <a:avLst/>
          </a:prstGeom>
          <a:noFill/>
          <a:ln/>
        </p:spPr>
        <p:txBody>
          <a:bodyPr wrap="square" lIns="0" tIns="0" rIns="0" bIns="0" rtlCol="0" anchor="t"/>
          <a:lstStyle/>
          <a:p>
            <a:pPr indent="0" marL="0">
              <a:buNone/>
            </a:pPr>
            <a:r>
              <a:rPr lang="en-US" sz="1400" dirty="0">
                <a:solidFill>
                  <a:srgbClr val="6B645A"/>
                </a:solidFill>
              </a:rPr>
              <a:t>Notes visibles par leur seul auteur ; conversations Xalaat jamais enregistrées.</a:t>
            </a:r>
            <a:endParaRPr lang="en-US" sz="14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Limites et perspectives</a:t>
            </a:r>
            <a:endParaRPr lang="en-US" sz="3200" dirty="0"/>
          </a:p>
        </p:txBody>
      </p:sp>
      <p:sp>
        <p:nvSpPr>
          <p:cNvPr id="3" name="Shape 1"/>
          <p:cNvSpPr/>
          <p:nvPr/>
        </p:nvSpPr>
        <p:spPr>
          <a:xfrm>
            <a:off x="548640" y="1325880"/>
            <a:ext cx="1280160" cy="329184"/>
          </a:xfrm>
          <a:prstGeom prst="roundRect">
            <a:avLst>
              <a:gd name="adj" fmla="val 50000"/>
            </a:avLst>
          </a:prstGeom>
          <a:solidFill>
            <a:srgbClr val="F6E4DB"/>
          </a:solidFill>
          <a:ln w="12700">
            <a:solidFill>
              <a:srgbClr val="F6E4DB"/>
            </a:solidFill>
            <a:prstDash val="solid"/>
          </a:ln>
        </p:spPr>
      </p:sp>
      <p:sp>
        <p:nvSpPr>
          <p:cNvPr id="4" name="Text 2"/>
          <p:cNvSpPr txBox="1"/>
          <p:nvPr/>
        </p:nvSpPr>
        <p:spPr>
          <a:xfrm>
            <a:off x="548640" y="1325880"/>
            <a:ext cx="1280160" cy="329184"/>
          </a:xfrm>
          <a:prstGeom prst="rect">
            <a:avLst/>
          </a:prstGeom>
          <a:noFill/>
          <a:ln/>
        </p:spPr>
        <p:txBody>
          <a:bodyPr wrap="square" lIns="0" tIns="0" rIns="0" bIns="0" rtlCol="0" anchor="ctr"/>
          <a:lstStyle/>
          <a:p>
            <a:pPr algn="ctr" indent="0" marL="0">
              <a:buNone/>
            </a:pPr>
            <a:r>
              <a:rPr lang="en-US" sz="1100" b="1" dirty="0">
                <a:solidFill>
                  <a:srgbClr val="B5532F"/>
                </a:solidFill>
              </a:rPr>
              <a:t>LIMITES</a:t>
            </a:r>
            <a:endParaRPr lang="en-US" sz="1100" dirty="0"/>
          </a:p>
        </p:txBody>
      </p:sp>
      <p:sp>
        <p:nvSpPr>
          <p:cNvPr id="5" name="Shape 3"/>
          <p:cNvSpPr/>
          <p:nvPr/>
        </p:nvSpPr>
        <p:spPr>
          <a:xfrm>
            <a:off x="6153912" y="1325880"/>
            <a:ext cx="1737360" cy="329184"/>
          </a:xfrm>
          <a:prstGeom prst="roundRect">
            <a:avLst>
              <a:gd name="adj" fmla="val 50000"/>
            </a:avLst>
          </a:prstGeom>
          <a:solidFill>
            <a:srgbClr val="DCE7E0"/>
          </a:solidFill>
          <a:ln w="12700">
            <a:solidFill>
              <a:srgbClr val="DCE7E0"/>
            </a:solidFill>
            <a:prstDash val="solid"/>
          </a:ln>
        </p:spPr>
      </p:sp>
      <p:sp>
        <p:nvSpPr>
          <p:cNvPr id="6" name="Text 4"/>
          <p:cNvSpPr txBox="1"/>
          <p:nvPr/>
        </p:nvSpPr>
        <p:spPr>
          <a:xfrm>
            <a:off x="6153912" y="1325880"/>
            <a:ext cx="1737360" cy="329184"/>
          </a:xfrm>
          <a:prstGeom prst="rect">
            <a:avLst/>
          </a:prstGeom>
          <a:noFill/>
          <a:ln/>
        </p:spPr>
        <p:txBody>
          <a:bodyPr wrap="square" lIns="0" tIns="0" rIns="0" bIns="0" rtlCol="0" anchor="ctr"/>
          <a:lstStyle/>
          <a:p>
            <a:pPr algn="ctr" indent="0" marL="0">
              <a:buNone/>
            </a:pPr>
            <a:r>
              <a:rPr lang="en-US" sz="1100" b="1" dirty="0">
                <a:solidFill>
                  <a:srgbClr val="1E4D43"/>
                </a:solidFill>
              </a:rPr>
              <a:t>PERSPECTIVES</a:t>
            </a:r>
            <a:endParaRPr lang="en-US" sz="1100" dirty="0"/>
          </a:p>
        </p:txBody>
      </p:sp>
      <p:sp>
        <p:nvSpPr>
          <p:cNvPr id="7" name="limite-1"/>
          <p:cNvSpPr/>
          <p:nvPr/>
        </p:nvSpPr>
        <p:spPr>
          <a:xfrm>
            <a:off x="548640" y="1874520"/>
            <a:ext cx="5074920" cy="841248"/>
          </a:xfrm>
          <a:prstGeom prst="roundRect">
            <a:avLst>
              <a:gd name="adj" fmla="val 15217"/>
            </a:avLst>
          </a:prstGeom>
          <a:solidFill>
            <a:srgbClr val="FFFFFF"/>
          </a:solidFill>
          <a:ln w="12700">
            <a:solidFill>
              <a:srgbClr val="E6DFD3"/>
            </a:solidFill>
            <a:prstDash val="solid"/>
          </a:ln>
        </p:spPr>
      </p:sp>
      <p:sp>
        <p:nvSpPr>
          <p:cNvPr id="8" name="Text 6"/>
          <p:cNvSpPr txBox="1"/>
          <p:nvPr/>
        </p:nvSpPr>
        <p:spPr>
          <a:xfrm>
            <a:off x="822960" y="1874520"/>
            <a:ext cx="4526280" cy="841248"/>
          </a:xfrm>
          <a:prstGeom prst="rect">
            <a:avLst/>
          </a:prstGeom>
          <a:noFill/>
          <a:ln/>
        </p:spPr>
        <p:txBody>
          <a:bodyPr wrap="square" lIns="0" tIns="0" rIns="0" bIns="0" rtlCol="0" anchor="ctr"/>
          <a:lstStyle/>
          <a:p>
            <a:pPr indent="0" marL="0">
              <a:buNone/>
            </a:pPr>
            <a:r>
              <a:rPr lang="en-US" sz="1500" dirty="0">
                <a:solidFill>
                  <a:srgbClr val="22201C"/>
                </a:solidFill>
              </a:rPr>
              <a:t>Paiement mobile simulé</a:t>
            </a:r>
            <a:endParaRPr lang="en-US" sz="1500" dirty="0"/>
          </a:p>
        </p:txBody>
      </p:sp>
      <p:pic>
        <p:nvPicPr>
          <p:cNvPr id="9" name="Image 0" descr="preencoded.png">    </p:cNvPr>
          <p:cNvPicPr>
            <a:picLocks noChangeAspect="1"/>
          </p:cNvPicPr>
          <p:nvPr/>
        </p:nvPicPr>
        <p:blipFill>
          <a:blip r:embed="rId1"/>
          <a:stretch>
            <a:fillRect/>
          </a:stretch>
        </p:blipFill>
        <p:spPr>
          <a:xfrm>
            <a:off x="5742432" y="2148840"/>
            <a:ext cx="292608" cy="292608"/>
          </a:xfrm>
          <a:prstGeom prst="rect">
            <a:avLst/>
          </a:prstGeom>
        </p:spPr>
      </p:pic>
      <p:sp>
        <p:nvSpPr>
          <p:cNvPr id="10" name="perspective-1"/>
          <p:cNvSpPr/>
          <p:nvPr/>
        </p:nvSpPr>
        <p:spPr>
          <a:xfrm>
            <a:off x="6153912" y="1874520"/>
            <a:ext cx="5489143" cy="841248"/>
          </a:xfrm>
          <a:prstGeom prst="roundRect">
            <a:avLst>
              <a:gd name="adj" fmla="val 15217"/>
            </a:avLst>
          </a:prstGeom>
          <a:solidFill>
            <a:srgbClr val="EEF3EF"/>
          </a:solidFill>
          <a:ln w="12700">
            <a:solidFill>
              <a:srgbClr val="EEF3EF"/>
            </a:solidFill>
            <a:prstDash val="solid"/>
          </a:ln>
        </p:spPr>
      </p:sp>
      <p:sp>
        <p:nvSpPr>
          <p:cNvPr id="11" name="Text 8"/>
          <p:cNvSpPr txBox="1"/>
          <p:nvPr/>
        </p:nvSpPr>
        <p:spPr>
          <a:xfrm>
            <a:off x="6428232" y="1874520"/>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Intégrer les API de Wave et d'Orange Money</a:t>
            </a:r>
            <a:endParaRPr lang="en-US" sz="1500" dirty="0"/>
          </a:p>
        </p:txBody>
      </p:sp>
      <p:sp>
        <p:nvSpPr>
          <p:cNvPr id="12" name="limite-2"/>
          <p:cNvSpPr/>
          <p:nvPr/>
        </p:nvSpPr>
        <p:spPr>
          <a:xfrm>
            <a:off x="548640" y="2898648"/>
            <a:ext cx="5074920" cy="841248"/>
          </a:xfrm>
          <a:prstGeom prst="roundRect">
            <a:avLst>
              <a:gd name="adj" fmla="val 15217"/>
            </a:avLst>
          </a:prstGeom>
          <a:solidFill>
            <a:srgbClr val="FFFFFF"/>
          </a:solidFill>
          <a:ln w="12700">
            <a:solidFill>
              <a:srgbClr val="E6DFD3"/>
            </a:solidFill>
            <a:prstDash val="solid"/>
          </a:ln>
        </p:spPr>
      </p:sp>
      <p:sp>
        <p:nvSpPr>
          <p:cNvPr id="13" name="Text 10"/>
          <p:cNvSpPr txBox="1"/>
          <p:nvPr/>
        </p:nvSpPr>
        <p:spPr>
          <a:xfrm>
            <a:off x="822960" y="2898648"/>
            <a:ext cx="4526280" cy="841248"/>
          </a:xfrm>
          <a:prstGeom prst="rect">
            <a:avLst/>
          </a:prstGeom>
          <a:noFill/>
          <a:ln/>
        </p:spPr>
        <p:txBody>
          <a:bodyPr wrap="square" lIns="0" tIns="0" rIns="0" bIns="0" rtlCol="0" anchor="ctr"/>
          <a:lstStyle/>
          <a:p>
            <a:pPr indent="0" marL="0">
              <a:buNone/>
            </a:pPr>
            <a:r>
              <a:rPr lang="en-US" sz="1500" dirty="0">
                <a:solidFill>
                  <a:srgbClr val="22201C"/>
                </a:solidFill>
              </a:rPr>
              <a:t>Déploiement local, sans chiffrement des échanges</a:t>
            </a:r>
            <a:endParaRPr lang="en-US" sz="1500" dirty="0"/>
          </a:p>
        </p:txBody>
      </p:sp>
      <p:pic>
        <p:nvPicPr>
          <p:cNvPr id="14" name="Image 1" descr="preencoded.png">    </p:cNvPr>
          <p:cNvPicPr>
            <a:picLocks noChangeAspect="1"/>
          </p:cNvPicPr>
          <p:nvPr/>
        </p:nvPicPr>
        <p:blipFill>
          <a:blip r:embed="rId2"/>
          <a:stretch>
            <a:fillRect/>
          </a:stretch>
        </p:blipFill>
        <p:spPr>
          <a:xfrm>
            <a:off x="5742432" y="3172968"/>
            <a:ext cx="292608" cy="292608"/>
          </a:xfrm>
          <a:prstGeom prst="rect">
            <a:avLst/>
          </a:prstGeom>
        </p:spPr>
      </p:pic>
      <p:sp>
        <p:nvSpPr>
          <p:cNvPr id="15" name="perspective-2"/>
          <p:cNvSpPr/>
          <p:nvPr/>
        </p:nvSpPr>
        <p:spPr>
          <a:xfrm>
            <a:off x="6153912" y="2898648"/>
            <a:ext cx="5489143" cy="841248"/>
          </a:xfrm>
          <a:prstGeom prst="roundRect">
            <a:avLst>
              <a:gd name="adj" fmla="val 15217"/>
            </a:avLst>
          </a:prstGeom>
          <a:solidFill>
            <a:srgbClr val="EEF3EF"/>
          </a:solidFill>
          <a:ln w="12700">
            <a:solidFill>
              <a:srgbClr val="EEF3EF"/>
            </a:solidFill>
            <a:prstDash val="solid"/>
          </a:ln>
        </p:spPr>
      </p:sp>
      <p:sp>
        <p:nvSpPr>
          <p:cNvPr id="16" name="Text 12"/>
          <p:cNvSpPr txBox="1"/>
          <p:nvPr/>
        </p:nvSpPr>
        <p:spPr>
          <a:xfrm>
            <a:off x="6428232" y="2898648"/>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Mise en production : cloud, TLS, gestionnaire de secrets</a:t>
            </a:r>
            <a:endParaRPr lang="en-US" sz="1500" dirty="0"/>
          </a:p>
        </p:txBody>
      </p:sp>
      <p:sp>
        <p:nvSpPr>
          <p:cNvPr id="17" name="limite-3"/>
          <p:cNvSpPr/>
          <p:nvPr/>
        </p:nvSpPr>
        <p:spPr>
          <a:xfrm>
            <a:off x="548640" y="3922776"/>
            <a:ext cx="5074920" cy="841248"/>
          </a:xfrm>
          <a:prstGeom prst="roundRect">
            <a:avLst>
              <a:gd name="adj" fmla="val 15217"/>
            </a:avLst>
          </a:prstGeom>
          <a:solidFill>
            <a:srgbClr val="FFFFFF"/>
          </a:solidFill>
          <a:ln w="12700">
            <a:solidFill>
              <a:srgbClr val="E6DFD3"/>
            </a:solidFill>
            <a:prstDash val="solid"/>
          </a:ln>
        </p:spPr>
      </p:sp>
      <p:sp>
        <p:nvSpPr>
          <p:cNvPr id="18" name="Text 14"/>
          <p:cNvSpPr txBox="1"/>
          <p:nvPr/>
        </p:nvSpPr>
        <p:spPr>
          <a:xfrm>
            <a:off x="822960" y="3922776"/>
            <a:ext cx="4526280" cy="841248"/>
          </a:xfrm>
          <a:prstGeom prst="rect">
            <a:avLst/>
          </a:prstGeom>
          <a:noFill/>
          <a:ln/>
        </p:spPr>
        <p:txBody>
          <a:bodyPr wrap="square" lIns="0" tIns="0" rIns="0" bIns="0" rtlCol="0" anchor="ctr"/>
          <a:lstStyle/>
          <a:p>
            <a:pPr indent="0" marL="0">
              <a:buNone/>
            </a:pPr>
            <a:r>
              <a:rPr lang="en-US" sz="1500" dirty="0">
                <a:solidFill>
                  <a:srgbClr val="22201C"/>
                </a:solidFill>
              </a:rPr>
              <a:t>Garde-fou de Xalaat limité au français</a:t>
            </a:r>
            <a:endParaRPr lang="en-US" sz="1500" dirty="0"/>
          </a:p>
        </p:txBody>
      </p:sp>
      <p:pic>
        <p:nvPicPr>
          <p:cNvPr id="19" name="Image 2" descr="preencoded.png">    </p:cNvPr>
          <p:cNvPicPr>
            <a:picLocks noChangeAspect="1"/>
          </p:cNvPicPr>
          <p:nvPr/>
        </p:nvPicPr>
        <p:blipFill>
          <a:blip r:embed="rId3"/>
          <a:stretch>
            <a:fillRect/>
          </a:stretch>
        </p:blipFill>
        <p:spPr>
          <a:xfrm>
            <a:off x="5742432" y="4197096"/>
            <a:ext cx="292608" cy="292608"/>
          </a:xfrm>
          <a:prstGeom prst="rect">
            <a:avLst/>
          </a:prstGeom>
        </p:spPr>
      </p:pic>
      <p:sp>
        <p:nvSpPr>
          <p:cNvPr id="20" name="perspective-3"/>
          <p:cNvSpPr/>
          <p:nvPr/>
        </p:nvSpPr>
        <p:spPr>
          <a:xfrm>
            <a:off x="6153912" y="3922776"/>
            <a:ext cx="5489143" cy="841248"/>
          </a:xfrm>
          <a:prstGeom prst="roundRect">
            <a:avLst>
              <a:gd name="adj" fmla="val 15217"/>
            </a:avLst>
          </a:prstGeom>
          <a:solidFill>
            <a:srgbClr val="EEF3EF"/>
          </a:solidFill>
          <a:ln w="12700">
            <a:solidFill>
              <a:srgbClr val="EEF3EF"/>
            </a:solidFill>
            <a:prstDash val="solid"/>
          </a:ln>
        </p:spPr>
      </p:sp>
      <p:sp>
        <p:nvSpPr>
          <p:cNvPr id="21" name="Text 16"/>
          <p:cNvSpPr txBox="1"/>
          <p:nvPr/>
        </p:nvSpPr>
        <p:spPr>
          <a:xfrm>
            <a:off x="6428232" y="3922776"/>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Wolof dans l'interface et dans Xalaat</a:t>
            </a:r>
            <a:endParaRPr lang="en-US" sz="1500" dirty="0"/>
          </a:p>
        </p:txBody>
      </p:sp>
      <p:sp>
        <p:nvSpPr>
          <p:cNvPr id="22" name="limite-4"/>
          <p:cNvSpPr/>
          <p:nvPr/>
        </p:nvSpPr>
        <p:spPr>
          <a:xfrm>
            <a:off x="548640" y="4946904"/>
            <a:ext cx="5074920" cy="841248"/>
          </a:xfrm>
          <a:prstGeom prst="roundRect">
            <a:avLst>
              <a:gd name="adj" fmla="val 15217"/>
            </a:avLst>
          </a:prstGeom>
          <a:solidFill>
            <a:srgbClr val="FFFFFF"/>
          </a:solidFill>
          <a:ln w="12700">
            <a:solidFill>
              <a:srgbClr val="E6DFD3"/>
            </a:solidFill>
            <a:prstDash val="solid"/>
          </a:ln>
        </p:spPr>
      </p:sp>
      <p:sp>
        <p:nvSpPr>
          <p:cNvPr id="23" name="Text 18"/>
          <p:cNvSpPr txBox="1"/>
          <p:nvPr/>
        </p:nvSpPr>
        <p:spPr>
          <a:xfrm>
            <a:off x="822960" y="4946904"/>
            <a:ext cx="4526280" cy="841248"/>
          </a:xfrm>
          <a:prstGeom prst="rect">
            <a:avLst/>
          </a:prstGeom>
          <a:noFill/>
          <a:ln/>
        </p:spPr>
        <p:txBody>
          <a:bodyPr wrap="square" lIns="0" tIns="0" rIns="0" bIns="0" rtlCol="0" anchor="ctr"/>
          <a:lstStyle/>
          <a:p>
            <a:pPr indent="0" marL="0">
              <a:buNone/>
            </a:pPr>
            <a:r>
              <a:rPr lang="en-US" sz="1500" dirty="0">
                <a:solidFill>
                  <a:srgbClr val="22201C"/>
                </a:solidFill>
              </a:rPr>
              <a:t>Tests mobiles limités à la logique des modèles</a:t>
            </a:r>
            <a:endParaRPr lang="en-US" sz="1500" dirty="0"/>
          </a:p>
        </p:txBody>
      </p:sp>
      <p:pic>
        <p:nvPicPr>
          <p:cNvPr id="24" name="Image 3" descr="preencoded.png">    </p:cNvPr>
          <p:cNvPicPr>
            <a:picLocks noChangeAspect="1"/>
          </p:cNvPicPr>
          <p:nvPr/>
        </p:nvPicPr>
        <p:blipFill>
          <a:blip r:embed="rId4"/>
          <a:stretch>
            <a:fillRect/>
          </a:stretch>
        </p:blipFill>
        <p:spPr>
          <a:xfrm>
            <a:off x="5742432" y="5221224"/>
            <a:ext cx="292608" cy="292608"/>
          </a:xfrm>
          <a:prstGeom prst="rect">
            <a:avLst/>
          </a:prstGeom>
        </p:spPr>
      </p:pic>
      <p:sp>
        <p:nvSpPr>
          <p:cNvPr id="25" name="perspective-4"/>
          <p:cNvSpPr/>
          <p:nvPr/>
        </p:nvSpPr>
        <p:spPr>
          <a:xfrm>
            <a:off x="6153912" y="4946904"/>
            <a:ext cx="5489143" cy="841248"/>
          </a:xfrm>
          <a:prstGeom prst="roundRect">
            <a:avLst>
              <a:gd name="adj" fmla="val 15217"/>
            </a:avLst>
          </a:prstGeom>
          <a:solidFill>
            <a:srgbClr val="EEF3EF"/>
          </a:solidFill>
          <a:ln w="12700">
            <a:solidFill>
              <a:srgbClr val="EEF3EF"/>
            </a:solidFill>
            <a:prstDash val="solid"/>
          </a:ln>
        </p:spPr>
      </p:sp>
      <p:sp>
        <p:nvSpPr>
          <p:cNvPr id="26" name="Text 20"/>
          <p:cNvSpPr txBox="1"/>
          <p:nvPr/>
        </p:nvSpPr>
        <p:spPr>
          <a:xfrm>
            <a:off x="6428232" y="4946904"/>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Permanence d'écoute avec les psychologues partenaires</a:t>
            </a:r>
            <a:endParaRPr lang="en-US" sz="15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548640"/>
            <a:ext cx="3657600" cy="274320"/>
          </a:xfrm>
          <a:prstGeom prst="rect">
            <a:avLst/>
          </a:prstGeom>
          <a:noFill/>
          <a:ln/>
        </p:spPr>
        <p:txBody>
          <a:bodyPr wrap="square" lIns="0" tIns="0" rIns="0" bIns="0" rtlCol="0" anchor="t"/>
          <a:lstStyle/>
          <a:p>
            <a:pPr indent="0" marL="0">
              <a:buNone/>
            </a:pPr>
            <a:r>
              <a:rPr lang="en-US" sz="1200" b="1" spc="300" kern="0" dirty="0">
                <a:solidFill>
                  <a:srgbClr val="D2A04A"/>
                </a:solidFill>
              </a:rPr>
              <a:t>CONCLUSION</a:t>
            </a:r>
            <a:endParaRPr lang="en-US" sz="1200" dirty="0"/>
          </a:p>
        </p:txBody>
      </p:sp>
      <p:sp>
        <p:nvSpPr>
          <p:cNvPr id="3" name="Text 1"/>
          <p:cNvSpPr txBox="1"/>
          <p:nvPr/>
        </p:nvSpPr>
        <p:spPr>
          <a:xfrm>
            <a:off x="548640" y="1005840"/>
            <a:ext cx="11094415" cy="1463040"/>
          </a:xfrm>
          <a:prstGeom prst="rect">
            <a:avLst/>
          </a:prstGeom>
          <a:noFill/>
          <a:ln/>
        </p:spPr>
        <p:txBody>
          <a:bodyPr wrap="square" lIns="0" tIns="0" rIns="0" bIns="0" rtlCol="0" anchor="t"/>
          <a:lstStyle/>
          <a:p>
            <a:pPr indent="0" marL="0">
              <a:buNone/>
            </a:pPr>
            <a:r>
              <a:rPr lang="en-US" sz="2200" dirty="0">
                <a:solidFill>
                  <a:srgbClr val="FFFFFF"/>
                </a:solidFill>
              </a:rPr>
              <a:t>PsyConnect réunit, dans une seule application pensée pour le Sénégal, la mise en relation avec des psychologues vérifiés, la réservation, le paiement, la consultation à distance et un compagnon IA encadré.</a:t>
            </a:r>
            <a:endParaRPr lang="en-US" sz="2200" dirty="0"/>
          </a:p>
        </p:txBody>
      </p:sp>
      <p:sp>
        <p:nvSpPr>
          <p:cNvPr id="4" name="Shape 2"/>
          <p:cNvSpPr/>
          <p:nvPr/>
        </p:nvSpPr>
        <p:spPr>
          <a:xfrm>
            <a:off x="5501488" y="2926080"/>
            <a:ext cx="1188720" cy="1188720"/>
          </a:xfrm>
          <a:prstGeom prst="ellipse">
            <a:avLst/>
          </a:prstGeom>
          <a:solidFill>
            <a:srgbClr val="FFFFFF">
              <a:alpha val="14000"/>
            </a:srgbClr>
          </a:solidFill>
          <a:ln w="15875">
            <a:solidFill>
              <a:srgbClr val="FFFFFF">
                <a:alpha val="35000"/>
              </a:srgbClr>
            </a:solidFill>
            <a:prstDash val="solid"/>
          </a:ln>
        </p:spPr>
      </p:sp>
      <p:pic>
        <p:nvPicPr>
          <p:cNvPr id="5" name="Image 0" descr="preencoded.png">    </p:cNvPr>
          <p:cNvPicPr>
            <a:picLocks noChangeAspect="1"/>
          </p:cNvPicPr>
          <p:nvPr/>
        </p:nvPicPr>
        <p:blipFill>
          <a:blip r:embed="rId1"/>
          <a:stretch>
            <a:fillRect/>
          </a:stretch>
        </p:blipFill>
        <p:spPr>
          <a:xfrm>
            <a:off x="5684368" y="3291840"/>
            <a:ext cx="822960" cy="438912"/>
          </a:xfrm>
          <a:prstGeom prst="rect">
            <a:avLst/>
          </a:prstGeom>
        </p:spPr>
      </p:pic>
      <p:sp>
        <p:nvSpPr>
          <p:cNvPr id="6" name="Text 3"/>
          <p:cNvSpPr txBox="1"/>
          <p:nvPr/>
        </p:nvSpPr>
        <p:spPr>
          <a:xfrm>
            <a:off x="548640" y="4343400"/>
            <a:ext cx="11094415" cy="731520"/>
          </a:xfrm>
          <a:prstGeom prst="rect">
            <a:avLst/>
          </a:prstGeom>
          <a:noFill/>
          <a:ln/>
        </p:spPr>
        <p:txBody>
          <a:bodyPr wrap="square" lIns="0" tIns="0" rIns="0" bIns="0" rtlCol="0" anchor="ctr"/>
          <a:lstStyle/>
          <a:p>
            <a:pPr algn="ctr" indent="0" marL="0">
              <a:buNone/>
            </a:pPr>
            <a:r>
              <a:rPr lang="en-US" sz="4000" b="1" dirty="0">
                <a:solidFill>
                  <a:srgbClr val="FFFFFF"/>
                </a:solidFill>
              </a:rPr>
              <a:t>Merci de votre attention</a:t>
            </a:r>
            <a:endParaRPr lang="en-US" sz="4000" dirty="0"/>
          </a:p>
        </p:txBody>
      </p:sp>
      <p:sp>
        <p:nvSpPr>
          <p:cNvPr id="7" name="Text 4"/>
          <p:cNvSpPr txBox="1"/>
          <p:nvPr/>
        </p:nvSpPr>
        <p:spPr>
          <a:xfrm>
            <a:off x="548640" y="5074920"/>
            <a:ext cx="11094415" cy="365760"/>
          </a:xfrm>
          <a:prstGeom prst="rect">
            <a:avLst/>
          </a:prstGeom>
          <a:noFill/>
          <a:ln/>
        </p:spPr>
        <p:txBody>
          <a:bodyPr wrap="square" lIns="0" tIns="0" rIns="0" bIns="0" rtlCol="0" anchor="t"/>
          <a:lstStyle/>
          <a:p>
            <a:pPr algn="ctr" indent="0" marL="0">
              <a:buNone/>
            </a:pPr>
            <a:r>
              <a:rPr lang="en-US" sz="1700" dirty="0">
                <a:solidFill>
                  <a:srgbClr val="DCE7E0"/>
                </a:solidFill>
              </a:rPr>
              <a:t>Je suis prête à répondre à vos questions.</a:t>
            </a:r>
            <a:endParaRPr lang="en-US" sz="1700" dirty="0"/>
          </a:p>
        </p:txBody>
      </p:sp>
      <p:sp>
        <p:nvSpPr>
          <p:cNvPr id="8" name="Text 5"/>
          <p:cNvSpPr txBox="1"/>
          <p:nvPr/>
        </p:nvSpPr>
        <p:spPr>
          <a:xfrm>
            <a:off x="548640" y="5989320"/>
            <a:ext cx="11094415" cy="320040"/>
          </a:xfrm>
          <a:prstGeom prst="rect">
            <a:avLst/>
          </a:prstGeom>
          <a:noFill/>
          <a:ln/>
        </p:spPr>
        <p:txBody>
          <a:bodyPr wrap="square" lIns="0" tIns="0" rIns="0" bIns="0" rtlCol="0" anchor="t"/>
          <a:lstStyle/>
          <a:p>
            <a:pPr algn="ctr" indent="0" marL="0">
              <a:buNone/>
            </a:pPr>
            <a:r>
              <a:rPr lang="en-US" sz="1300" i="1" dirty="0">
                <a:solidFill>
                  <a:srgbClr val="D2A04A"/>
                </a:solidFill>
              </a:rPr>
              <a:t>Votre santé mentale, entre de bonnes mains.</a:t>
            </a:r>
            <a:endParaRPr lang="en-US" sz="1300" dirty="0"/>
          </a:p>
        </p:txBody>
      </p:sp>
    </p:spTree>
  </p:cSld>
  <p:clrMapOvr>
    <a:masterClrMapping/>
  </p:clrMapOvr>
</p:sld>
</file>

<file path=ppt/theme/theme1.xml><?xml version="1.0" encoding="utf-8"?>
<a:theme xmlns:a="http://schemas.openxmlformats.org/drawingml/2006/main" name="PsyConnect">
  <a:themeElements>
    <a:clrScheme name="PsyConnect">
      <a:dk1>
        <a:srgbClr val="22201C"/>
      </a:dk1>
      <a:lt1>
        <a:srgbClr val="FFFFFF"/>
      </a:lt1>
      <a:dk2>
        <a:srgbClr val="1E4D43"/>
      </a:dk2>
      <a:lt2>
        <a:srgbClr val="FAF7F2"/>
      </a:lt2>
      <a:accent1>
        <a:srgbClr val="1E4D43"/>
      </a:accent1>
      <a:accent2>
        <a:srgbClr val="D2A04A"/>
      </a:accent2>
      <a:accent3>
        <a:srgbClr val="B5532F"/>
      </a:accent3>
      <a:accent4>
        <a:srgbClr val="4F8C7B"/>
      </a:accent4>
      <a:accent5>
        <a:srgbClr val="DCE7E0"/>
      </a:accent5>
      <a:accent6>
        <a:srgbClr val="F5EBD3"/>
      </a:accent6>
      <a:hlink>
        <a:srgbClr val="1E4D43"/>
      </a:hlink>
      <a:folHlink>
        <a:srgbClr val="4F8C7B"/>
      </a:folHlink>
    </a:clrScheme>
    <a:fontScheme name="PsyConnect">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PsyConnect — Soutenance de Master 2 SIR</dc:title>
  <dc:subject>PptxGenJS Presentation</dc:subject>
  <dc:creator>Ndeye Maguette KANE</dc:creator>
  <cp:lastModifiedBy>Ndeye Maguette KANE</cp:lastModifiedBy>
  <cp:revision>1</cp:revision>
  <dcterms:created xsi:type="dcterms:W3CDTF">2026-10-19T20:37:14Z</dcterms:created>
  <dcterms:modified xsi:type="dcterms:W3CDTF">2026-10-19T20:37:14Z</dcterms:modified>
</cp:coreProperties>
</file>